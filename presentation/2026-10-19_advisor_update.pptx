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86" r:id="rId41"/>
    <p:sldId id="263" r:id="rId13"/>
    <p:sldId id="264" r:id="rId14"/>
    <p:sldId id="287" r:id="rId42"/>
    <p:sldId id="288" r:id="rId43"/>
    <p:sldId id="265" r:id="rId15"/>
    <p:sldId id="266" r:id="rId16"/>
    <p:sldId id="267" r:id="rId17"/>
    <p:sldId id="268" r:id="rId18"/>
    <p:sldId id="269" r:id="rId19"/>
    <p:sldId id="270" r:id="rId20"/>
    <p:sldId id="271" r:id="rId21"/>
    <p:sldId id="272" r:id="rId22"/>
    <p:sldId id="273" r:id="rId23"/>
    <p:sldId id="274" r:id="rId24"/>
    <p:sldId id="275" r:id="rId25"/>
    <p:sldId id="276" r:id="rId26"/>
    <p:sldId id="289" r:id="rId44"/>
    <p:sldId id="290" r:id="rId45"/>
    <p:sldId id="291" r:id="rId46"/>
    <p:sldId id="292" r:id="rId47"/>
    <p:sldId id="293" r:id="rId48"/>
    <p:sldId id="294" r:id="rId49"/>
    <p:sldId id="295" r:id="rId50"/>
    <p:sldId id="296" r:id="rId51"/>
    <p:sldId id="297" r:id="rId52"/>
    <p:sldId id="298" r:id="rId53"/>
    <p:sldId id="260" r:id="rId10"/>
    <p:sldId id="261" r:id="rId11"/>
    <p:sldId id="262" r:id="rId12"/>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Play"/>
      <p:regular r:id="rId36"/>
      <p:bold r:id="rId37"/>
    </p:embeddedFont>
    <p:embeddedFont>
      <p:font typeface="Noto Sans Symbols"/>
      <p:regular r:id="rId38"/>
      <p:bold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0" roundtripDataSignature="AMtx7miRDN+F8xx4iYCE6Xj7b9t4DQma7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C844C29-A8E8-4D91-807B-E1607A600EBB}">
  <a:tblStyle styleId="{9C844C29-A8E8-4D91-807B-E1607A600EBB}"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font" Target="fonts/Play-regular.fntdata"/><Relationship Id="rId37" Type="http://schemas.openxmlformats.org/officeDocument/2006/relationships/font" Target="fonts/Play-bold.fntdata"/><Relationship Id="rId38" Type="http://schemas.openxmlformats.org/officeDocument/2006/relationships/font" Target="fonts/NotoSansSymbols-regular.fntdata"/><Relationship Id="rId39" Type="http://schemas.openxmlformats.org/officeDocument/2006/relationships/font" Target="fonts/NotoSansSymbols-bold.fntdata"/><Relationship Id="rId40" Type="http://customschemas.google.com/relationships/presentationmetadata" Target="metadata"/><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 name="Google Shape;9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 name="Google Shape;10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ba3cb23dd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 name="Google Shape;110;g3ba3cb23dd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d13220242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 name="Google Shape;118;g3d13220242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concrete motivating observation: in our Autoware + AWSIM experiments, we collected 18 runs where the vehicle encountered an obstacle at 30m on a two-lane road with a clear adjacent lane. With avoidance policy=manual (the Autoware default), the vehicle stops every time. With policy=auto, the vehicle successfully avoids in every run. The system has the geometric and kinematic capacity to avoid — it simply doesn't because the policy is fixed. The question we are addressing: can the digital twin give us a runtime signal to switch that policy dynamically, and can we prove it makes the right call?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secondary hazard point (stopped vehicle in active lane) is well-documented in ISO 26262 SOTIF annexes and in traffic engineering literature. Emphasize that MRC is not always the "safe" choice — it trades collision risk against traffic risk. This framing connects directly to Dr. Pisu's risk assessment background.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4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126" name="Google Shape;126;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ef5baf9285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g3ef5baf9285_0_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key point for Dr. Pisu: risk assessment tells you HOW risky a situation is, and avoidance planning tells you HOW to avoid — but nothing tells you WHEN avoidance is the appropriate response vs. stopping. This is the decision-theory layer that sits between risk quantification and action execution. It is analogous to the mode-switching logic in hybrid systems control, which is well-studied in controls theory but not in the AV safety context.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Be prepared for the question: "Isn't this just threshold-based TTC with a lane check?"</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answer is no — and this is worth defending carefully because it is the core justification for Signal 3.</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Consider the false-positive problem: a vehicle decelerates toward a red light at 25m ahead, at 6 m/s. TTC = 25/6 ≈ 4.2 s. The road is two-lane. Signal 1 (topology) passes. Signal 2 (kinematic) passes if the TTC threshold is τ_min = 3 s. A pure TTC + lane-check system would output "avoidance warranted" — and Autoware would attempt a lane change at an intersection, which is dangerous. This would fire on every red light, crosswalk stop, or slow vehicle on a multi-lane road.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fundamental problem is that "decelerating toward something 30m ahead on a multi-lane road" is kinematically and topologically identical whether that something is a red light or a blocked lane. The trajectory alone cannot distinguish them. Distinguishing them requires either (a) semantic scene understanding — classify what's ahead — which depends on the quality of the perception pipeline and fails under occlusion; or (b) a model of nominal behavior that flags when the vehicle's response is unexpected. We use (b).</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digital twin was trained on nominal driving, which includes stopping at signals, yielding at crosswalks, and following slow vehicles. When the vehicle performs a planned stop, the model predicts smooth deceleration and NLL stays low — the stop is in the model's distribution. When an unexpected obstacle blocks the lane and the vehicle executes an avoidance maneuver (lateral lane change, off-trajectory swerve), the model has no prior for that behavior at that point in the route. NLL spikes sharply — precisely because the vehicle is doing something it has never done at that location in training.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This is the only real-time evidence that distinguishes "unexpected blockage requiring a decision" from "planned stop." Without Signal 3, Signals 1 and 2 produce an unacceptable false-positive rate on ordinary urban driving. Signal 3 is the gating condition that makes the system safe to activate.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Additional nuance: lowering the TTC threshold does not solve this — it just delays the false positive until the vehicle is dangerously close. And raising it misses real fast-approaching obstacles. The residual signal has no such trade-off: it fires based on the vehicle's behavioral deviation, not on distance or time alone.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136" name="Google Shape;136;g3ef5baf9285_0_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ef5baf9285_0_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g3ef5baf9285_0_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conformal prediction coverage guarantee is the formal safety claim for Signal 3. Here is the actual mechanism, explained from first principles: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CONFORMAL PREDICTION IN THREE STEPS: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Step 1 — Calibration set.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Take 9 held-out nominal driving runs (no obstacle, successful mission completion). For each run, compute the run-level behavioral score: CVaR₉₅(NLL), the expected NLL in the worst 5% of windows. This gives 9 scalar scores: s₁, s₂, ..., s₉, one per nominal run.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Step 2 — Threshold construction.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Sort the scores in ascending order. Set the threshold θ at the ⌈(n+1)(1−α)⌉-th order statistic, where n=9 and α=0.05. For n=9, α=0.05: ⌈10 × 0.95⌉ = ⌈9.5⌉ = 10, so θ = the empirical maximum of the calibration scores (most conservative). For α=0.10 with n=9: θ = the 9th largest = the 9th of 9 = the maximum. Practical note: with more calibration runs (say 20), we get θ at the 19th percentile with tighter control. This motivates collecting more nominal data.</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Step 3 — Classification and guarantee.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For any new run: compute s_new = CVaR₉₅(NLL_new). If s_new &gt; θ, classify as anomalous (avoidance warranted). The conformal prediction guarantee is: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P(s_new &gt; θ | nominal driving) ≤ α</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This holds without any assumption on the distribution of NLL — it does not require Gaussianity, known variance, or any parametric model. The only assumption is exchangeability: the calibration and test runs are from the same data-generating process (same simulation, same Autoware configuration). This is a finite-sample guarantee, not asymptotic.</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ANALOGY FOR DR. PISU:</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3σ rule in statistical process control gives P(false alarm) ≈ 0.0027 — but only if the process output is Gaussian. Conformal prediction gives the same type of guarantee (P(false alarm) ≤ α) without the Gaussianity assumption, using actual data quantiles instead of a distributional formula. If the residuals happen to be Gaussian, conformal prediction recovers the same bound; if they are not, it still holds.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APPLICATION HERE: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threshold θ controls the false positive rate of Signal 3: at most α of nominal runs will be incorrectly classified as anomalous. The false negative rate (missing a real obstacle condition) is an empirical result from obs_recovery vs. obs_noescape. Together, they give a complete characterization of the classifier's performance in terms a committee can evaluate.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guarantee applies specifically to the behavioral component. Signals 1 and 2 (topology, kinematics) are deterministic — they have no probabilistic content and need no statistical treatment. The three-signal AND gate inherits the Signal 3 false positive bound: P(all three fire | nominal driving) ≤ P(Signal 3 fires | nominal) ≤ α.</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Emphasize the scope carefully. Limiting to single static obstacle / no adjacent-lane traffic is not a weakness — it establishes the foundational case. Extensions to multi-agent and dynamic obstacles are valid future work, and stating them explicitly shows awareness of the full problem space.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144" name="Google Shape;144;g3ef5baf9285_0_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f79321b2c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g3f79321b2c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If asked "why not just do detection with a threshold, why does Layer 2</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need reachability specifically" — because a raw anomaly magnitude can't</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distinguish "the model is surprised on an empty road" (irrelevant) from</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model is equally surprised near a pedestrian crossing" (potentially</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severe) — that distinction is exactly what a physical consequence model</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adds, and it's why Layer 2, not a bigger Layer 1, is the actual thesis</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payload.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p:txBody>
      </p:sp>
      <p:sp>
        <p:nvSpPr>
          <p:cNvPr id="152" name="Google Shape;152;g3f79321b2c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f79321b2c1_0_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g3f79321b2c1_0_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Three additional calibration fixes worth mentioning if asked about model quality: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(1) position was scaled relative to each window's own bounding box, which is invisible to the model and made a trivial constant-velocity baseline outperform the trained model by 30x — fixed by switching to a fixed-scale relative-displacement representation.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(2) beta-NLL reweighting (Seitzer et al., ICLR 2022) fixed the standard Gaussian NLL's pathology of down-weighting gradients by 1/variance, which was preventing the model from learning to widen its variance appropriately at longer horizons.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(3) a variance floor bug (VAR_FLOOR=1e-4) was pinning position's predicted uncertainty at exactly 1.0m regardless of input, once the representation fix shrank real error below that floor — lowered to 1e-8 and stress-tested against synthetic near-zero-residual data before retraining.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Current calibration status (z-score std, want 1.0): position 0.885 (mildly underconfident, and drifts to 1.177 at longer horizons), velocity 1.174, steering 1.101, traffic_light_state 1.332 (the most overconfident remaining, worth watching once conformal calibration is layered on top — that layer should catch and correct this by construction, per docs/research_notes/model_improvement_notes_2026.md, but it's confirmed empirically not just assumed).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Known, deliberately deferred limitations (see docs/research_notes/model_improvement_notes_2026.md, not hidden): route/goal information reaches the model via path_node graph flags but gets diluted by uniform mean-pooling over ~150 graph nodes; VAR_FLOOR is one global constant, not per-feature; object encoder is mean-pool-only, not attention-weighted. None of these are blocking — logged as the honest punch list for later.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UPDATED 2026-08-20: the z-score numbers above are from the Student-t/NLL path, which is now PAUSED (see slide 10 for the full before/after). Don't present them as the current calibration status — the current, trusted calibration status is slide 10's conformal reliability diagram. Why the pivot: an independent architecture review made the case that the recurring miscalibration pathology (scale drifting below the true validation-residual spread over training, on top of the dof-collapse issue) is a general, documented failure mode (Wong-Toi et al., UAI 2023) of jointly training a network to predict a value AND self-report its own confidence in one objective — not fixable by one more regularizer. Conformal calibration on a plain point predictor sidesteps the whole pathology: no jointly-optimized variance head, no distribution-family assumption. If asked whether the Student-t work was wasted: no — the two architecture bugs it surfaced (gradient contention, dof-collapse) are real fixes kept in the model regardless, and epistemic disagreement between independently-trained point predictors (also built during this arc) is a live, useful robustness check (slide 11). "Paused" is accurate, not "abandoned" — docs/research_notes/nll_calibration_arc_and_conformal_pivot_2026-08-20.md §5 has the concrete next step if it's ever resumed, so don't re-diagnose from scratch.</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p:txBody>
      </p:sp>
      <p:sp>
        <p:nvSpPr>
          <p:cNvPr id="165" name="Google Shape;165;g3f79321b2c1_0_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f5baf9285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f5baf9285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AWSIM + Autoware is the standard simulation platform for AV research in the ROS2 ecosystem and is used by multiple research groups and Toyota's AV division. Its advantage over CARLA or similar is native Autoware integration — the full production stack runs unmodified, so behaviors seen in simulation (avoidance, MRM triggers, AEB events) are representative of what a real vehicle would do with the same software. This is important: we are not studying a toy planner, we are studying the actual decision-making of a production AV system.</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10Hz data collection rate matters: it matches the ST-GAT model's training frequency, so there is no interpolation or resampling needed between the rosbag and the inference pipeline. The stride=1 means every consecutive window of 30 frames is a training/test sample, giving high temporal resolution for the residual time series.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single-vehicle obstacle is intentionally simple — we want to isolate the avoidance decision problem from multi-agent interaction. The extension to NPC vehicles in adjacent lanes is stated future work.</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173" name="Google Shape;173;g3ef5baf9285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ef5baf9285_0_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 name="Google Shape;180;g3ef5baf9285_0_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All fault campaigns gate on a route-derived zone (turn zone, bias lead-in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zone, or traffic-light zone) computed from the map + planned route — not a</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live threshold or a wall-clock guess.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imu_fault_s1 is deliberately a negative control, not an oversight — 0.03 rad/s gyro bias is designed to be absorbed by EKF/localization's noise-rejection band even during a turn, so a LOW detection rate on this campaign specifically is a pass, not a miss (see slide 11's results table, color-coded accordingly).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tl_fault_s3 (tl_unknown) and tl_fault_s4 (tl_blackout) are the two campaigns where perception genuinely stops reporting a categorical fact the map asserts should be there — the actual negative-evidence case the mechanism (slide 5) is built around. tl_fault_s2 (oscillate) and tl_fault_ramp (confidence decay) are real faults but NOT negative-evidence cases — perception still reports a present value, just a wrong or degrading one. This distinction turned out to matter a lot in this session's discriminability results (slide 11) — worth setting up here so it lands cleanly later in the deck.</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181" name="Google Shape;181;g3ef5baf9285_0_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f79321b2c1_0_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 name="Google Shape;190;g3f79321b2c1_0_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Design principle: every fault gates on a route-derived ZONE (turn zone,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IMU bias lead-in zone, or traffic-light zone), computed from the actual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Autoware-planned route geometry + Lanelet2 map — not a live threshold or a</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wall-clock guess. Zones re-arm for the rest of a trial (periodic, not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one-shot), so one trial can expose a fault at every qualifying intersection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on the route.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IMU faults (gyro channel) — 4 types, calibrated to a real stability cliff:</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imu_bias, S1: 0.03 rad/s — deliberate NEGATIVE CONTROL, absorbed by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EKF noise-rejection even mid-turn (designed to be harmless)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imu_bias, S3: 0.08 rad/s — consequential: integrates against real yaw</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rate during a turn, visible EKF-vs-GT divergence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imu_scale_factor: gyro × 1.8 — zero effect on straights by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construction (proportional to true yaw rate), turn-triggered only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imu_stuck_at: gyro frozen at activation value — zero effect if frozen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on a straight, divergence once curvature changes underneath it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(A 3x jump from S1's 0.03 to an earlier abandoned S2 at 0.15 rad/s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caused a hard-brake + permanent stuck within one cycle — the whole S1-S4</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magnitude ladder was redesigned around that discovered cliff, bounding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accumulated heading error ≤1.2 rad rather than picking numbers blind)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Traffic-light faults (perception channel) — 4 types, 2 genuine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negative-evidence cases: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tl_oscillate (S2): color flips every 5s, 15s cap — present-but-wrong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value, NOT negative evidence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tl_unknown (S3): forces UNKNOWN classification, 15s cap — genuine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negative evidence (perception reports nothing usable)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tl_blackout (S4): drops the light from the message entirely, 15s cap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genuine negative evidence (strongest case)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tl_confidence_ramp: confidence decays 0.1/s to 0, holds — tests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threshold-crossing behavior specifically, not a step change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Fault plan (Plot: fault_plan_example_tl_fault_s3.png):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Shows a campaign's actual gating zone/radius overlaid on the route map</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before any data is collected — confirms the fault is scoped to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right physical location (the one traffic light the vehicle's own route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is governed by, not every light in the perception message)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Fault impact (Plot: fault_impact_example_imu_fault_s3.png):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Overlays the nominal reference signal against the faulted trial's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actual signal (EKF-vs-GT divergence for IMU, TL color/confidence for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TL), fault-active window shaded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Confirms the fault mechanism actually changed the signal it targets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not just that fault_log.jsonl recorded an event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Why this verification step matters: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A fault campaign can "run" (events logged, trial completes) without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the injected fault ever reaching the signal it's supposed to affect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this happened once already (a topic-wiring bug, since fixed) and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every campaign is now checked this way before being trusted downstream</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191" name="Google Shape;191;g3f79321b2c1_0_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f79321b2c1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 name="Google Shape;199;g3f79321b2c1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Design principle: every fault gates on a route-derived ZONE (turn zone,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IMU bias lead-in zone, or traffic-light zone), computed from the actual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Autoware-planned route geometry + Lanelet2 map — not a live threshold or a</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wall-clock guess. Zones re-arm for the rest of a trial (periodic, not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one-shot), so one trial can expose a fault at every qualifying intersection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on the route.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IMU faults (gyro channel) — 4 types, calibrated to a real stability cliff:</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imu_bias, S1: 0.03 rad/s — deliberate NEGATIVE CONTROL, absorbed by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EKF noise-rejection even mid-turn (designed to be harmless)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imu_bias, S3: 0.08 rad/s — consequential: integrates against real yaw</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rate during a turn, visible EKF-vs-GT divergence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imu_scale_factor: gyro × 1.8 — zero effect on straights by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construction (proportional to true yaw rate), turn-triggered only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imu_stuck_at: gyro frozen at activation value — zero effect if frozen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on a straight, divergence once curvature changes underneath it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(A 3x jump from S1's 0.03 to an earlier abandoned S2 at 0.15 rad/s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caused a hard-brake + permanent stuck within one cycle — the whole S1-S4</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magnitude ladder was redesigned around that discovered cliff, bounding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accumulated heading error ≤1.2 rad rather than picking numbers blind)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Traffic-light faults (perception channel) — 4 types, 2 genuine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negative-evidence cases: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tl_oscillate (S2): color flips every 5s, 15s cap — present-but-wrong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value, NOT negative evidence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tl_unknown (S3): forces UNKNOWN classification, 15s cap — genuine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negative evidence (perception reports nothing usable)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tl_blackout (S4): drops the light from the message entirely, 15s cap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genuine negative evidence (strongest case)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tl_confidence_ramp: confidence decays 0.1/s to 0, holds — tests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threshold-crossing behavior specifically, not a step change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Fault plan (Plot: fault_plan_example_tl_fault_s3.png):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Shows a campaign's actual gating zone/radius overlaid on the route map</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before any data is collected — confirms the fault is scoped to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right physical location (the one traffic light the vehicle's own route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is governed by, not every light in the perception message)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Fault impact (Plot: fault_impact_example_imu_fault_s3.png):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Overlays the nominal reference signal against the faulted trial's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actual signal (EKF-vs-GT divergence for IMU, TL color/confidence for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TL), fault-active window shaded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Confirms the fault mechanism actually changed the signal it targets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not just that fault_log.jsonl recorded an event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Why this verification step matters: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A fault campaign can "run" (events logged, trial completes) without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the injected fault ever reaching the signal it's supposed to affect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this happened once already (a topic-wiring bug, since fixed) and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every campaign is now checked this way before being trusted downstream</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00" name="Google Shape;200;g3f79321b2c1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f79321b2c1_0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g3f79321b2c1_0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"Here's the model's raw output on a held-out nominal drive. The dashed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line is what it predicted three seconds out, the solid line is what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actually happened — position on the map, plus velocity, steering, and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two traffic-light channels underneath. It tracks well. Point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accuracy is good."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PIVOT (say this explicitly, don't skip it):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"So — why isn't this the end of the story? Why can't we just ship this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and move to Layer 2?</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Because point accuracy is not the claim this framework is making. Look</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at the circles around the predicted trajectory — those are the model's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stated UNCERTAINTY, not its prediction. The prediction being close to</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truth tells you the mean is good. It tells you nothing about whether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those circles are the right SIZE. A model can nail the trajectory and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still be completely wrong about how confident it should be — those are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two different, independent things to get right, and this plot only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verifies the first one."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"Every one of those uncertainty circles is a promise: 'the true value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will fall inside this region X% of the time.' That's not a decoration 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plot — it's the entire product this layer of the dissertation is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selling. Layer 1's whole job is to hand downstream consumers a number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they can trust: 'I'm 90% confident.' If that number is wrong — if 90%</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confidence intervals actually only catch the truth 60% of the time, or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99% of the time — the number is a lie wearing the shape of a</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probability.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And a monitor that's confidently wrong is worse than one that's honestly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unsure. Nobody downstream can tell the difference between a trustworthy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90% and a fabricated 90% just by looking at it — they have to take it 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faith unless we've separately checked it. That check is calibration, and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it's a completely different question from 'did the model predict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right trajectory.'"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09" name="Google Shape;209;g3f79321b2c1_0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f79321b2c1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 name="Google Shape;217;g3f79321b2c1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"So here's that check. For every feature, we ask the model for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intervals at every confidence level — 10%, 20%, ... 90% — and measure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how often the true value actually landed inside. Plot that empirical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rate against what was claimed, and a perfectly honest model traces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diagonal: ask for 70%, get 70%.</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This is what we got instead, back when the model's own trained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uncertainty heads were producing these numbers. Every single feature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bows well above the diagonal — ask for a 50% interval, actually get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covered 70-80% of the time. The claimed number and the real number don't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match, by a lot — the gap is 0.16 to 0.28 depending on the feature.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Conceptually, what does that mean? It means the '70%' printed on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label doesn't mean 70%. In this particular direction the model was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erring wide — safe-looking, not reckless — but that's beside the point: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 probability that doesn't mean what it says isn't usable as a</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probability, in either direction. And notice the title: this is checked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ONE STEP AHEAD ONLY. That's about to matter."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18" name="Google Shape;218;g3f79321b2c1_0_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f79321b2c1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g3f79321b2c1_0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On turns the vehicle hasn't started turning into yet, predicted heading change captures only ~48% of the actual magnitude (vs. ~65% once already mid-turn), most of what looked like "turn prediction" was the model extrapolating a turn already underway, not genuinely anticipating one from the map.</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Why this matters for trust, not just accuracy: if ordinary turns produce systematically larger errors than calm driving, the SAME pooled coverage number above either has to stay wide everywhere to remain valid on turns,or — worse — a real fault occurring near a turn gets its effect conflated with the turn's own normal difficulty and partially masked.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27" name="Google Shape;227;g3f79321b2c1_0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f89bc87c35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 name="Google Shape;236;g3f89bc87c35_0_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Why fix the model instead of just widening the calibrated band there: widening the interval near intersections is statistically honest but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costs detection sensitivity exactly where faults are most often relevant (slide 8's zone geometry is literally where faults are gated to occur)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a wider-but-honest band there is a worse trade than a model that's actually better at turns.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predicted trajectory now visibly hugs the actual curve, and steering/</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lateral-velocity predictions clearly rise and peak with the real</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maneuver instead of staying flat.</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Validated, not just visually — intersection steering coverage: 75.6% →</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87.3%. Position residual on the hardest turn cases: down 47%. Real,</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measured, expected trade-off: calm-driving accuracy costs a few percent</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model is now mildly biased toward expecting more curvature</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everywhere) — an honest, worthwhile trade given what improved.</a:t>
            </a:r>
            <a:endParaRPr b="1">
              <a:solidFill>
                <a:srgbClr val="F56600"/>
              </a:solidFill>
              <a:latin typeface="Noto Sans Symbols"/>
              <a:ea typeface="Noto Sans Symbols"/>
              <a:cs typeface="Noto Sans Symbols"/>
              <a:sym typeface="Noto Sans Symbols"/>
            </a:endParaRPr>
          </a:p>
          <a:p>
            <a:pPr indent="0" lvl="0" marL="0" rtl="0" algn="l">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37" name="Google Shape;237;g3f89bc87c35_0_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f79321b2c1_0_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 name="Google Shape;246;g3f79321b2c1_0_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Every group now lands close to the 90% target — the hidden gap from</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slide 11 (before the retrain) is resolved. But: NOT a free win.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Size-weighted across how common each group actually is, steering and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traffic-light-confidence intervals are actually ~11-19% WIDER on average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under this scheme, not tighter — smaller per-group sample sizes need more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statistical padding. Real, honest cost, not hidden.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47" name="Google Shape;247;g3f79321b2c1_0_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f89bc87c35_0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g3f89bc87c35_0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Distinguishing property discrete grouping structurally cannot match: this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approach improves AUTOMATICALLY when the underlying model improves — no</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manual re-definition of group boundaries needed. Directly confirmed: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after the slide 11 retrain, BOTH the baseline and this approach's result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improved together with zero changes to the calibration scheme itself. It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can also tighten a feature where the pooled calibration was already fine,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not just widen where needed — Mondrian's fixed categories can't do that.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Honest cost: noisier per-step estimates (visible as a real, sudden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widening on an otherwise calm example) from having less data per estimate.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Where this leaves things: neither is a strictly better default —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right choice likely depends on how much data is available and how</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consequential the target scenario is. Both are documented, reproducible,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rPr b="1" lang="en-US">
                <a:solidFill>
                  <a:srgbClr val="F56600"/>
                </a:solidFill>
                <a:latin typeface="Noto Sans Symbols"/>
                <a:ea typeface="Noto Sans Symbols"/>
                <a:cs typeface="Noto Sans Symbols"/>
                <a:sym typeface="Noto Sans Symbols"/>
              </a:rPr>
              <a:t>and available.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56" name="Google Shape;256;g3f89bc87c35_0_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f79321b2c1_0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g3f79321b2c1_0_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"And this is the direct fix for Beat 4's problem. Same plot shape as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horizon-widening plot — claimed uncertainty vs. actual RMSE across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3-second horizon — except now the green interval-width line tracks the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blue actual-error line for all seven series, including the non-monotonic</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dip-then-rise shape velocity and steering actually have. The interval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isn't just wide, it's shaped correctly — it grows exactly when the real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difficulty grows, because it's built from that empirical shape directly</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instead of a network's guess at it."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"Put together: when this model now reports a 90% interval, at any point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in the 3-second window, reality really does fall inside it about 90% of</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time. That statement is now actually true — checked, not assumed.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Why does that matter for Layer 2? Layer 2's entire mechanism is taking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this predicted distribution and rolling it forward through counterfactual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futures to estimate risk — 'given what I don't know right now, what's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chance this turns into a safety-margin violation in the next few</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seconds.' That computation is only as honest as the distribution it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starts from. If the input uncertainty is miscalibrated — too narrow at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exactly the horizon that matters, the way it was in Beat 4 — Layer 2</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would inherit that error silently and produce a risk number that's wrong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in a way nobody could catch just by looking at it. It would look like a</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working system right up until it wasn't.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Now Layer 2 gets to build on a foundation that's actually been checked,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not just assumed. That's what 'Layer 1 is done' means concretely: not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model is perfect,' but 'the uncertainty Layer 2 is about to consume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means what it says.'"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65" name="Google Shape;265;g3f79321b2c1_0_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ef5baf9285_0_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 name="Google Shape;273;g3ef5baf9285_0_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74" name="Google Shape;274;g3ef5baf9285_0_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f79321b2c1_0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g3f79321b2c1_0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82" name="Google Shape;282;g3f79321b2c1_0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f79321b2c1_0_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f79321b2c1_0_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AND-logic structure is important and should be stressed: this is NOT a learned end-to-end classifier. It is a structured decision gate where each component is independently interpretable and has a clear failure mode it addresses. This is intentional — it preserves the interpretability that ISO 26262 functional safety requires, and it allows each component to be independently validated and potentially replaced.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question "why do you need Signal 3 at all if you have Signals 1 and 2?" is the critical one. The answer: an obstacle at 30m on a multi-lane road at 7 m/s satisfies Signals 1 and 2 — but so does an AV decelerating at a red light at 30m on a multi-lane road at 7 m/s. Signal 3 (the digital twin residual) is what distinguishes a real unexpected obstacle from normal planned deceleration. Without it, the framework would fire avoidance at every traffic light. This is the novel contribution of the digital twin component.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Dr. Pisu will likely ask: "What is the latency of Signal 3?" Answer: the residual is computed per 3-second window at 10Hz (stride=1), so it is effectively available at 10Hz with 3 seconds of history. The total system latency from detection to override signal is under 100ms, which is within Autoware's planning cycle time.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90" name="Google Shape;290;g3f79321b2c1_0_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ef5e7879ea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 name="Google Shape;297;g3ef5e7879ea_0_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normalized time axis is necessary because recovery runs end when the vehicle reaches its goal (variable length, 42–1622 windows) and noescape runs end when the vehicle is stuck (fixed ~274 windows). Without normalization, averaging is not meaningful — a 1622-window run and a 42-window run are measuring the same event (obstacle encounter + outcome) at wildly different absolute times.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takeaway from this plot for Dr. Pisu is about signal design, not raw performance. The plot demonstrates empirically why "full-run CVaR" is a poor statistic: it averages the spike over the entire run, reducing its significance. This motivates the choice of max NLL as the discriminating feature. In controls terms, this is analogous to using a peak detector rather than an RMS detector for a transient event — the transient carries all the information, and time-averaging destroys it.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3σ threshold line (−6.37) is the empirical threshold computed from nominal runs. The blue mean barely crosses it because the spike is transient and the average across 18 runs smooths the individual spikes to different positions on the normalized time axis. The box plot on the next slide shows that run-level max NLL is clearly separated, even when the time-averaged mean is not.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Be ready for the question: "Why does recovery have higher variance at the start?" The answer is the normalization artifact from the one short run — not a real physical effect. Once the full four-condition dataset is collected, this artifact will be diluted.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298" name="Google Shape;298;g3ef5e7879ea_0_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ef5e7879ea_0_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6" name="Google Shape;306;g3ef5e7879ea_0_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three-panel layout is intentional: it shows one positive result and two null results, and the null results are informative rather than failures.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middle panel (CVaR full run) is a statistical lesson in signal design. The spike in recovery runs lasts approximately 25 windows (~2.5 seconds) out of a run averaging 800+ windows. CVaR₉₅ averages the worst 5% of windows — at 800 windows, that is 40 windows. The spike windows are included, but so are 15 other high-NLL windows from ordinary acceleration events. The result is that CVaR for recovery is barely different from CVaR for noescape. This is not a failure of the residual signal — it is a failure of the statistic. Max NLL, or a windowed CVaR (rolling 50-window CVaR), would recover the separation.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right panel (has_adjacent_lane) shows a null result that supports the research design. Both conditions place the obstacle on the same multi-lane roads, so of course the topology signal shows no difference. The panel is in the presentation because it demonstrates that we have implemented the topology feature correctly and tested it, not because we expect it to separate these two conditions. The result is: "this signal is ready, but needs the right dataset." Dr. Pisu should see this as evidence that the research plan is systematic, not as a failed signal.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The Mann-Whitney test is appropriate here because: (a) we cannot assume normality with n=18, (b) the distributions are bounded and skewed, (c) it is consistent with prior AV safety literature that uses non-parametric tests for small simulation samples. If asked why not t-test: the NLL distribution has a heavy tail (driven by the spike windows) and t-test would be invalid.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307" name="Google Shape;307;g3ef5e7879ea_0_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ef5e7879ea_0_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g3ef5e7879ea_0_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three-panel layout is intentional: it shows one positive result and two null results, and the null results are informative rather than failures.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middle panel (CVaR full run) is a statistical lesson in signal design. The spike in recovery runs lasts approximately 25 windows (~2.5 seconds) out of a run averaging 800+ windows. CVaR₉₅ averages the worst 5% of windows — at 800 windows, that is 40 windows. The spike windows are included, but so are 15 other high-NLL windows from ordinary acceleration events. The result is that CVaR for recovery is barely different from CVaR for noescape. This is not a failure of the residual signal — it is a failure of the statistic. Max NLL, or a windowed CVaR (rolling 50-window CVaR), would recover the separation.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right panel (has_adjacent_lane) shows a null result that supports the research design. Both conditions place the obstacle on the same multi-lane roads, so of course the topology signal shows no difference. The panel is in the presentation because it demonstrates that we have implemented the topology feature correctly and tested it, not because we expect it to separate these two conditions. The result is: "this signal is ready, but needs the right dataset." Dr. Pisu should see this as evidence that the research plan is systematic, not as a failed signal.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Mann-Whitney test is appropriate here because: (a) we cannot assume normality with n=18, (b) the distributions are bounded and skewed, (c) it is consistent with prior AV safety literature that uses non-parametric tests for small simulation samples. If asked why not t-test: the NLL distribution has a heavy tail (driven by the spike windows) and t-test would be invalid.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316" name="Google Shape;316;g3ef5e7879ea_0_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ef5e7879ea_0_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g3ef5e7879ea_0_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three-panel layout is intentional: it shows one positive result and two null results, and the null results are informative rather than failures.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middle panel (CVaR full run) is a statistical lesson in signal design. The spike in recovery runs lasts approximately 25 windows (~2.5 seconds) out of a run averaging 800+ windows. CVaR₉₅ averages the worst 5% of windows — at 800 windows, that is 40 windows. The spike windows are included, but so are 15 other high-NLL windows from ordinary acceleration events. The result is that CVaR for recovery is barely different from CVaR for noescape. This is not a failure of the residual signal — it is a failure of the statistic. Max NLL, or a windowed CVaR (rolling 50-window CVaR), would recover the separation.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right panel (has_adjacent_lane) shows a null result that supports the research design. Both conditions place the obstacle on the same multi-lane roads, so of course the topology signal shows no difference. The panel is in the presentation because it demonstrates that we have implemented the topology feature correctly and tested it, not because we expect it to separate these two conditions. The result is: "this signal is ready, but needs the right dataset." Dr. Pisu should see this as evidence that the research plan is systematic, not as a failed signal.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Mann-Whitney test is appropriate here because: (a) we cannot assume normality with n=18, (b) the distributions are bounded and skewed, (c) it is consistent with prior AV safety literature that uses non-parametric tests for small simulation samples. If asked why not t-test: the NLL distribution has a heavy tail (driven by the spike windows) and t-test would be invalid.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Implication:</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Max NLL = the correct statistic for the behavioral classifier.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The topology and kinematic signals cannot be validated on this dataset alone.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New data collection (obs_singlelane, obs_tooclosetoreact) is the clear next step.</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325" name="Google Shape;325;g3ef5e7879ea_0_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f5e7879ea_0_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f5e7879ea_0_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This plot is the most important of the three for conveying the physical intuition. Walk Dr. Pisu through the sequence event by event on the recovery side before showing the noescape side.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key moment to emphasize is the approach phase (windows 20–442). During this phase, the vehicle sees the obstacle (obj_dist drops to 0.07) and begins decelerating — but NLL is at its lowest, around −11 to −12. This is the identifiability result made visible: the digital twin is NOT surprised by the deceleration, because decelerating toward something ahead is exactly what it expects from the training distribution (traffic lights, crosswalks, slow vehicles all produce the same trajectory). This is why Signals 1 and 2 alone are insufficient — they would have already fired (topology: adjacent lane exists; kinematic: TTC &gt; 3s during approach) — but Signal 3 says "nothing unusual is happening yet."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Then at window 443, the vehicle executes the lane change. NLL goes from −12 to +1.5 in approximately 250 milliseconds (2–3 windows). The digital twin has no model of "swerve left at kilometer-marker X" — it was never in the training data. That is the evidence we need.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For the noescape panel, the message is: the obstacle is there, the vehicle approaches it every run, and the digital twin never fires. This is the correct behavior — from a trajectory perspective, smooth deceleration is smooth deceleration regardless of what's causing it. The framework correctly reports "nothing anomalous" on the noescape runs because the vehicle is behaving nominally right up until it stops.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The vertical markers (obstacle detection line, avoidance shaded region) are the key annotation additions. They show that the spike is not random noise — it is time-locked to the avoidance maneuver, every time. That is the mechanistic validation the committee will ask for.</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rPr b="1" lang="en-US">
                <a:solidFill>
                  <a:srgbClr val="F56600"/>
                </a:solidFill>
                <a:latin typeface="Noto Sans Symbols"/>
                <a:ea typeface="Noto Sans Symbols"/>
                <a:cs typeface="Noto Sans Symbols"/>
                <a:sym typeface="Noto Sans Symbols"/>
              </a:rPr>
              <a:t>Anticipated question: "Can you detect the avoidance in time to be useful?" Note that the spike begins building at window ~443 and peaks at ~468. The threshold crossing at window ~418 (where NLL first exceeds −6.37) gives approximately (468-418) × 0.1 = 5 seconds of warning before the peak — enough for a downstream controller to act. This is a quantitative result worth highlighting.</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100"/>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Two runs shown side-by-side. X-axis = absolute window index (1 window = 0.1 s at 10 Hz).</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LEFT — obs_recovery (avoidance enabled, vehicle reached goal):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① Obstacle detected at window 20: obj_dist drops from 1.0 → 0.07 in one step</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Vehicle first sees the blocked lane; NLL remains LOW (this deceleration is normal)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② Approach phase (windows 20–442): NLL stays near −11 to −12</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Digital twin predicts normal deceleration; vehicle is "behaving as expected"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This is the identifiability period: indistinguishable from a red light stop</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③ Avoidance maneuver (windows 443–475, ~3.2 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Autoware executes lane change; NLL spikes from −12 to +1.5</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The digital twin did NOT predict a swerve at this location → residual explodes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NLL crosses 3σ threshold (−6.37) — Signal 3 fires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④ Post-avoidance (window 476+): vehicle past obstacle, NLL returns to −12</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Normal driving resumes; model is no longer surprised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RIGHT — obs_noescape (avoidance disabled, vehicle stuck):</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① Obstacle in view: entire run (obj_dist low from window 0)</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② NLL throughout: −12 to −6.3, never decisively crosses 3σ threshold</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Vehicle brakes normally every time; digital twin predicts braking → no surprise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③ No avoidance marker: avoidance policy disabled → no lane change → no spike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Bottom panels: has_adjacent_lane binary signal</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Recovery: toggles True/False as vehicle navigates through route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Noescape: stays True throughout (multi-lane road, adjacent lane always present)</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What this proves: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Signal 3 fires IF AND ONLY IF avoidance is executed — confirming the expected mechanism</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 The approach phase (obstacle visible, no avoidance) produces NO NLL signal — explains</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100"/>
              <a:buFont typeface="Arial"/>
              <a:buNone/>
            </a:pPr>
            <a:r>
              <a:rPr b="1" lang="en-US">
                <a:solidFill>
                  <a:srgbClr val="F56600"/>
                </a:solidFill>
                <a:latin typeface="Noto Sans Symbols"/>
                <a:ea typeface="Noto Sans Symbols"/>
                <a:cs typeface="Noto Sans Symbols"/>
                <a:sym typeface="Noto Sans Symbols"/>
              </a:rPr>
              <a:t>    why full-run CVaR is diluted; and why windowed detection must be active at maneuver time</a:t>
            </a:r>
            <a:endParaRPr b="1">
              <a:solidFill>
                <a:srgbClr val="F56600"/>
              </a:solidFill>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b="1">
              <a:solidFill>
                <a:srgbClr val="F56600"/>
              </a:solidFill>
              <a:latin typeface="Noto Sans Symbols"/>
              <a:ea typeface="Noto Sans Symbols"/>
              <a:cs typeface="Noto Sans Symbols"/>
              <a:sym typeface="Noto Sans Symbols"/>
            </a:endParaRPr>
          </a:p>
        </p:txBody>
      </p:sp>
      <p:sp>
        <p:nvSpPr>
          <p:cNvPr id="334" name="Google Shape;334;g3ef5e7879ea_0_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ef5baf928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g3ef5baf9285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F56600"/>
              </a:buClr>
              <a:buSzPts val="1200"/>
              <a:buFont typeface="Noto Sans Symbols"/>
              <a:buNone/>
            </a:pPr>
            <a:r>
              <a:rPr b="1" lang="en-US" sz="1200">
                <a:solidFill>
                  <a:srgbClr val="F56600"/>
                </a:solidFill>
                <a:latin typeface="Noto Sans Symbols"/>
                <a:ea typeface="Noto Sans Symbols"/>
                <a:cs typeface="Noto Sans Symbols"/>
                <a:sym typeface="Noto Sans Symbols"/>
              </a:rPr>
              <a:t>Graph Embeddings (Spatial Context)</a:t>
            </a:r>
            <a:endParaRPr/>
          </a:p>
          <a:p>
            <a:pPr indent="0" lvl="0" marL="0" rtl="0" algn="l">
              <a:lnSpc>
                <a:spcPct val="100000"/>
              </a:lnSpc>
              <a:spcBef>
                <a:spcPts val="0"/>
              </a:spcBef>
              <a:spcAft>
                <a:spcPts val="0"/>
              </a:spcAft>
              <a:buClr>
                <a:schemeClr val="dk1"/>
              </a:buClr>
              <a:buSzPts val="1200"/>
              <a:buFont typeface="Noto Sans Symbols"/>
              <a:buNone/>
            </a:pPr>
            <a:r>
              <a:rPr lang="en-US" sz="1200">
                <a:latin typeface="Noto Sans Symbols"/>
                <a:ea typeface="Noto Sans Symbols"/>
                <a:cs typeface="Noto Sans Symbols"/>
                <a:sym typeface="Noto Sans Symbols"/>
              </a:rPr>
              <a:t>Local road network is represented as a directed graph: </a:t>
            </a:r>
            <a:r>
              <a:rPr b="1" lang="en-US" sz="1200">
                <a:latin typeface="Noto Sans Symbols"/>
                <a:ea typeface="Noto Sans Symbols"/>
                <a:cs typeface="Noto Sans Symbols"/>
                <a:sym typeface="Noto Sans Symbols"/>
              </a:rPr>
              <a:t>𝐺 = (𝑉, 𝐸)</a:t>
            </a:r>
            <a:r>
              <a:rPr lang="en-US" sz="1200">
                <a:latin typeface="Noto Sans Symbols"/>
                <a:ea typeface="Noto Sans Symbols"/>
                <a:cs typeface="Noto Sans Symbols"/>
                <a:sym typeface="Noto Sans Symbols"/>
              </a:rPr>
              <a:t>, Where:</a:t>
            </a:r>
            <a:endParaRPr/>
          </a:p>
          <a:p>
            <a:pPr indent="0" lvl="0" marL="0" rtl="0" algn="l">
              <a:lnSpc>
                <a:spcPct val="100000"/>
              </a:lnSpc>
              <a:spcBef>
                <a:spcPts val="0"/>
              </a:spcBef>
              <a:spcAft>
                <a:spcPts val="0"/>
              </a:spcAft>
              <a:buClr>
                <a:schemeClr val="dk1"/>
              </a:buClr>
              <a:buSzPts val="1200"/>
              <a:buFont typeface="Noto Sans Symbols"/>
              <a:buNone/>
            </a:pPr>
            <a:r>
              <a:rPr b="1" lang="en-US" sz="1200">
                <a:latin typeface="Noto Sans Symbols"/>
                <a:ea typeface="Noto Sans Symbols"/>
                <a:cs typeface="Noto Sans Symbols"/>
                <a:sym typeface="Noto Sans Symbols"/>
              </a:rPr>
              <a:t>𝑉 </a:t>
            </a:r>
            <a:r>
              <a:rPr lang="en-US" sz="1200">
                <a:latin typeface="Noto Sans Symbols"/>
                <a:ea typeface="Noto Sans Symbols"/>
                <a:cs typeface="Noto Sans Symbols"/>
                <a:sym typeface="Noto Sans Symbols"/>
              </a:rPr>
              <a:t>∈ </a:t>
            </a:r>
            <a:r>
              <a:rPr b="1" lang="en-US" sz="1200">
                <a:latin typeface="Noto Sans Symbols"/>
                <a:ea typeface="Noto Sans Symbols"/>
                <a:cs typeface="Noto Sans Symbols"/>
                <a:sym typeface="Noto Sans Symbols"/>
              </a:rPr>
              <a:t>𝑅</a:t>
            </a:r>
            <a:r>
              <a:rPr baseline="30000" lang="en-US" sz="1200">
                <a:latin typeface="Noto Sans Symbols"/>
                <a:ea typeface="Noto Sans Symbols"/>
                <a:cs typeface="Noto Sans Symbols"/>
                <a:sym typeface="Noto Sans Symbols"/>
              </a:rPr>
              <a:t>𝑛×a</a:t>
            </a:r>
            <a:r>
              <a:rPr lang="en-US" sz="1200">
                <a:latin typeface="Noto Sans Symbols"/>
                <a:ea typeface="Noto Sans Symbols"/>
                <a:cs typeface="Noto Sans Symbols"/>
                <a:sym typeface="Noto Sans Symbols"/>
              </a:rPr>
              <a:t> is the node feature matrix, and</a:t>
            </a:r>
            <a:endParaRPr/>
          </a:p>
          <a:p>
            <a:pPr indent="0" lvl="0" marL="0" rtl="0" algn="l">
              <a:lnSpc>
                <a:spcPct val="100000"/>
              </a:lnSpc>
              <a:spcBef>
                <a:spcPts val="0"/>
              </a:spcBef>
              <a:spcAft>
                <a:spcPts val="0"/>
              </a:spcAft>
              <a:buClr>
                <a:schemeClr val="dk1"/>
              </a:buClr>
              <a:buSzPts val="1200"/>
              <a:buFont typeface="Noto Sans Symbols"/>
              <a:buNone/>
            </a:pPr>
            <a:r>
              <a:rPr b="1" lang="en-US" sz="1200">
                <a:latin typeface="Noto Sans Symbols"/>
                <a:ea typeface="Noto Sans Symbols"/>
                <a:cs typeface="Noto Sans Symbols"/>
                <a:sym typeface="Noto Sans Symbols"/>
              </a:rPr>
              <a:t>𝐸</a:t>
            </a:r>
            <a:r>
              <a:rPr lang="en-US" sz="1200">
                <a:latin typeface="Noto Sans Symbols"/>
                <a:ea typeface="Noto Sans Symbols"/>
                <a:cs typeface="Noto Sans Symbols"/>
                <a:sym typeface="Noto Sans Symbols"/>
              </a:rPr>
              <a:t> ⊆ {0,1}</a:t>
            </a:r>
            <a:r>
              <a:rPr baseline="30000" lang="en-US" sz="1200">
                <a:latin typeface="Noto Sans Symbols"/>
                <a:ea typeface="Noto Sans Symbols"/>
                <a:cs typeface="Noto Sans Symbols"/>
                <a:sym typeface="Noto Sans Symbols"/>
              </a:rPr>
              <a:t>𝑛×𝑛</a:t>
            </a:r>
            <a:r>
              <a:rPr lang="en-US" sz="1200">
                <a:latin typeface="Noto Sans Symbols"/>
                <a:ea typeface="Noto Sans Symbols"/>
                <a:cs typeface="Noto Sans Symbols"/>
                <a:sym typeface="Noto Sans Symbols"/>
              </a:rPr>
              <a:t> is the adjacency matrix.</a:t>
            </a:r>
            <a:endParaRPr/>
          </a:p>
          <a:p>
            <a:pPr indent="0" lvl="0" marL="0" rtl="0" algn="l">
              <a:lnSpc>
                <a:spcPct val="100000"/>
              </a:lnSpc>
              <a:spcBef>
                <a:spcPts val="0"/>
              </a:spcBef>
              <a:spcAft>
                <a:spcPts val="0"/>
              </a:spcAft>
              <a:buClr>
                <a:srgbClr val="F56600"/>
              </a:buClr>
              <a:buSzPts val="1200"/>
              <a:buFont typeface="Noto Sans Symbols"/>
              <a:buNone/>
            </a:pPr>
            <a:r>
              <a:rPr b="1" lang="en-US" sz="1200">
                <a:solidFill>
                  <a:srgbClr val="F56600"/>
                </a:solidFill>
                <a:latin typeface="Noto Sans Symbols"/>
                <a:ea typeface="Noto Sans Symbols"/>
                <a:cs typeface="Noto Sans Symbols"/>
                <a:sym typeface="Noto Sans Symbols"/>
              </a:rPr>
              <a:t>Agent’s State (Temporal Context)</a:t>
            </a:r>
            <a:endParaRPr sz="1200">
              <a:latin typeface="Noto Sans Symbols"/>
              <a:ea typeface="Noto Sans Symbols"/>
              <a:cs typeface="Noto Sans Symbols"/>
              <a:sym typeface="Noto Sans Symbols"/>
            </a:endParaRPr>
          </a:p>
          <a:p>
            <a:pPr indent="0" lvl="0" marL="0" rtl="0" algn="l">
              <a:lnSpc>
                <a:spcPct val="100000"/>
              </a:lnSpc>
              <a:spcBef>
                <a:spcPts val="0"/>
              </a:spcBef>
              <a:spcAft>
                <a:spcPts val="0"/>
              </a:spcAft>
              <a:buClr>
                <a:schemeClr val="dk1"/>
              </a:buClr>
              <a:buSzPts val="1200"/>
              <a:buFont typeface="Noto Sans Symbols"/>
              <a:buNone/>
            </a:pPr>
            <a:r>
              <a:rPr lang="en-US" sz="1200">
                <a:latin typeface="Noto Sans Symbols"/>
                <a:ea typeface="Noto Sans Symbols"/>
                <a:cs typeface="Noto Sans Symbols"/>
                <a:sym typeface="Noto Sans Symbols"/>
              </a:rPr>
              <a:t>The ego vehicle’s state at time 𝑡 is: </a:t>
            </a:r>
            <a:endParaRPr/>
          </a:p>
          <a:p>
            <a:pPr indent="0" lvl="0" marL="0" rtl="0" algn="l">
              <a:lnSpc>
                <a:spcPct val="100000"/>
              </a:lnSpc>
              <a:spcBef>
                <a:spcPts val="0"/>
              </a:spcBef>
              <a:spcAft>
                <a:spcPts val="0"/>
              </a:spcAft>
              <a:buClr>
                <a:schemeClr val="dk1"/>
              </a:buClr>
              <a:buSzPts val="1200"/>
              <a:buFont typeface="Noto Sans Symbols"/>
              <a:buNone/>
            </a:pPr>
            <a:r>
              <a:rPr b="1" lang="en-US" sz="1200">
                <a:latin typeface="Noto Sans Symbols"/>
                <a:ea typeface="Noto Sans Symbols"/>
                <a:cs typeface="Noto Sans Symbols"/>
                <a:sym typeface="Noto Sans Symbols"/>
              </a:rPr>
              <a:t>𝑥</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=[u</a:t>
            </a:r>
            <a:r>
              <a:rPr baseline="-25000" lang="en-US" sz="1200">
                <a:latin typeface="Noto Sans Symbols"/>
                <a:ea typeface="Noto Sans Symbols"/>
                <a:cs typeface="Noto Sans Symbols"/>
                <a:sym typeface="Noto Sans Symbols"/>
              </a:rPr>
              <a:t>1</a:t>
            </a:r>
            <a:r>
              <a:rPr lang="en-US" sz="1200">
                <a:latin typeface="Noto Sans Symbols"/>
                <a:ea typeface="Noto Sans Symbols"/>
                <a:cs typeface="Noto Sans Symbols"/>
                <a:sym typeface="Noto Sans Symbols"/>
              </a:rPr>
              <a:t>, u</a:t>
            </a:r>
            <a:r>
              <a:rPr baseline="-25000" lang="en-US" sz="1200">
                <a:latin typeface="Noto Sans Symbols"/>
                <a:ea typeface="Noto Sans Symbols"/>
                <a:cs typeface="Noto Sans Symbols"/>
                <a:sym typeface="Noto Sans Symbols"/>
              </a:rPr>
              <a:t>2</a:t>
            </a:r>
            <a:r>
              <a:rPr lang="en-US" sz="1200">
                <a:latin typeface="Noto Sans Symbols"/>
                <a:ea typeface="Noto Sans Symbols"/>
                <a:cs typeface="Noto Sans Symbols"/>
                <a:sym typeface="Noto Sans Symbols"/>
              </a:rPr>
              <a:t>,  …, u</a:t>
            </a:r>
            <a:r>
              <a:rPr baseline="-25000" lang="en-US" sz="1200">
                <a:latin typeface="Noto Sans Symbols"/>
                <a:ea typeface="Noto Sans Symbols"/>
                <a:cs typeface="Noto Sans Symbols"/>
                <a:sym typeface="Noto Sans Symbols"/>
              </a:rPr>
              <a:t>M</a:t>
            </a:r>
            <a:r>
              <a:rPr lang="en-US" sz="1200">
                <a:latin typeface="Noto Sans Symbols"/>
                <a:ea typeface="Noto Sans Symbols"/>
                <a:cs typeface="Noto Sans Symbols"/>
                <a:sym typeface="Noto Sans Symbols"/>
              </a:rPr>
              <a:t>], </a:t>
            </a:r>
            <a:endParaRPr/>
          </a:p>
          <a:p>
            <a:pPr indent="0" lvl="0" marL="0" rtl="0" algn="l">
              <a:lnSpc>
                <a:spcPct val="100000"/>
              </a:lnSpc>
              <a:spcBef>
                <a:spcPts val="0"/>
              </a:spcBef>
              <a:spcAft>
                <a:spcPts val="0"/>
              </a:spcAft>
              <a:buClr>
                <a:schemeClr val="dk1"/>
              </a:buClr>
              <a:buSzPts val="1200"/>
              <a:buFont typeface="Noto Sans Symbols"/>
              <a:buNone/>
            </a:pPr>
            <a:r>
              <a:rPr lang="en-US" sz="1200">
                <a:latin typeface="Noto Sans Symbols"/>
                <a:ea typeface="Noto Sans Symbols"/>
                <a:cs typeface="Noto Sans Symbols"/>
                <a:sym typeface="Noto Sans Symbols"/>
              </a:rPr>
              <a:t>M = Number of features (pos., vel., steer, detection flags, …)</a:t>
            </a:r>
            <a:endParaRPr/>
          </a:p>
          <a:p>
            <a:pPr indent="0" lvl="0" marL="0" rtl="0" algn="l">
              <a:lnSpc>
                <a:spcPct val="100000"/>
              </a:lnSpc>
              <a:spcBef>
                <a:spcPts val="0"/>
              </a:spcBef>
              <a:spcAft>
                <a:spcPts val="0"/>
              </a:spcAft>
              <a:buClr>
                <a:schemeClr val="dk1"/>
              </a:buClr>
              <a:buSzPts val="1200"/>
              <a:buFont typeface="Noto Sans Symbols"/>
              <a:buNone/>
            </a:pPr>
            <a:r>
              <a:rPr lang="en-US" sz="1200">
                <a:latin typeface="Noto Sans Symbols"/>
                <a:ea typeface="Noto Sans Symbols"/>
                <a:cs typeface="Noto Sans Symbols"/>
                <a:sym typeface="Noto Sans Symbols"/>
              </a:rPr>
              <a:t>The state history over a time horizon 𝐻 is: </a:t>
            </a:r>
            <a:r>
              <a:rPr b="1" lang="en-US" sz="1200">
                <a:latin typeface="Noto Sans Symbols"/>
                <a:ea typeface="Noto Sans Symbols"/>
                <a:cs typeface="Noto Sans Symbols"/>
                <a:sym typeface="Noto Sans Symbols"/>
              </a:rPr>
              <a:t>𝑋</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a:t>
            </a:r>
            <a:r>
              <a:rPr b="1" lang="en-US" sz="1200">
                <a:latin typeface="Noto Sans Symbols"/>
                <a:ea typeface="Noto Sans Symbols"/>
                <a:cs typeface="Noto Sans Symbols"/>
                <a:sym typeface="Noto Sans Symbols"/>
              </a:rPr>
              <a:t>𝑥</a:t>
            </a:r>
            <a:r>
              <a:rPr baseline="30000" lang="en-US" sz="1200">
                <a:latin typeface="Noto Sans Symbols"/>
                <a:ea typeface="Noto Sans Symbols"/>
                <a:cs typeface="Noto Sans Symbols"/>
                <a:sym typeface="Noto Sans Symbols"/>
              </a:rPr>
              <a:t>𝑡−𝐻</a:t>
            </a:r>
            <a:r>
              <a:rPr lang="en-US" sz="1200">
                <a:latin typeface="Noto Sans Symbols"/>
                <a:ea typeface="Noto Sans Symbols"/>
                <a:cs typeface="Noto Sans Symbols"/>
                <a:sym typeface="Noto Sans Symbols"/>
              </a:rPr>
              <a:t>, </a:t>
            </a:r>
            <a:r>
              <a:rPr b="1" lang="en-US" sz="1200">
                <a:latin typeface="Noto Sans Symbols"/>
                <a:ea typeface="Noto Sans Symbols"/>
                <a:cs typeface="Noto Sans Symbols"/>
                <a:sym typeface="Noto Sans Symbols"/>
              </a:rPr>
              <a:t>𝑥</a:t>
            </a:r>
            <a:r>
              <a:rPr baseline="30000" lang="en-US" sz="1200">
                <a:latin typeface="Noto Sans Symbols"/>
                <a:ea typeface="Noto Sans Symbols"/>
                <a:cs typeface="Noto Sans Symbols"/>
                <a:sym typeface="Noto Sans Symbols"/>
              </a:rPr>
              <a:t>𝑡−𝐻+1</a:t>
            </a:r>
            <a:r>
              <a:rPr lang="en-US" sz="1200">
                <a:latin typeface="Noto Sans Symbols"/>
                <a:ea typeface="Noto Sans Symbols"/>
                <a:cs typeface="Noto Sans Symbols"/>
                <a:sym typeface="Noto Sans Symbols"/>
              </a:rPr>
              <a:t>, …, </a:t>
            </a:r>
            <a:r>
              <a:rPr b="1" lang="en-US" sz="1200">
                <a:latin typeface="Noto Sans Symbols"/>
                <a:ea typeface="Noto Sans Symbols"/>
                <a:cs typeface="Noto Sans Symbols"/>
                <a:sym typeface="Noto Sans Symbols"/>
              </a:rPr>
              <a:t>𝑥</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a:t>
            </a:r>
            <a:endParaRPr/>
          </a:p>
          <a:p>
            <a:pPr indent="0" lvl="0" marL="0" rtl="0" algn="l">
              <a:lnSpc>
                <a:spcPct val="100000"/>
              </a:lnSpc>
              <a:spcBef>
                <a:spcPts val="0"/>
              </a:spcBef>
              <a:spcAft>
                <a:spcPts val="0"/>
              </a:spcAft>
              <a:buClr>
                <a:srgbClr val="F56600"/>
              </a:buClr>
              <a:buSzPts val="1200"/>
              <a:buFont typeface="Noto Sans Symbols"/>
              <a:buNone/>
            </a:pPr>
            <a:r>
              <a:rPr b="1" lang="en-US" sz="1200">
                <a:solidFill>
                  <a:srgbClr val="F56600"/>
                </a:solidFill>
                <a:latin typeface="Noto Sans Symbols"/>
                <a:ea typeface="Noto Sans Symbols"/>
                <a:cs typeface="Noto Sans Symbols"/>
                <a:sym typeface="Noto Sans Symbols"/>
              </a:rPr>
              <a:t>Joint State Representation</a:t>
            </a:r>
            <a:endParaRPr/>
          </a:p>
          <a:p>
            <a:pPr indent="0" lvl="0" marL="0" rtl="0" algn="l">
              <a:lnSpc>
                <a:spcPct val="100000"/>
              </a:lnSpc>
              <a:spcBef>
                <a:spcPts val="0"/>
              </a:spcBef>
              <a:spcAft>
                <a:spcPts val="0"/>
              </a:spcAft>
              <a:buClr>
                <a:schemeClr val="dk1"/>
              </a:buClr>
              <a:buSzPts val="1200"/>
              <a:buFont typeface="Noto Sans Symbols"/>
              <a:buNone/>
            </a:pPr>
            <a:r>
              <a:rPr lang="en-US" sz="1200">
                <a:latin typeface="Noto Sans Symbols"/>
                <a:ea typeface="Noto Sans Symbols"/>
                <a:cs typeface="Noto Sans Symbols"/>
                <a:sym typeface="Noto Sans Symbols"/>
              </a:rPr>
              <a:t>The joint state at time 𝑡 is </a:t>
            </a:r>
            <a:r>
              <a:rPr b="1" lang="en-US" sz="1200">
                <a:latin typeface="Noto Sans Symbols"/>
                <a:ea typeface="Noto Sans Symbols"/>
                <a:cs typeface="Noto Sans Symbols"/>
                <a:sym typeface="Noto Sans Symbols"/>
              </a:rPr>
              <a:t>S</a:t>
            </a:r>
            <a:r>
              <a:rPr baseline="30000" lang="en-US" sz="1200">
                <a:latin typeface="Noto Sans Symbols"/>
                <a:ea typeface="Noto Sans Symbols"/>
                <a:cs typeface="Noto Sans Symbols"/>
                <a:sym typeface="Noto Sans Symbols"/>
              </a:rPr>
              <a:t>t</a:t>
            </a:r>
            <a:r>
              <a:rPr lang="en-US" sz="1200">
                <a:latin typeface="Noto Sans Symbols"/>
                <a:ea typeface="Noto Sans Symbols"/>
                <a:cs typeface="Noto Sans Symbols"/>
                <a:sym typeface="Noto Sans Symbols"/>
              </a:rPr>
              <a:t> = (</a:t>
            </a:r>
            <a:r>
              <a:rPr b="1" lang="en-US" sz="1200">
                <a:latin typeface="Noto Sans Symbols"/>
                <a:ea typeface="Noto Sans Symbols"/>
                <a:cs typeface="Noto Sans Symbols"/>
                <a:sym typeface="Noto Sans Symbols"/>
              </a:rPr>
              <a:t>𝐺</a:t>
            </a:r>
            <a:r>
              <a:rPr lang="en-US" sz="1200">
                <a:latin typeface="Noto Sans Symbols"/>
                <a:ea typeface="Noto Sans Symbols"/>
                <a:cs typeface="Noto Sans Symbols"/>
                <a:sym typeface="Noto Sans Symbols"/>
              </a:rPr>
              <a:t>, </a:t>
            </a:r>
            <a:r>
              <a:rPr b="1" lang="en-US" sz="1200">
                <a:latin typeface="Noto Sans Symbols"/>
                <a:ea typeface="Noto Sans Symbols"/>
                <a:cs typeface="Noto Sans Symbols"/>
                <a:sym typeface="Noto Sans Symbols"/>
              </a:rPr>
              <a:t>𝑋</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a:t>
            </a:r>
            <a:endParaRPr/>
          </a:p>
          <a:p>
            <a:pPr indent="0" lvl="0" marL="0" rtl="0" algn="l">
              <a:lnSpc>
                <a:spcPct val="100000"/>
              </a:lnSpc>
              <a:spcBef>
                <a:spcPts val="0"/>
              </a:spcBef>
              <a:spcAft>
                <a:spcPts val="0"/>
              </a:spcAft>
              <a:buClr>
                <a:schemeClr val="dk1"/>
              </a:buClr>
              <a:buSzPts val="1200"/>
              <a:buFont typeface="Noto Sans Symbols"/>
              <a:buNone/>
            </a:pPr>
            <a:r>
              <a:rPr lang="en-US" sz="1200">
                <a:latin typeface="Noto Sans Symbols"/>
                <a:ea typeface="Noto Sans Symbols"/>
                <a:cs typeface="Noto Sans Symbols"/>
                <a:sym typeface="Noto Sans Symbols"/>
              </a:rPr>
              <a:t>where </a:t>
            </a:r>
            <a:r>
              <a:rPr b="1" lang="en-US" sz="1200">
                <a:latin typeface="Noto Sans Symbols"/>
                <a:ea typeface="Noto Sans Symbols"/>
                <a:cs typeface="Noto Sans Symbols"/>
                <a:sym typeface="Noto Sans Symbols"/>
              </a:rPr>
              <a:t>𝐺</a:t>
            </a:r>
            <a:r>
              <a:rPr lang="en-US" sz="1200">
                <a:latin typeface="Noto Sans Symbols"/>
                <a:ea typeface="Noto Sans Symbols"/>
                <a:cs typeface="Noto Sans Symbols"/>
                <a:sym typeface="Noto Sans Symbols"/>
              </a:rPr>
              <a:t> provides the spatial graph context and </a:t>
            </a:r>
            <a:r>
              <a:rPr b="1" lang="en-US" sz="1200">
                <a:latin typeface="Noto Sans Symbols"/>
                <a:ea typeface="Noto Sans Symbols"/>
                <a:cs typeface="Noto Sans Symbols"/>
                <a:sym typeface="Noto Sans Symbols"/>
              </a:rPr>
              <a:t>𝑋</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 encapsulates the agent's state history.</a:t>
            </a:r>
            <a:endParaRPr/>
          </a:p>
          <a:p>
            <a:pPr indent="0" lvl="0" marL="0" rtl="0" algn="l">
              <a:lnSpc>
                <a:spcPct val="100000"/>
              </a:lnSpc>
              <a:spcBef>
                <a:spcPts val="0"/>
              </a:spcBef>
              <a:spcAft>
                <a:spcPts val="0"/>
              </a:spcAft>
              <a:buClr>
                <a:schemeClr val="dk1"/>
              </a:buClr>
              <a:buSzPts val="1200"/>
              <a:buFont typeface="Arial"/>
              <a:buNone/>
            </a:pPr>
            <a:r>
              <a:t/>
            </a:r>
            <a:endParaRPr sz="1200">
              <a:latin typeface="Noto Sans Symbols"/>
              <a:ea typeface="Noto Sans Symbols"/>
              <a:cs typeface="Noto Sans Symbols"/>
              <a:sym typeface="Noto Sans Symbols"/>
            </a:endParaRPr>
          </a:p>
          <a:p>
            <a:pPr indent="0" lvl="0" marL="0" rtl="0" algn="l">
              <a:lnSpc>
                <a:spcPct val="100000"/>
              </a:lnSpc>
              <a:spcBef>
                <a:spcPts val="0"/>
              </a:spcBef>
              <a:spcAft>
                <a:spcPts val="0"/>
              </a:spcAft>
              <a:buSzPts val="1400"/>
              <a:buNone/>
            </a:pPr>
            <a:r>
              <a:t/>
            </a:r>
            <a:endParaRPr/>
          </a:p>
        </p:txBody>
      </p:sp>
      <p:sp>
        <p:nvSpPr>
          <p:cNvPr id="343" name="Google Shape;343;g3ef5baf9285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1" name="Google Shape;351;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F56600"/>
              </a:buClr>
              <a:buSzPts val="1200"/>
              <a:buFont typeface="Noto Sans Symbols"/>
              <a:buNone/>
            </a:pPr>
            <a:r>
              <a:rPr b="1" lang="en-US" sz="1200">
                <a:solidFill>
                  <a:srgbClr val="F56600"/>
                </a:solidFill>
                <a:latin typeface="Noto Sans Symbols"/>
                <a:ea typeface="Noto Sans Symbols"/>
                <a:cs typeface="Noto Sans Symbols"/>
                <a:sym typeface="Noto Sans Symbols"/>
              </a:rPr>
              <a:t>Future State Distribution</a:t>
            </a:r>
            <a:endParaRPr/>
          </a:p>
          <a:p>
            <a:pPr indent="0" lvl="0" marL="0" rtl="0" algn="l">
              <a:lnSpc>
                <a:spcPct val="100000"/>
              </a:lnSpc>
              <a:spcBef>
                <a:spcPts val="0"/>
              </a:spcBef>
              <a:spcAft>
                <a:spcPts val="0"/>
              </a:spcAft>
              <a:buClr>
                <a:schemeClr val="dk1"/>
              </a:buClr>
              <a:buSzPts val="1200"/>
              <a:buFont typeface="Noto Sans Symbols"/>
              <a:buNone/>
            </a:pPr>
            <a:r>
              <a:rPr lang="en-US" sz="1200">
                <a:latin typeface="Noto Sans Symbols"/>
                <a:ea typeface="Noto Sans Symbols"/>
                <a:cs typeface="Noto Sans Symbols"/>
                <a:sym typeface="Noto Sans Symbols"/>
              </a:rPr>
              <a:t>The future states over prediction horizon 𝐻′  is </a:t>
            </a:r>
            <a:r>
              <a:rPr b="1" lang="en-US" sz="1200">
                <a:latin typeface="Noto Sans Symbols"/>
                <a:ea typeface="Noto Sans Symbols"/>
                <a:cs typeface="Noto Sans Symbols"/>
                <a:sym typeface="Noto Sans Symbols"/>
              </a:rPr>
              <a:t>Y</a:t>
            </a:r>
            <a:r>
              <a:rPr baseline="30000" lang="en-US" sz="1200">
                <a:latin typeface="Noto Sans Symbols"/>
                <a:ea typeface="Noto Sans Symbols"/>
                <a:cs typeface="Noto Sans Symbols"/>
                <a:sym typeface="Noto Sans Symbols"/>
              </a:rPr>
              <a:t>t</a:t>
            </a:r>
            <a:r>
              <a:rPr b="1" lang="en-US" sz="1200">
                <a:latin typeface="Noto Sans Symbols"/>
                <a:ea typeface="Noto Sans Symbols"/>
                <a:cs typeface="Noto Sans Symbols"/>
                <a:sym typeface="Noto Sans Symbols"/>
              </a:rPr>
              <a:t> = (𝑦</a:t>
            </a:r>
            <a:r>
              <a:rPr baseline="30000" lang="en-US" sz="1200">
                <a:latin typeface="Noto Sans Symbols"/>
                <a:ea typeface="Noto Sans Symbols"/>
                <a:cs typeface="Noto Sans Symbols"/>
                <a:sym typeface="Noto Sans Symbols"/>
              </a:rPr>
              <a:t>t+1</a:t>
            </a:r>
            <a:r>
              <a:rPr lang="en-US" sz="1200">
                <a:latin typeface="Noto Sans Symbols"/>
                <a:ea typeface="Noto Sans Symbols"/>
                <a:cs typeface="Noto Sans Symbols"/>
                <a:sym typeface="Noto Sans Symbols"/>
              </a:rPr>
              <a:t>, </a:t>
            </a:r>
            <a:r>
              <a:rPr b="1" lang="en-US" sz="1200">
                <a:latin typeface="Noto Sans Symbols"/>
                <a:ea typeface="Noto Sans Symbols"/>
                <a:cs typeface="Noto Sans Symbols"/>
                <a:sym typeface="Noto Sans Symbols"/>
              </a:rPr>
              <a:t>𝑦</a:t>
            </a:r>
            <a:r>
              <a:rPr baseline="30000" lang="en-US" sz="1200">
                <a:latin typeface="Noto Sans Symbols"/>
                <a:ea typeface="Noto Sans Symbols"/>
                <a:cs typeface="Noto Sans Symbols"/>
                <a:sym typeface="Noto Sans Symbols"/>
              </a:rPr>
              <a:t>t+2</a:t>
            </a:r>
            <a:r>
              <a:rPr lang="en-US" sz="1200">
                <a:latin typeface="Noto Sans Symbols"/>
                <a:ea typeface="Noto Sans Symbols"/>
                <a:cs typeface="Noto Sans Symbols"/>
                <a:sym typeface="Noto Sans Symbols"/>
              </a:rPr>
              <a:t>, …, </a:t>
            </a:r>
            <a:r>
              <a:rPr b="1" lang="en-US" sz="1200">
                <a:latin typeface="Noto Sans Symbols"/>
                <a:ea typeface="Noto Sans Symbols"/>
                <a:cs typeface="Noto Sans Symbols"/>
                <a:sym typeface="Noto Sans Symbols"/>
              </a:rPr>
              <a:t>𝑦</a:t>
            </a:r>
            <a:r>
              <a:rPr baseline="30000" lang="en-US" sz="1200">
                <a:latin typeface="Noto Sans Symbols"/>
                <a:ea typeface="Noto Sans Symbols"/>
                <a:cs typeface="Noto Sans Symbols"/>
                <a:sym typeface="Noto Sans Symbols"/>
              </a:rPr>
              <a:t>t+H′</a:t>
            </a:r>
            <a:r>
              <a:rPr b="1" lang="en-US" sz="1200">
                <a:latin typeface="Noto Sans Symbols"/>
                <a:ea typeface="Noto Sans Symbols"/>
                <a:cs typeface="Noto Sans Symbols"/>
                <a:sym typeface="Noto Sans Symbols"/>
              </a:rPr>
              <a:t>), </a:t>
            </a:r>
            <a:r>
              <a:rPr lang="en-US" sz="1200">
                <a:latin typeface="Noto Sans Symbols"/>
                <a:ea typeface="Noto Sans Symbols"/>
                <a:cs typeface="Noto Sans Symbols"/>
                <a:sym typeface="Noto Sans Symbols"/>
              </a:rPr>
              <a:t>each </a:t>
            </a:r>
            <a:r>
              <a:rPr b="1" lang="en-US" sz="1200">
                <a:latin typeface="Noto Sans Symbols"/>
                <a:ea typeface="Noto Sans Symbols"/>
                <a:cs typeface="Noto Sans Symbols"/>
                <a:sym typeface="Noto Sans Symbols"/>
              </a:rPr>
              <a:t>𝑦</a:t>
            </a:r>
            <a:r>
              <a:rPr baseline="30000" lang="en-US" sz="1200">
                <a:latin typeface="Noto Sans Symbols"/>
                <a:ea typeface="Noto Sans Symbols"/>
                <a:cs typeface="Noto Sans Symbols"/>
                <a:sym typeface="Noto Sans Symbols"/>
              </a:rPr>
              <a:t>t</a:t>
            </a:r>
            <a:r>
              <a:rPr lang="en-US" sz="1200">
                <a:latin typeface="Noto Sans Symbols"/>
                <a:ea typeface="Noto Sans Symbols"/>
                <a:cs typeface="Noto Sans Symbols"/>
                <a:sym typeface="Noto Sans Symbols"/>
              </a:rPr>
              <a:t> is modeled probabilistically, with a Gaussian distribution:</a:t>
            </a:r>
            <a:endParaRPr/>
          </a:p>
          <a:p>
            <a:pPr indent="0" lvl="0" marL="0" rtl="0" algn="ctr">
              <a:lnSpc>
                <a:spcPct val="100000"/>
              </a:lnSpc>
              <a:spcBef>
                <a:spcPts val="0"/>
              </a:spcBef>
              <a:spcAft>
                <a:spcPts val="0"/>
              </a:spcAft>
              <a:buClr>
                <a:schemeClr val="dk1"/>
              </a:buClr>
              <a:buSzPts val="1200"/>
              <a:buFont typeface="Noto Sans Symbols"/>
              <a:buNone/>
            </a:pPr>
            <a:r>
              <a:rPr b="1" lang="en-US" sz="1200">
                <a:latin typeface="Noto Sans Symbols"/>
                <a:ea typeface="Noto Sans Symbols"/>
                <a:cs typeface="Noto Sans Symbols"/>
                <a:sym typeface="Noto Sans Symbols"/>
              </a:rPr>
              <a:t>𝑦</a:t>
            </a:r>
            <a:r>
              <a:rPr baseline="30000" lang="en-US" sz="1200">
                <a:latin typeface="Noto Sans Symbols"/>
                <a:ea typeface="Noto Sans Symbols"/>
                <a:cs typeface="Noto Sans Symbols"/>
                <a:sym typeface="Noto Sans Symbols"/>
              </a:rPr>
              <a:t>t</a:t>
            </a:r>
            <a:r>
              <a:rPr lang="en-US" sz="1200">
                <a:latin typeface="Noto Sans Symbols"/>
                <a:ea typeface="Noto Sans Symbols"/>
                <a:cs typeface="Noto Sans Symbols"/>
                <a:sym typeface="Noto Sans Symbols"/>
              </a:rPr>
              <a:t> ∼ N(𝜇</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 𝜎</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a:t>
            </a:r>
            <a:endParaRPr/>
          </a:p>
          <a:p>
            <a:pPr indent="0" lvl="0" marL="0" marR="0" rtl="0" algn="l">
              <a:lnSpc>
                <a:spcPct val="100000"/>
              </a:lnSpc>
              <a:spcBef>
                <a:spcPts val="0"/>
              </a:spcBef>
              <a:spcAft>
                <a:spcPts val="0"/>
              </a:spcAft>
              <a:buClr>
                <a:schemeClr val="dk1"/>
              </a:buClr>
              <a:buSzPts val="1200"/>
              <a:buFont typeface="Noto Sans Symbols"/>
              <a:buNone/>
            </a:pPr>
            <a:r>
              <a:rPr lang="en-US" sz="1200">
                <a:latin typeface="Noto Sans Symbols"/>
                <a:ea typeface="Noto Sans Symbols"/>
                <a:cs typeface="Noto Sans Symbols"/>
                <a:sym typeface="Noto Sans Symbols"/>
              </a:rPr>
              <a:t>where 𝜇</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 and 𝜎</a:t>
            </a:r>
            <a:r>
              <a:rPr baseline="30000" lang="en-US" sz="1200">
                <a:latin typeface="Noto Sans Symbols"/>
                <a:ea typeface="Noto Sans Symbols"/>
                <a:cs typeface="Noto Sans Symbols"/>
                <a:sym typeface="Noto Sans Symbols"/>
              </a:rPr>
              <a:t>𝑡</a:t>
            </a:r>
            <a:r>
              <a:rPr lang="en-US" sz="1200">
                <a:latin typeface="Noto Sans Symbols"/>
                <a:ea typeface="Noto Sans Symbols"/>
                <a:cs typeface="Noto Sans Symbols"/>
                <a:sym typeface="Noto Sans Symbols"/>
              </a:rPr>
              <a:t> are the predicted mean and variance (uncertainty), respectively.</a:t>
            </a:r>
            <a:endParaRPr/>
          </a:p>
          <a:p>
            <a:pPr indent="0" lvl="0" marL="0" rtl="0" algn="l">
              <a:lnSpc>
                <a:spcPct val="100000"/>
              </a:lnSpc>
              <a:spcBef>
                <a:spcPts val="0"/>
              </a:spcBef>
              <a:spcAft>
                <a:spcPts val="0"/>
              </a:spcAft>
              <a:buSzPts val="1400"/>
              <a:buNone/>
            </a:pPr>
            <a:r>
              <a:t/>
            </a:r>
            <a:endParaRPr/>
          </a:p>
        </p:txBody>
      </p:sp>
      <p:sp>
        <p:nvSpPr>
          <p:cNvPr id="352" name="Google Shape;352;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Before we get into details, here's the story as it stands now, because it shifted since the last meeting.</a:t>
            </a:r>
          </a:p>
          <a:p/>
          <a:p>
            <a:r>
              <a:t>The risk we look at is sensor faults, specifically faults that corrupt the vehicle's own state estimate. They cause two different failures. First, silent ones: in our AWSIM IMU fault data, Autoware's own pose estimate stayed in the lane while the real vehicle left the road, four times. The stack never knew. Second, when a fault is detected, the default is to stop the vehicle. That's safe, but it costs availability, and most of the faults we inject turn out to be harmless.</a:t>
            </a:r>
          </a:p>
          <a:p/>
          <a:p>
            <a:r>
              <a:t>Our approach reads only what the stack already publishes. The model learns, on nominal data, how the stack's own estimates normally agree with the vehicle's own reports. Calibrated disagreement tells us WHEN the state is off, HOW MUCH, and WHICH WAY. Layer 2 turns that into a probability of leaving the road or hitting something, on the real map. And the same estimate gives us a correction, so the response can be correct-and-continue instead of stop.</a:t>
            </a:r>
          </a:p>
          <a:p/>
          <a:p>
            <a:r>
              <a:t>What's shown today is detection, sizing, consequence, and the correction offline, against ground truth. Keeping the vehicle running with the correction in the loop is the next experiment.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full list of what goes into the model, because this was the confusing part last time.</a:t>
            </a:r>
          </a:p>
          <a:p/>
          <a:p>
            <a:r>
              <a:t>Every row is a 3-second history at 10 hertz, in the vehicle's own frame, except the map and route, which are a snapshot around the current position.</a:t>
            </a:r>
          </a:p>
          <a:p/>
          <a:p>
            <a:r>
              <a:t>The thing to notice is the source column. Some inputs come through localization: position, the EKF's own uncertainty, its health diagnostics. Others come straight from the vehicle: velocity, steering, the commanded acceleration. Others from perception: traffic light and objects. And the map and route are fixed facts. A localization fault corrupts the first group but not the second. That separation is exactly what the consistency channels on the next slide exploit.</a:t>
            </a:r>
          </a:p>
          <a:p/>
          <a:p>
            <a:r>
              <a:t>The highlighted rows are new since the earlier models: the consistency gaps and the localization health. Note that localization health is an input only: we don't predict it, we use it to decide when the LiDAR map match can be trusted as an absolute reference.</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are the five consistency channels. Each one compares two measurements of the same physical quantity: one that goes through localization, and one that doesn't.</a:t>
            </a:r>
          </a:p>
          <a:p/>
          <a:p>
            <a:r>
              <a:t>Channels 1 and 2 compare the EKF's internal velocity, which fuses the IMU, with the vehicle's own report. They see an IMU fault directly, but they can't see the LiDAR corrections.</a:t>
            </a:r>
          </a:p>
          <a:p/>
          <a:p>
            <a:r>
              <a:t>Channels 3 to 5 are what changed in ego_v6. They difference the final pose that Autoware actually drives on, so they include every LiDAR correction, and compare its yaw rate, along-track speed and lateral speed with the vehicle's own report. Each one is the rate at which one component of the pose error grows.</a:t>
            </a:r>
          </a:p>
          <a:p/>
          <a:p>
            <a:r>
              <a:t>Two points on the right. First, the gaps are not zero in normal driving: pose differencing lags in turns, the EKF and the wheels disagree while accelerating. So the model's consistency head predicts what each gap SHOULD be given this scene, and we use the residual: observed minus predicted. Second, and this is the key: a gap is a RATE of error, not the error itself. A 0.02 rad/s yaw-rate residual looks tiny at any instant, but over 10 seconds it's an 11-degree heading error. That's why the next step integrates.</a:t>
            </a:r>
          </a:p>
          <a:p/>
          <a:p>
            <a:r>
              <a:t>On wording: "redundancy" is the property that several sources exist. "Consistency" is what we learn and measure: whether they agree, given the context.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how the consistency residuals become a pose error.</a:t>
            </a:r>
          </a:p>
          <a:p/>
          <a:p>
            <a:r>
              <a:t>The pose error delta has three parts: psi, the heading error; x, the along-track error; and y, the lateral error. It's how far Autoware's believed pose is from the true pose, measured in the believed heading frame.</a:t>
            </a:r>
          </a:p>
          <a:p/>
          <a:p>
            <a:r>
              <a:t>There are two kinds of information. Growth: from the residuals, using exact kinematics. The heading error grows at the yaw-rate gap. The lateral error grows from the lateral gap plus speed times the sine of the heading error. That second term is how departures happen: the heading error turns into lateral drift.</a:t>
            </a:r>
          </a:p>
          <a:p/>
          <a:p>
            <a:r>
              <a:t>Reset: the LiDAR-to-map match is the only absolute reference. When it's healthy, it says the error is zero. We trust it in proportion to a health weight w, built from the EKF gate distance and the scan-match probability, judged against nominal quantiles. Under the IMU faults the EKF rejects the LiDAR, w goes to zero, and nothing pulls the error back. We checked that assumption: wherever the true error was larger than 5 degrees or 1 metre, health was never nominal.</a:t>
            </a:r>
          </a:p>
          <a:p/>
          <a:p>
            <a:r>
              <a:t>A Kalman-style filter combines the two: predict with growth, update with the reset. It outputs the estimate delta-hat and its covariance P. The plot shows estimated versus true heading error on the four departures: it tracks within 1 to 3 degrees.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Before the pictures, here's the logic of Layer 2, because the moving of the envelope only makes sense once you see what each piece contributes.</a:t>
            </a:r>
          </a:p>
          <a:p/>
          <a:p>
            <a:r>
              <a:t>2a answers: where will I go, relative to where I think I am? That's pure prediction: the forecast, plus 200 real error trajectories taken from the 150 most similar calibration scenes, found by the model's own embedding. So the spread is how wrong the model has actually been in situations like this one.</a:t>
            </a:r>
          </a:p>
          <a:p/>
          <a:p>
            <a:r>
              <a:t>2b answers: where am I really, relative to where I think I am? That's pure consistency: the pose-error estimate and its uncertainty from the filter.</a:t>
            </a:r>
          </a:p>
          <a:p/>
          <a:p>
            <a:r>
              <a:t>2c answers: is the real future safe? Neither prediction nor consistency: the map and tracked objects are the judge.</a:t>
            </a:r>
          </a:p>
          <a:p/>
          <a:p>
            <a:r>
              <a:t>The key insight is the bottom box. Under a localization fault, Autoware's plan is right in its own frame: it believes it is centred in the lane, and it steers to stay there. The frame itself is wrong. So the true future is the believed future, moved by the frame error. That's why 2b is a rigid rotation and shift. And it's why you need both halves: with prediction alone, P stays nominal and the fault is invisible; with the pose error alone, you know you're 2 metres off but not whether that matters here.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a schematic, not data, with numbers chosen to make the arithmetic visible: a heading error of 6 degrees, a lateral error of 0.8 metres, 11 metres per second.</a:t>
            </a:r>
          </a:p>
          <a:p/>
          <a:p>
            <a:r>
              <a:t>Panel 1: what the stack believes. Forecast plus 200 futures, all in the lane. In its own frame, P is zero.</a:t>
            </a:r>
          </a:p>
          <a:p/>
          <a:p>
            <a:r>
              <a:t>Panel 2: rotate every future about the car by the heading error. A point 33 metres ahead, which is 3 seconds at 11 metres per second, moves sideways by 33 times sine 6 degrees, about 3.4 metres. That's the whole reason heading error dominates: it's multiplied by distance.</a:t>
            </a:r>
          </a:p>
          <a:p/>
          <a:p>
            <a:r>
              <a:t>Panel 3: shift by the lateral error, 0.8 metres. So the sideways move at 3 seconds is about 0.8 plus 3.4, 4.2 metres, against 4.3 metres of room to the road edge.</a:t>
            </a:r>
          </a:p>
          <a:p/>
          <a:p>
            <a:r>
              <a:t>Panel 4: we're not certain of the error, so each of the 200 futures gets its own draw of the error from the filter's estimate and covariance. Some land on the road, some don't. P(violation) is just the share that leave: here 102 of 200, so 0.51.</a:t>
            </a:r>
          </a:p>
          <a:p/>
          <a:p>
            <a:r>
              <a:t>One rule of thumb to remember: sideways move of a point d metres ahead is about y plus d times sine psi.</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same steps on real data: the scale fault on goal 7, at 52.5 seconds, 2 seconds before the vehicle left the road.</a:t>
            </a:r>
          </a:p>
          <a:p/>
          <a:p>
            <a:r>
              <a:t>Panel a: the 200 futures in grey, around the forecast in blue. The black line is the past path as the vehicle's own estimate saw it; the dashed orange line is the true path from AWSIM. You can see the stack believes it's going straight through, along the blue line, while the truth curves left.</a:t>
            </a:r>
          </a:p>
          <a:p/>
          <a:p>
            <a:r>
              <a:t>Panel b: why it looks like a bunch of trajectories. Each line is one sample of a distribution. Here is that distribution as a density, with the 50 and 90 percent regions of where the car is after 3 seconds.</a:t>
            </a:r>
          </a:p>
          <a:p/>
          <a:p>
            <a:r>
              <a:t>Panel c: after the 2b move, every sample is rotated by about 13 degrees and shifted. The purple envelope now lies along the true path, not the believed one. Our estimate at this moment was 12.8 degrees against a true 13.9.</a:t>
            </a:r>
          </a:p>
          <a:p/>
          <a:p>
            <a:r>
              <a:t>Panel d: 2c counts. All 200 leave the road, so P is 1.0, two seconds before the actual departure.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filmstrip by module, same trial. Each column is a moment before the departure: 11.5, 4.8, 2 and 0.3 seconds before. Each row adds a module.</a:t>
            </a:r>
          </a:p>
          <a:p/>
          <a:p>
            <a:r>
              <a:t>Row 1, Layer 1 alone: forecast and calibrated band. It's in the believed frame, so it never leaves the road until it's far too late.</a:t>
            </a:r>
          </a:p>
          <a:p/>
          <a:p>
            <a:r>
              <a:t>Row 2, adding 2a: the scene-conditioned futures. Still in the believed frame, so P is 0.14 two seconds before departure.</a:t>
            </a:r>
          </a:p>
          <a:p/>
          <a:p>
            <a:r>
              <a:t>Row 3, adding 2b: the futures move by the estimated pose error onto the true path. P goes to 1.0 at 2 seconds before departure; at 4.8 seconds, the error is still small, about 1.5 degrees, so P is still 0.</a:t>
            </a:r>
          </a:p>
          <a:p/>
          <a:p>
            <a:r>
              <a:t>Row 4, the correction preview: the purple past path is the believed path minus our estimate, and it lies on the true orange path.</a:t>
            </a:r>
          </a:p>
          <a:p/>
          <a:p>
            <a:r>
              <a:t>The left column, long before the fault matters, shows that nothing moves on nominal driving: P is zero in every row.</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Once we know how much and which way, we can subtract the error rather than just warn.</a:t>
            </a:r>
          </a:p>
          <a:p/>
          <a:p>
            <a:r>
              <a:t>The grey lines are the error of Autoware's own pose against ground truth: heading on top, lateral below. Purple is what's left after subtracting our estimate. At the moment each vehicle left the road: scale goal 7, 22.7 degrees down to 1.3; s3 goal 7, 23.2 to 1.0; stuck goal 7, 95.4 to 1.7; stuck goal 12, 26.3 to 2.6. Lateral error at departure goes from 0.8 to 5.8 metres down to 0.4 to 1.2.</a:t>
            </a:r>
          </a:p>
          <a:p/>
          <a:p>
            <a:r>
              <a:t>Two caveats. This is open loop: the vehicle never used the correction. Whether it would have stayed on the road is what the closed-loop experiment is for. And correct only while Layer 1 says the state is off: on the harmless s1 fault, correcting raised the lateral error from 0.1 to 0.4 metres.</a:t>
            </a:r>
          </a:p>
          <a:p/>
          <a:p>
            <a:r>
              <a:t>So P(violation)'s role changes: it decides between correcting and stopping, and confirms the mitigation worked.</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I'd propose as the final result: a closed-loop comparison, the same fault scenarios in AWSIM, four configurations.</a:t>
            </a:r>
          </a:p>
          <a:p/>
          <a:p>
            <a:r>
              <a:t>Autoware alone: departs on s3, scale and stuck, that's today's ground truth. Plus Layer 1, stop on any anomaly: safe but stops on every harmless fault. Plus Layer 2, stop only when P(violation) rises: safe and selective. Plus Layer 3, correct the pose with our estimate and stop only if it can't be corrected: the expectation is safe and finishes the mission.</a:t>
            </a:r>
          </a:p>
          <a:p/>
          <a:p>
            <a:r>
              <a:t>Measured: departures prevented on the safety side; unnecessary stops and distance driven under the fault on the availability side.</a:t>
            </a:r>
          </a:p>
          <a:p/>
          <a:p>
            <a:r>
              <a:t>Needed: an online node running Layers 1 and 2 at 10 hertz, one interface into Autoware, and rerunning the scenarios. The interface choice is one of my questions for you.</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how to sell it. Correction from redundant measurements by itself is old: control theory calls it analytical redundancy, or fault detection, isolation and recovery. We should cite it and say what's different.</a:t>
            </a:r>
          </a:p>
          <a:p/>
          <a:p>
            <a:r>
              <a:t>What's different is the chain: the nominal relationship between the stack's estimates and the vehicle's reports is learned and scene-dependent, and calibrated with conformal prediction, not hand-modelled per fault. The error it yields is carried through to a consequence, P(violation) on the real map, which separates harmful faults from harmless ones. And the same estimate drives the response.</a:t>
            </a:r>
          </a:p>
          <a:p/>
          <a:p>
            <a:r>
              <a:t>The paper plan is as before. For venues, my educated guess: Layer 1 to the IEEE Intelligent Vehicles Symposium, ITSC, or DSN if we frame it as dependability. Layers 1 and 2 with the offline correction to T-ITS or T-IV, journals that accept simulation results. The closed loop to RA-L with ICRA or IROS, or T-IV, where we should expect pushback on simulation-only.</a:t>
            </a:r>
          </a:p>
          <a:p/>
          <a:p>
            <a:r>
              <a:t>One weakness to fix before reviewers find it: in AWSIM the vehicle-side velocity report is close to ground truth. On a real car it comes from wheel odometry, noisier and with slip. A cheap check is to add realistic odometry noise and bias offline and rerun the filter.</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Four questions.</a:t>
            </a:r>
          </a:p>
          <a:p/>
          <a:p>
            <a:r>
              <a:t>One: is the four-configuration closed loop the right capstone, with pose correction as Layer 3, or should Layer 3 stay with conservative responses like slowing and stopping?</a:t>
            </a:r>
          </a:p>
          <a:p/>
          <a:p>
            <a:r>
              <a:t>Two: the paper split. Closed loop as its own Paper 3, or folded into Paper 2?</a:t>
            </a:r>
          </a:p>
          <a:p/>
          <a:p>
            <a:r>
              <a:t>Three: the interface into Autoware. Injecting a corrected pose is the most direct test of correction but the most invasive, because it competes with Autoware's own EKF. Limiting speed or requesting a stop is easier but only tests slowing down.</a:t>
            </a:r>
          </a:p>
          <a:p/>
          <a:p>
            <a:r>
              <a:t>Four: scenario priorities for the next lab sessions: a false-green traffic-light fault, the only TL fault that can actually cause a consequence; the same IMU fault in tight versus wide geometry; or more nominal driving first, which strengthens every calibration claim.</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divider. The slides after this are the earlier obstacle-avoidance framing and the result-shape plan from before the fault-focused direction. Hidden by default; unhide if they come up.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6" name="Shape 16"/>
        <p:cNvGrpSpPr/>
        <p:nvPr/>
      </p:nvGrpSpPr>
      <p:grpSpPr>
        <a:xfrm>
          <a:off x="0" y="0"/>
          <a:ext cx="0" cy="0"/>
          <a:chOff x="0" y="0"/>
          <a:chExt cx="0" cy="0"/>
        </a:xfrm>
      </p:grpSpPr>
      <p:sp>
        <p:nvSpPr>
          <p:cNvPr id="17" name="Google Shape;17;p4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Autofit/>
          </a:bodyPr>
          <a:lstStyle>
            <a:lvl1pPr lvl="0" marR="0" rtl="0" algn="ctr">
              <a:lnSpc>
                <a:spcPct val="90000"/>
              </a:lnSpc>
              <a:spcBef>
                <a:spcPts val="0"/>
              </a:spcBef>
              <a:spcAft>
                <a:spcPts val="0"/>
              </a:spcAft>
              <a:buClr>
                <a:schemeClr val="dk1"/>
              </a:buClr>
              <a:buSzPts val="6000"/>
              <a:buFont typeface="Play"/>
              <a:buNone/>
              <a:defRPr b="0" i="0" sz="60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8" name="Google Shape;18;p4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4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4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2" name="Shape 22"/>
        <p:cNvGrpSpPr/>
        <p:nvPr/>
      </p:nvGrpSpPr>
      <p:grpSpPr>
        <a:xfrm>
          <a:off x="0" y="0"/>
          <a:ext cx="0" cy="0"/>
          <a:chOff x="0" y="0"/>
          <a:chExt cx="0" cy="0"/>
        </a:xfrm>
      </p:grpSpPr>
      <p:sp>
        <p:nvSpPr>
          <p:cNvPr id="23" name="Google Shape;23;p47"/>
          <p:cNvSpPr txBox="1"/>
          <p:nvPr>
            <p:ph type="title"/>
          </p:nvPr>
        </p:nvSpPr>
        <p:spPr>
          <a:xfrm>
            <a:off x="65144" y="136525"/>
            <a:ext cx="11153462" cy="54450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4" name="Google Shape;24;p47"/>
          <p:cNvSpPr txBox="1"/>
          <p:nvPr>
            <p:ph idx="1" type="body"/>
          </p:nvPr>
        </p:nvSpPr>
        <p:spPr>
          <a:xfrm>
            <a:off x="838200" y="986308"/>
            <a:ext cx="10515600" cy="519065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5" name="Google Shape;25;p4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4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grpSp>
        <p:nvGrpSpPr>
          <p:cNvPr id="28" name="Google Shape;28;p47"/>
          <p:cNvGrpSpPr/>
          <p:nvPr/>
        </p:nvGrpSpPr>
        <p:grpSpPr>
          <a:xfrm>
            <a:off x="311367" y="986308"/>
            <a:ext cx="175450" cy="136055"/>
            <a:chOff x="11343190" y="687636"/>
            <a:chExt cx="274320" cy="212725"/>
          </a:xfrm>
        </p:grpSpPr>
        <p:cxnSp>
          <p:nvCxnSpPr>
            <p:cNvPr id="29" name="Google Shape;29;p47"/>
            <p:cNvCxnSpPr/>
            <p:nvPr/>
          </p:nvCxnSpPr>
          <p:spPr>
            <a:xfrm>
              <a:off x="11343190" y="687636"/>
              <a:ext cx="274320" cy="0"/>
            </a:xfrm>
            <a:prstGeom prst="straightConnector1">
              <a:avLst/>
            </a:prstGeom>
            <a:noFill/>
            <a:ln cap="flat" cmpd="sng" w="22225">
              <a:solidFill>
                <a:schemeClr val="dk2"/>
              </a:solidFill>
              <a:prstDash val="solid"/>
              <a:miter lim="0"/>
              <a:headEnd len="sm" w="sm" type="none"/>
              <a:tailEnd len="sm" w="sm" type="none"/>
            </a:ln>
          </p:spPr>
        </p:cxnSp>
        <p:cxnSp>
          <p:nvCxnSpPr>
            <p:cNvPr id="30" name="Google Shape;30;p47"/>
            <p:cNvCxnSpPr/>
            <p:nvPr/>
          </p:nvCxnSpPr>
          <p:spPr>
            <a:xfrm>
              <a:off x="11343190" y="758544"/>
              <a:ext cx="274320" cy="0"/>
            </a:xfrm>
            <a:prstGeom prst="straightConnector1">
              <a:avLst/>
            </a:prstGeom>
            <a:noFill/>
            <a:ln cap="flat" cmpd="sng" w="22225">
              <a:solidFill>
                <a:schemeClr val="dk2"/>
              </a:solidFill>
              <a:prstDash val="solid"/>
              <a:miter lim="0"/>
              <a:headEnd len="sm" w="sm" type="none"/>
              <a:tailEnd len="sm" w="sm" type="none"/>
            </a:ln>
          </p:spPr>
        </p:cxnSp>
        <p:cxnSp>
          <p:nvCxnSpPr>
            <p:cNvPr id="31" name="Google Shape;31;p47"/>
            <p:cNvCxnSpPr/>
            <p:nvPr/>
          </p:nvCxnSpPr>
          <p:spPr>
            <a:xfrm>
              <a:off x="11343190" y="829452"/>
              <a:ext cx="274320" cy="0"/>
            </a:xfrm>
            <a:prstGeom prst="straightConnector1">
              <a:avLst/>
            </a:prstGeom>
            <a:noFill/>
            <a:ln cap="flat" cmpd="sng" w="22225">
              <a:solidFill>
                <a:schemeClr val="dk2"/>
              </a:solidFill>
              <a:prstDash val="solid"/>
              <a:miter lim="0"/>
              <a:headEnd len="sm" w="sm" type="none"/>
              <a:tailEnd len="sm" w="sm" type="none"/>
            </a:ln>
          </p:spPr>
        </p:cxnSp>
        <p:cxnSp>
          <p:nvCxnSpPr>
            <p:cNvPr id="32" name="Google Shape;32;p47"/>
            <p:cNvCxnSpPr/>
            <p:nvPr/>
          </p:nvCxnSpPr>
          <p:spPr>
            <a:xfrm>
              <a:off x="11343190" y="900361"/>
              <a:ext cx="274320" cy="0"/>
            </a:xfrm>
            <a:prstGeom prst="straightConnector1">
              <a:avLst/>
            </a:prstGeom>
            <a:noFill/>
            <a:ln cap="flat" cmpd="sng" w="22225">
              <a:solidFill>
                <a:schemeClr val="dk2"/>
              </a:solidFill>
              <a:prstDash val="solid"/>
              <a:miter lim="0"/>
              <a:headEnd len="sm" w="sm" type="none"/>
              <a:tailEnd len="sm" w="sm" type="none"/>
            </a:ln>
          </p:spPr>
        </p:cxnSp>
      </p:grpSp>
      <p:cxnSp>
        <p:nvCxnSpPr>
          <p:cNvPr id="33" name="Google Shape;33;p47"/>
          <p:cNvCxnSpPr/>
          <p:nvPr/>
        </p:nvCxnSpPr>
        <p:spPr>
          <a:xfrm>
            <a:off x="389259" y="1266917"/>
            <a:ext cx="0" cy="5591083"/>
          </a:xfrm>
          <a:prstGeom prst="straightConnector1">
            <a:avLst/>
          </a:prstGeom>
          <a:noFill/>
          <a:ln cap="flat" cmpd="sng" w="127000">
            <a:solidFill>
              <a:schemeClr val="accent2"/>
            </a:solidFill>
            <a:prstDash val="solid"/>
            <a:miter lim="0"/>
            <a:headEnd len="sm" w="sm" type="none"/>
            <a:tailEnd len="sm" w="sm" type="none"/>
          </a:ln>
        </p:spPr>
      </p:cxnSp>
      <p:sp>
        <p:nvSpPr>
          <p:cNvPr id="34" name="Google Shape;34;p47"/>
          <p:cNvSpPr txBox="1"/>
          <p:nvPr/>
        </p:nvSpPr>
        <p:spPr>
          <a:xfrm rot="-5400000">
            <a:off x="-2250288" y="3939348"/>
            <a:ext cx="4877088" cy="246221"/>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552D80"/>
                </a:solidFill>
                <a:latin typeface="Arial"/>
                <a:ea typeface="Arial"/>
                <a:cs typeface="Arial"/>
                <a:sym typeface="Arial"/>
              </a:rPr>
              <a:t>A Probabilistic Framework for Safe and Reliable Autonomous Vehicles as Digital Twins</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5" name="Shape 35"/>
        <p:cNvGrpSpPr/>
        <p:nvPr/>
      </p:nvGrpSpPr>
      <p:grpSpPr>
        <a:xfrm>
          <a:off x="0" y="0"/>
          <a:ext cx="0" cy="0"/>
          <a:chOff x="0" y="0"/>
          <a:chExt cx="0" cy="0"/>
        </a:xfrm>
      </p:grpSpPr>
      <p:sp>
        <p:nvSpPr>
          <p:cNvPr id="36" name="Google Shape;36;p48"/>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Autofit/>
          </a:bodyPr>
          <a:lstStyle>
            <a:lvl1pPr lvl="0" marR="0" rtl="0" algn="l">
              <a:lnSpc>
                <a:spcPct val="90000"/>
              </a:lnSpc>
              <a:spcBef>
                <a:spcPts val="0"/>
              </a:spcBef>
              <a:spcAft>
                <a:spcPts val="0"/>
              </a:spcAft>
              <a:buClr>
                <a:schemeClr val="dk1"/>
              </a:buClr>
              <a:buSzPts val="6000"/>
              <a:buFont typeface="Play"/>
              <a:buNone/>
              <a:defRPr b="0" i="0" sz="60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37" name="Google Shape;37;p48"/>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8" name="Google Shape;38;p4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4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4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1" name="Shape 41"/>
        <p:cNvGrpSpPr/>
        <p:nvPr/>
      </p:nvGrpSpPr>
      <p:grpSpPr>
        <a:xfrm>
          <a:off x="0" y="0"/>
          <a:ext cx="0" cy="0"/>
          <a:chOff x="0" y="0"/>
          <a:chExt cx="0" cy="0"/>
        </a:xfrm>
      </p:grpSpPr>
      <p:sp>
        <p:nvSpPr>
          <p:cNvPr id="42" name="Google Shape;42;p49"/>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3" name="Google Shape;43;p49"/>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49"/>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4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4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4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8" name="Shape 48"/>
        <p:cNvGrpSpPr/>
        <p:nvPr/>
      </p:nvGrpSpPr>
      <p:grpSpPr>
        <a:xfrm>
          <a:off x="0" y="0"/>
          <a:ext cx="0" cy="0"/>
          <a:chOff x="0" y="0"/>
          <a:chExt cx="0" cy="0"/>
        </a:xfrm>
      </p:grpSpPr>
      <p:sp>
        <p:nvSpPr>
          <p:cNvPr id="49" name="Google Shape;49;p50"/>
          <p:cNvSpPr txBox="1"/>
          <p:nvPr>
            <p:ph type="title"/>
          </p:nvPr>
        </p:nvSpPr>
        <p:spPr>
          <a:xfrm>
            <a:off x="839788"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0" name="Google Shape;50;p50"/>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1" name="Google Shape;51;p50"/>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2" name="Google Shape;52;p50"/>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3" name="Google Shape;53;p50"/>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4" name="Google Shape;54;p5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5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5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7" name="Shape 57"/>
        <p:cNvGrpSpPr/>
        <p:nvPr/>
      </p:nvGrpSpPr>
      <p:grpSpPr>
        <a:xfrm>
          <a:off x="0" y="0"/>
          <a:ext cx="0" cy="0"/>
          <a:chOff x="0" y="0"/>
          <a:chExt cx="0" cy="0"/>
        </a:xfrm>
      </p:grpSpPr>
      <p:sp>
        <p:nvSpPr>
          <p:cNvPr id="58" name="Google Shape;58;p51"/>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9" name="Google Shape;59;p5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5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1" name="Google Shape;61;p5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2" name="Shape 62"/>
        <p:cNvGrpSpPr/>
        <p:nvPr/>
      </p:nvGrpSpPr>
      <p:grpSpPr>
        <a:xfrm>
          <a:off x="0" y="0"/>
          <a:ext cx="0" cy="0"/>
          <a:chOff x="0" y="0"/>
          <a:chExt cx="0" cy="0"/>
        </a:xfrm>
      </p:grpSpPr>
      <p:sp>
        <p:nvSpPr>
          <p:cNvPr id="63" name="Google Shape;63;p5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5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5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6" name="Shape 66"/>
        <p:cNvGrpSpPr/>
        <p:nvPr/>
      </p:nvGrpSpPr>
      <p:grpSpPr>
        <a:xfrm>
          <a:off x="0" y="0"/>
          <a:ext cx="0" cy="0"/>
          <a:chOff x="0" y="0"/>
          <a:chExt cx="0" cy="0"/>
        </a:xfrm>
      </p:grpSpPr>
      <p:sp>
        <p:nvSpPr>
          <p:cNvPr id="67" name="Google Shape;67;p5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Autofit/>
          </a:bodyPr>
          <a:lstStyle>
            <a:lvl1pPr lvl="0" marR="0" rtl="0" algn="l">
              <a:lnSpc>
                <a:spcPct val="90000"/>
              </a:lnSpc>
              <a:spcBef>
                <a:spcPts val="0"/>
              </a:spcBef>
              <a:spcAft>
                <a:spcPts val="0"/>
              </a:spcAft>
              <a:buClr>
                <a:schemeClr val="dk1"/>
              </a:buClr>
              <a:buSzPts val="3200"/>
              <a:buFont typeface="Play"/>
              <a:buNone/>
              <a:defRPr b="0" i="0" sz="32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68" name="Google Shape;68;p53"/>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9" name="Google Shape;69;p53"/>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5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5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5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3" name="Shape 73"/>
        <p:cNvGrpSpPr/>
        <p:nvPr/>
      </p:nvGrpSpPr>
      <p:grpSpPr>
        <a:xfrm>
          <a:off x="0" y="0"/>
          <a:ext cx="0" cy="0"/>
          <a:chOff x="0" y="0"/>
          <a:chExt cx="0" cy="0"/>
        </a:xfrm>
      </p:grpSpPr>
      <p:sp>
        <p:nvSpPr>
          <p:cNvPr id="74" name="Google Shape;74;p54"/>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Autofit/>
          </a:bodyPr>
          <a:lstStyle>
            <a:lvl1pPr lvl="0" marR="0" rtl="0" algn="l">
              <a:lnSpc>
                <a:spcPct val="90000"/>
              </a:lnSpc>
              <a:spcBef>
                <a:spcPts val="0"/>
              </a:spcBef>
              <a:spcAft>
                <a:spcPts val="0"/>
              </a:spcAft>
              <a:buClr>
                <a:schemeClr val="dk1"/>
              </a:buClr>
              <a:buSzPts val="3200"/>
              <a:buFont typeface="Play"/>
              <a:buNone/>
              <a:defRPr b="0" i="0" sz="32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5" name="Google Shape;75;p54"/>
          <p:cNvSpPr/>
          <p:nvPr>
            <p:ph idx="2" type="pic"/>
          </p:nvPr>
        </p:nvSpPr>
        <p:spPr>
          <a:xfrm>
            <a:off x="5183188" y="987425"/>
            <a:ext cx="6172200" cy="4873625"/>
          </a:xfrm>
          <a:prstGeom prst="rect">
            <a:avLst/>
          </a:prstGeom>
          <a:noFill/>
          <a:ln>
            <a:noFill/>
          </a:ln>
        </p:spPr>
      </p:sp>
      <p:sp>
        <p:nvSpPr>
          <p:cNvPr id="76" name="Google Shape;76;p54"/>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7" name="Google Shape;77;p5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5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5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0" name="Shape 80"/>
        <p:cNvGrpSpPr/>
        <p:nvPr/>
      </p:nvGrpSpPr>
      <p:grpSpPr>
        <a:xfrm>
          <a:off x="0" y="0"/>
          <a:ext cx="0" cy="0"/>
          <a:chOff x="0" y="0"/>
          <a:chExt cx="0" cy="0"/>
        </a:xfrm>
      </p:grpSpPr>
      <p:sp>
        <p:nvSpPr>
          <p:cNvPr id="81" name="Google Shape;81;p55"/>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2" name="Google Shape;82;p55"/>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3" name="Google Shape;83;p5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5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5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6" name="Shape 86"/>
        <p:cNvGrpSpPr/>
        <p:nvPr/>
      </p:nvGrpSpPr>
      <p:grpSpPr>
        <a:xfrm>
          <a:off x="0" y="0"/>
          <a:ext cx="0" cy="0"/>
          <a:chOff x="0" y="0"/>
          <a:chExt cx="0" cy="0"/>
        </a:xfrm>
      </p:grpSpPr>
      <p:sp>
        <p:nvSpPr>
          <p:cNvPr id="87" name="Google Shape;87;p56"/>
          <p:cNvSpPr txBox="1"/>
          <p:nvPr>
            <p:ph type="title"/>
          </p:nvPr>
        </p:nvSpPr>
        <p:spPr>
          <a:xfrm rot="5400000">
            <a:off x="7133431" y="1956594"/>
            <a:ext cx="5811838" cy="26289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8" name="Google Shape;88;p56"/>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9" name="Google Shape;89;p5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5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5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4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1" name="Google Shape;11;p4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2" name="Google Shape;12;p4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4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4" name="Google Shape;14;p45"/>
          <p:cNvSpPr/>
          <p:nvPr/>
        </p:nvSpPr>
        <p:spPr>
          <a:xfrm>
            <a:off x="-304800" y="718268"/>
            <a:ext cx="13004800" cy="119932"/>
          </a:xfrm>
          <a:prstGeom prst="rect">
            <a:avLst/>
          </a:prstGeom>
          <a:solidFill>
            <a:srgbClr val="F566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descr="Risultati immagini per clemson logo" id="15" name="Google Shape;15;p45"/>
          <p:cNvPicPr preferRelativeResize="0"/>
          <p:nvPr/>
        </p:nvPicPr>
        <p:blipFill rotWithShape="1">
          <a:blip r:embed="rId1">
            <a:alphaModFix/>
          </a:blip>
          <a:srcRect b="0" l="0" r="0" t="0"/>
          <a:stretch/>
        </p:blipFill>
        <p:spPr>
          <a:xfrm>
            <a:off x="11353800" y="0"/>
            <a:ext cx="706966" cy="70696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Autofit/>
          </a:bodyPr>
          <a:lstStyle/>
          <a:p>
            <a:pPr indent="0" lvl="0" marL="0" rtl="0" algn="ctr">
              <a:lnSpc>
                <a:spcPct val="90000"/>
              </a:lnSpc>
              <a:spcBef>
                <a:spcPts val="0"/>
              </a:spcBef>
              <a:spcAft>
                <a:spcPts val="0"/>
              </a:spcAft>
              <a:buClr>
                <a:srgbClr val="7030A0"/>
              </a:buClr>
              <a:buSzPts val="4800"/>
              <a:buFont typeface="Play"/>
              <a:buNone/>
            </a:pPr>
            <a:br>
              <a:rPr lang="en-US" sz="4800">
                <a:solidFill>
                  <a:srgbClr val="7030A0"/>
                </a:solidFill>
              </a:rPr>
            </a:br>
            <a:r>
              <a:rPr lang="en-US" sz="4800">
                <a:solidFill>
                  <a:srgbClr val="7030A0"/>
                </a:solidFill>
              </a:rPr>
              <a:t>A Probabilistic Framework for Safe and Reliable</a:t>
            </a:r>
            <a:r>
              <a:rPr b="0" i="0" lang="en-US" sz="4800" u="none" strike="noStrike">
                <a:solidFill>
                  <a:srgbClr val="7030A0"/>
                </a:solidFill>
              </a:rPr>
              <a:t> Autonomous Vehicles as </a:t>
            </a:r>
            <a:r>
              <a:rPr lang="en-US" sz="4800">
                <a:solidFill>
                  <a:srgbClr val="7030A0"/>
                </a:solidFill>
              </a:rPr>
              <a:t>Digital-Twins</a:t>
            </a:r>
            <a:endParaRPr/>
          </a:p>
        </p:txBody>
      </p:sp>
      <p:sp>
        <p:nvSpPr>
          <p:cNvPr id="97" name="Google Shape;97;p1"/>
          <p:cNvSpPr txBox="1"/>
          <p:nvPr>
            <p:ph idx="1" type="subTitle"/>
          </p:nvPr>
        </p:nvSpPr>
        <p:spPr>
          <a:xfrm>
            <a:off x="1524000" y="3602038"/>
            <a:ext cx="9144000" cy="2754312"/>
          </a:xfrm>
          <a:prstGeom prst="rect">
            <a:avLst/>
          </a:prstGeom>
          <a:noFill/>
          <a:ln>
            <a:noFill/>
          </a:ln>
        </p:spPr>
        <p:txBody>
          <a:bodyPr anchorCtr="0" anchor="t" bIns="45700" lIns="91425" spcFirstLastPara="1" rIns="91425" wrap="square" tIns="45700">
            <a:normAutofit fontScale="70000" lnSpcReduction="20000"/>
          </a:bodyPr>
          <a:lstStyle/>
          <a:p>
            <a:pPr indent="0" lvl="0" marL="0" rtl="0" algn="ctr">
              <a:lnSpc>
                <a:spcPct val="90000"/>
              </a:lnSpc>
              <a:spcBef>
                <a:spcPts val="0"/>
              </a:spcBef>
              <a:spcAft>
                <a:spcPts val="0"/>
              </a:spcAft>
              <a:buClr>
                <a:schemeClr val="dk1"/>
              </a:buClr>
              <a:buSzPct val="100000"/>
              <a:buNone/>
            </a:pPr>
            <a:r>
              <a:rPr b="1" lang="en-US"/>
              <a:t>Ph.D. Proposal – Computer Engineering</a:t>
            </a:r>
            <a:endParaRPr/>
          </a:p>
          <a:p>
            <a:pPr indent="0" lvl="0" marL="0" rtl="0" algn="ctr">
              <a:lnSpc>
                <a:spcPct val="90000"/>
              </a:lnSpc>
              <a:spcBef>
                <a:spcPts val="1000"/>
              </a:spcBef>
              <a:spcAft>
                <a:spcPts val="0"/>
              </a:spcAft>
              <a:buClr>
                <a:schemeClr val="dk1"/>
              </a:buClr>
              <a:buSzPct val="100000"/>
              <a:buNone/>
            </a:pPr>
            <a:r>
              <a:rPr lang="en-US"/>
              <a:t>Kalpit Vadnerkar</a:t>
            </a:r>
            <a:endParaRPr/>
          </a:p>
          <a:p>
            <a:pPr indent="0" lvl="0" marL="0" rtl="0" algn="ctr">
              <a:lnSpc>
                <a:spcPct val="90000"/>
              </a:lnSpc>
              <a:spcBef>
                <a:spcPts val="1000"/>
              </a:spcBef>
              <a:spcAft>
                <a:spcPts val="0"/>
              </a:spcAft>
              <a:buClr>
                <a:schemeClr val="dk1"/>
              </a:buClr>
              <a:buSzPct val="100000"/>
              <a:buNone/>
            </a:pPr>
            <a:r>
              <a:rPr b="1" lang="en-US"/>
              <a:t>Committee Members:</a:t>
            </a:r>
            <a:endParaRPr/>
          </a:p>
          <a:p>
            <a:pPr indent="0" lvl="0" marL="0" rtl="0" algn="ctr">
              <a:lnSpc>
                <a:spcPct val="90000"/>
              </a:lnSpc>
              <a:spcBef>
                <a:spcPts val="1000"/>
              </a:spcBef>
              <a:spcAft>
                <a:spcPts val="0"/>
              </a:spcAft>
              <a:buClr>
                <a:schemeClr val="dk1"/>
              </a:buClr>
              <a:buSzPct val="100000"/>
              <a:buNone/>
            </a:pPr>
            <a:r>
              <a:rPr lang="en-US"/>
              <a:t>Dr. Richard Brooks, Committee Chair</a:t>
            </a:r>
            <a:endParaRPr/>
          </a:p>
          <a:p>
            <a:pPr indent="0" lvl="0" marL="0" rtl="0" algn="ctr">
              <a:lnSpc>
                <a:spcPct val="90000"/>
              </a:lnSpc>
              <a:spcBef>
                <a:spcPts val="1000"/>
              </a:spcBef>
              <a:spcAft>
                <a:spcPts val="0"/>
              </a:spcAft>
              <a:buClr>
                <a:schemeClr val="dk1"/>
              </a:buClr>
              <a:buSzPct val="100000"/>
              <a:buNone/>
            </a:pPr>
            <a:r>
              <a:rPr lang="en-US"/>
              <a:t>Dr. Pierluigi Pisu, Co-Chair</a:t>
            </a:r>
            <a:endParaRPr/>
          </a:p>
          <a:p>
            <a:pPr indent="0" lvl="0" marL="0" rtl="0" algn="ctr">
              <a:lnSpc>
                <a:spcPct val="90000"/>
              </a:lnSpc>
              <a:spcBef>
                <a:spcPts val="1000"/>
              </a:spcBef>
              <a:spcAft>
                <a:spcPts val="0"/>
              </a:spcAft>
              <a:buClr>
                <a:schemeClr val="dk1"/>
              </a:buClr>
              <a:buSzPct val="100000"/>
              <a:buNone/>
            </a:pPr>
            <a:r>
              <a:rPr lang="en-US"/>
              <a:t>Dr. Kuang-Ching Wang</a:t>
            </a:r>
            <a:endParaRPr/>
          </a:p>
          <a:p>
            <a:pPr indent="0" lvl="0" marL="0" rtl="0" algn="ctr">
              <a:lnSpc>
                <a:spcPct val="90000"/>
              </a:lnSpc>
              <a:spcBef>
                <a:spcPts val="1000"/>
              </a:spcBef>
              <a:spcAft>
                <a:spcPts val="0"/>
              </a:spcAft>
              <a:buClr>
                <a:schemeClr val="dk1"/>
              </a:buClr>
              <a:buSzPct val="100000"/>
              <a:buNone/>
            </a:pPr>
            <a:r>
              <a:rPr lang="en-US"/>
              <a:t>Dr. Linke Guo</a:t>
            </a:r>
            <a:endParaRPr/>
          </a:p>
          <a:p>
            <a:pPr indent="0" lvl="0" marL="0" rtl="0" algn="ctr">
              <a:lnSpc>
                <a:spcPct val="90000"/>
              </a:lnSpc>
              <a:spcBef>
                <a:spcPts val="1000"/>
              </a:spcBef>
              <a:spcAft>
                <a:spcPts val="0"/>
              </a:spcAft>
              <a:buClr>
                <a:schemeClr val="dk1"/>
              </a:buClr>
              <a:buSzPct val="100000"/>
              <a:buNone/>
            </a:pPr>
            <a:r>
              <a:t/>
            </a:r>
            <a:endParaRPr/>
          </a:p>
          <a:p>
            <a:pPr indent="0" lvl="0" marL="0" rtl="0" algn="ctr">
              <a:lnSpc>
                <a:spcPct val="90000"/>
              </a:lnSpc>
              <a:spcBef>
                <a:spcPts val="1000"/>
              </a:spcBef>
              <a:spcAft>
                <a:spcPts val="0"/>
              </a:spcAft>
              <a:buClr>
                <a:schemeClr val="dk1"/>
              </a:buClr>
              <a:buSzPct val="100000"/>
              <a:buNone/>
            </a:pPr>
            <a:r>
              <a:rPr lang="en-US"/>
              <a:t>October 2026</a:t>
            </a:r>
            <a:endParaRPr/>
          </a:p>
        </p:txBody>
      </p:sp>
      <p:sp>
        <p:nvSpPr>
          <p:cNvPr id="98" name="Google Shape;98;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pic>
        <p:nvPicPr>
          <p:cNvPr descr="A black and orange text&#10;&#10;Description automatically generated" id="99" name="Google Shape;99;p1"/>
          <p:cNvPicPr preferRelativeResize="0"/>
          <p:nvPr/>
        </p:nvPicPr>
        <p:blipFill rotWithShape="1">
          <a:blip r:embed="rId3">
            <a:alphaModFix/>
          </a:blip>
          <a:srcRect b="0" l="0" r="0" t="0"/>
          <a:stretch/>
        </p:blipFill>
        <p:spPr>
          <a:xfrm>
            <a:off x="147084" y="5643481"/>
            <a:ext cx="4062754" cy="107799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05" name="Google Shape;105;p25"/>
          <p:cNvSpPr txBox="1"/>
          <p:nvPr/>
        </p:nvSpPr>
        <p:spPr>
          <a:xfrm>
            <a:off x="131134" y="136525"/>
            <a:ext cx="11222666" cy="544512"/>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Old Approach: System Architecture</a:t>
            </a:r>
            <a:endParaRPr b="0" i="0" sz="1400" u="none" cap="none" strike="noStrike">
              <a:solidFill>
                <a:srgbClr val="000000"/>
              </a:solidFill>
              <a:latin typeface="Arial"/>
              <a:ea typeface="Arial"/>
              <a:cs typeface="Arial"/>
              <a:sym typeface="Arial"/>
            </a:endParaRPr>
          </a:p>
        </p:txBody>
      </p:sp>
      <p:sp>
        <p:nvSpPr>
          <p:cNvPr id="106" name="Google Shape;106;p25"/>
          <p:cNvSpPr txBox="1"/>
          <p:nvPr/>
        </p:nvSpPr>
        <p:spPr>
          <a:xfrm>
            <a:off x="6833344" y="1031358"/>
            <a:ext cx="4970528" cy="5324992"/>
          </a:xfrm>
          <a:prstGeom prst="rect">
            <a:avLst/>
          </a:prstGeom>
          <a:noFill/>
          <a:ln>
            <a:noFill/>
          </a:ln>
        </p:spPr>
        <p:txBody>
          <a:bodyPr anchorCtr="0" anchor="t" bIns="45700" lIns="91425" spcFirstLastPara="1" rIns="91425" wrap="square" tIns="45700">
            <a:normAutofit/>
          </a:bodyPr>
          <a:lstStyle/>
          <a:p>
            <a:pPr indent="0" lvl="0" marL="457200" marR="0" rtl="0" algn="l">
              <a:lnSpc>
                <a:spcPct val="90000"/>
              </a:lnSpc>
              <a:spcBef>
                <a:spcPts val="1000"/>
              </a:spcBef>
              <a:spcAft>
                <a:spcPts val="0"/>
              </a:spcAft>
              <a:buClr>
                <a:srgbClr val="000000"/>
              </a:buClr>
              <a:buSzPts val="2000"/>
              <a:buFont typeface="Arial"/>
              <a:buNone/>
            </a:pPr>
            <a:r>
              <a:rPr b="1" i="0" lang="en-US" sz="2000" u="none" cap="none" strike="noStrike">
                <a:solidFill>
                  <a:schemeClr val="dk1"/>
                </a:solidFill>
                <a:latin typeface="Noto Sans Symbols"/>
                <a:ea typeface="Noto Sans Symbols"/>
                <a:cs typeface="Noto Sans Symbols"/>
                <a:sym typeface="Noto Sans Symbols"/>
              </a:rPr>
              <a:t>Goal:</a:t>
            </a:r>
            <a:r>
              <a:rPr b="0" i="0" lang="en-US" sz="2000" u="none" cap="none" strike="noStrike">
                <a:solidFill>
                  <a:schemeClr val="dk1"/>
                </a:solidFill>
                <a:latin typeface="Noto Sans Symbols"/>
                <a:ea typeface="Noto Sans Symbols"/>
                <a:cs typeface="Noto Sans Symbols"/>
                <a:sym typeface="Noto Sans Symbols"/>
              </a:rPr>
              <a:t> </a:t>
            </a:r>
            <a:endParaRPr b="0" i="0" sz="2000" u="none" cap="none" strike="noStrike">
              <a:solidFill>
                <a:schemeClr val="dk1"/>
              </a:solidFill>
              <a:latin typeface="Noto Sans Symbols"/>
              <a:ea typeface="Noto Sans Symbols"/>
              <a:cs typeface="Noto Sans Symbols"/>
              <a:sym typeface="Noto Sans Symbols"/>
            </a:endParaRPr>
          </a:p>
          <a:p>
            <a:pPr indent="-355600" lvl="0" marL="457200" marR="0" rtl="0" algn="l">
              <a:lnSpc>
                <a:spcPct val="90000"/>
              </a:lnSpc>
              <a:spcBef>
                <a:spcPts val="1000"/>
              </a:spcBef>
              <a:spcAft>
                <a:spcPts val="0"/>
              </a:spcAft>
              <a:buClr>
                <a:schemeClr val="dk1"/>
              </a:buClr>
              <a:buSzPts val="2000"/>
              <a:buFont typeface="Noto Sans Symbols"/>
              <a:buChar char="❏"/>
            </a:pPr>
            <a:r>
              <a:rPr b="0" i="0" lang="en-US" sz="2000" u="none" cap="none" strike="noStrike">
                <a:solidFill>
                  <a:schemeClr val="dk1"/>
                </a:solidFill>
                <a:latin typeface="Noto Sans Symbols"/>
                <a:ea typeface="Noto Sans Symbols"/>
                <a:cs typeface="Noto Sans Symbols"/>
                <a:sym typeface="Noto Sans Symbols"/>
              </a:rPr>
              <a:t>Close the control loop from Digital-Twin residuals to MPC safety constraints to handle unmodeled risks in real-time.</a:t>
            </a:r>
            <a:endParaRPr b="0" i="0" sz="2000" u="none" cap="none" strike="noStrike">
              <a:solidFill>
                <a:schemeClr val="dk1"/>
              </a:solidFill>
              <a:latin typeface="Noto Sans Symbols"/>
              <a:ea typeface="Noto Sans Symbols"/>
              <a:cs typeface="Noto Sans Symbols"/>
              <a:sym typeface="Noto Sans Symbols"/>
            </a:endParaRPr>
          </a:p>
          <a:p>
            <a:pPr indent="0" lvl="0" marL="457200" marR="0" rtl="0" algn="l">
              <a:lnSpc>
                <a:spcPct val="90000"/>
              </a:lnSpc>
              <a:spcBef>
                <a:spcPts val="1000"/>
              </a:spcBef>
              <a:spcAft>
                <a:spcPts val="0"/>
              </a:spcAft>
              <a:buClr>
                <a:srgbClr val="000000"/>
              </a:buClr>
              <a:buSzPts val="2000"/>
              <a:buFont typeface="Arial"/>
              <a:buNone/>
            </a:pPr>
            <a:r>
              <a:t/>
            </a:r>
            <a:endParaRPr b="0" i="0" sz="2000" u="none" cap="none" strike="noStrike">
              <a:solidFill>
                <a:schemeClr val="dk1"/>
              </a:solidFill>
              <a:latin typeface="Noto Sans Symbols"/>
              <a:ea typeface="Noto Sans Symbols"/>
              <a:cs typeface="Noto Sans Symbols"/>
              <a:sym typeface="Noto Sans Symbols"/>
            </a:endParaRPr>
          </a:p>
          <a:p>
            <a:pPr indent="0" lvl="0" marL="457200" marR="0" rtl="0" algn="l">
              <a:lnSpc>
                <a:spcPct val="90000"/>
              </a:lnSpc>
              <a:spcBef>
                <a:spcPts val="1000"/>
              </a:spcBef>
              <a:spcAft>
                <a:spcPts val="0"/>
              </a:spcAft>
              <a:buClr>
                <a:srgbClr val="000000"/>
              </a:buClr>
              <a:buSzPts val="2000"/>
              <a:buFont typeface="Arial"/>
              <a:buNone/>
            </a:pPr>
            <a:r>
              <a:rPr b="1" i="0" lang="en-US" sz="2000" u="none" cap="none" strike="noStrike">
                <a:solidFill>
                  <a:schemeClr val="dk1"/>
                </a:solidFill>
                <a:latin typeface="Noto Sans Symbols"/>
                <a:ea typeface="Noto Sans Symbols"/>
                <a:cs typeface="Noto Sans Symbols"/>
                <a:sym typeface="Noto Sans Symbols"/>
              </a:rPr>
              <a:t>Key Concept:</a:t>
            </a:r>
            <a:r>
              <a:rPr b="0" i="0" lang="en-US" sz="2000" u="none" cap="none" strike="noStrike">
                <a:solidFill>
                  <a:schemeClr val="dk1"/>
                </a:solidFill>
                <a:latin typeface="Noto Sans Symbols"/>
                <a:ea typeface="Noto Sans Symbols"/>
                <a:cs typeface="Noto Sans Symbols"/>
                <a:sym typeface="Noto Sans Symbols"/>
              </a:rPr>
              <a:t> </a:t>
            </a:r>
            <a:endParaRPr b="0" i="0" sz="2000" u="none" cap="none" strike="noStrike">
              <a:solidFill>
                <a:schemeClr val="dk1"/>
              </a:solidFill>
              <a:latin typeface="Noto Sans Symbols"/>
              <a:ea typeface="Noto Sans Symbols"/>
              <a:cs typeface="Noto Sans Symbols"/>
              <a:sym typeface="Noto Sans Symbols"/>
            </a:endParaRPr>
          </a:p>
          <a:p>
            <a:pPr indent="-355600" lvl="0" marL="457200" marR="0" rtl="0" algn="l">
              <a:lnSpc>
                <a:spcPct val="90000"/>
              </a:lnSpc>
              <a:spcBef>
                <a:spcPts val="1000"/>
              </a:spcBef>
              <a:spcAft>
                <a:spcPts val="0"/>
              </a:spcAft>
              <a:buClr>
                <a:schemeClr val="dk1"/>
              </a:buClr>
              <a:buSzPts val="2000"/>
              <a:buFont typeface="Noto Sans Symbols"/>
              <a:buChar char="❏"/>
            </a:pPr>
            <a:r>
              <a:rPr b="0" i="0" lang="en-US" sz="2000" u="none" cap="none" strike="noStrike">
                <a:solidFill>
                  <a:schemeClr val="dk1"/>
                </a:solidFill>
                <a:latin typeface="Noto Sans Symbols"/>
                <a:ea typeface="Noto Sans Symbols"/>
                <a:cs typeface="Noto Sans Symbols"/>
                <a:sym typeface="Noto Sans Symbols"/>
              </a:rPr>
              <a:t>Risk is not just about detecting obstacles, but quantifying the trustworthiness of our system's perception and prediction. When the Digital Twin (DT) diverges from reality (high residual), our trust decreases, and we must "back off" by tightening safety constraints.</a:t>
            </a:r>
            <a:endParaRPr b="0" i="0" sz="1400" u="none" cap="none" strike="noStrike">
              <a:solidFill>
                <a:srgbClr val="000000"/>
              </a:solidFill>
              <a:latin typeface="Arial"/>
              <a:ea typeface="Arial"/>
              <a:cs typeface="Arial"/>
              <a:sym typeface="Arial"/>
            </a:endParaRPr>
          </a:p>
        </p:txBody>
      </p:sp>
      <p:pic>
        <p:nvPicPr>
          <p:cNvPr descr="A screenshot of a computer&#10;&#10;AI-generated content may be incorrect." id="107" name="Google Shape;107;p25"/>
          <p:cNvPicPr preferRelativeResize="0"/>
          <p:nvPr/>
        </p:nvPicPr>
        <p:blipFill rotWithShape="1">
          <a:blip r:embed="rId3">
            <a:alphaModFix/>
          </a:blip>
          <a:srcRect b="0" l="0" r="0" t="0"/>
          <a:stretch/>
        </p:blipFill>
        <p:spPr>
          <a:xfrm>
            <a:off x="838200" y="908707"/>
            <a:ext cx="5854996" cy="5949293"/>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11" name="Shape 111"/>
        <p:cNvGrpSpPr/>
        <p:nvPr/>
      </p:nvGrpSpPr>
      <p:grpSpPr>
        <a:xfrm>
          <a:off x="0" y="0"/>
          <a:ext cx="0" cy="0"/>
          <a:chOff x="0" y="0"/>
          <a:chExt cx="0" cy="0"/>
        </a:xfrm>
      </p:grpSpPr>
      <p:sp>
        <p:nvSpPr>
          <p:cNvPr id="112" name="Google Shape;112;g3ba3cb23dd1_0_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13" name="Google Shape;113;g3ba3cb23dd1_0_0"/>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The Loop Strategy</a:t>
            </a:r>
            <a:endParaRPr b="0" i="0" sz="1400" u="none" cap="none" strike="noStrike">
              <a:solidFill>
                <a:srgbClr val="000000"/>
              </a:solidFill>
              <a:latin typeface="Arial"/>
              <a:ea typeface="Arial"/>
              <a:cs typeface="Arial"/>
              <a:sym typeface="Arial"/>
            </a:endParaRPr>
          </a:p>
        </p:txBody>
      </p:sp>
      <p:sp>
        <p:nvSpPr>
          <p:cNvPr id="114" name="Google Shape;114;g3ba3cb23dd1_0_0"/>
          <p:cNvSpPr txBox="1"/>
          <p:nvPr/>
        </p:nvSpPr>
        <p:spPr>
          <a:xfrm>
            <a:off x="6833344" y="1031358"/>
            <a:ext cx="4970400" cy="5325000"/>
          </a:xfrm>
          <a:prstGeom prst="rect">
            <a:avLst/>
          </a:prstGeom>
          <a:noFill/>
          <a:ln>
            <a:noFill/>
          </a:ln>
        </p:spPr>
        <p:txBody>
          <a:bodyPr anchorCtr="0" anchor="t" bIns="45700" lIns="91425" spcFirstLastPara="1" rIns="91425" wrap="square" tIns="45700">
            <a:normAutofit/>
          </a:bodyPr>
          <a:lstStyle/>
          <a:p>
            <a:pPr indent="-355600" lvl="0" marL="457200" marR="0" rtl="0" algn="l">
              <a:lnSpc>
                <a:spcPct val="90000"/>
              </a:lnSpc>
              <a:spcBef>
                <a:spcPts val="1000"/>
              </a:spcBef>
              <a:spcAft>
                <a:spcPts val="0"/>
              </a:spcAft>
              <a:buClr>
                <a:schemeClr val="dk1"/>
              </a:buClr>
              <a:buSzPts val="2000"/>
              <a:buFont typeface="Noto Sans Symbols"/>
              <a:buChar char="❏"/>
            </a:pPr>
            <a:r>
              <a:rPr b="1" i="0" lang="en-US" sz="2000" u="none" cap="none" strike="noStrike">
                <a:solidFill>
                  <a:schemeClr val="dk1"/>
                </a:solidFill>
                <a:latin typeface="Noto Sans Symbols"/>
                <a:ea typeface="Noto Sans Symbols"/>
                <a:cs typeface="Noto Sans Symbols"/>
                <a:sym typeface="Noto Sans Symbols"/>
              </a:rPr>
              <a:t>Observe:</a:t>
            </a:r>
            <a:r>
              <a:rPr b="0" i="0" lang="en-US" sz="2000" u="none" cap="none" strike="noStrike">
                <a:solidFill>
                  <a:schemeClr val="dk1"/>
                </a:solidFill>
                <a:latin typeface="Noto Sans Symbols"/>
                <a:ea typeface="Noto Sans Symbols"/>
                <a:cs typeface="Noto Sans Symbols"/>
                <a:sym typeface="Noto Sans Symbols"/>
              </a:rPr>
              <a:t> Real vehicle state (</a:t>
            </a:r>
            <a:r>
              <a:rPr b="1" i="0" lang="en-US" sz="2000" u="none" cap="none" strike="noStrike">
                <a:solidFill>
                  <a:schemeClr val="dk1"/>
                </a:solidFill>
                <a:latin typeface="Noto Sans Symbols"/>
                <a:ea typeface="Noto Sans Symbols"/>
                <a:cs typeface="Noto Sans Symbols"/>
                <a:sym typeface="Noto Sans Symbols"/>
              </a:rPr>
              <a:t>X</a:t>
            </a:r>
            <a:r>
              <a:rPr b="0" i="0" lang="en-US" sz="2000" u="none" cap="none" strike="noStrike">
                <a:solidFill>
                  <a:schemeClr val="dk1"/>
                </a:solidFill>
                <a:latin typeface="Noto Sans Symbols"/>
                <a:ea typeface="Noto Sans Symbols"/>
                <a:cs typeface="Noto Sans Symbols"/>
                <a:sym typeface="Noto Sans Symbols"/>
              </a:rPr>
              <a:t>) vs Digital Twin prediction (</a:t>
            </a:r>
            <a:r>
              <a:rPr b="1" i="0" lang="en-US" sz="2000" u="none" cap="none" strike="noStrike">
                <a:solidFill>
                  <a:schemeClr val="dk1"/>
                </a:solidFill>
                <a:latin typeface="Noto Sans Symbols"/>
                <a:ea typeface="Noto Sans Symbols"/>
                <a:cs typeface="Noto Sans Symbols"/>
                <a:sym typeface="Noto Sans Symbols"/>
              </a:rPr>
              <a:t>Y</a:t>
            </a:r>
            <a:r>
              <a:rPr b="0" i="0" lang="en-US" sz="2000" u="none" cap="none" strike="noStrike">
                <a:solidFill>
                  <a:schemeClr val="dk1"/>
                </a:solidFill>
                <a:latin typeface="Noto Sans Symbols"/>
                <a:ea typeface="Noto Sans Symbols"/>
                <a:cs typeface="Noto Sans Symbols"/>
                <a:sym typeface="Noto Sans Symbols"/>
              </a:rPr>
              <a:t>).</a:t>
            </a:r>
            <a:endParaRPr b="0" i="0" sz="2000" u="none" cap="none" strike="noStrike">
              <a:solidFill>
                <a:schemeClr val="dk1"/>
              </a:solidFill>
              <a:latin typeface="Noto Sans Symbols"/>
              <a:ea typeface="Noto Sans Symbols"/>
              <a:cs typeface="Noto Sans Symbols"/>
              <a:sym typeface="Noto Sans Symbols"/>
            </a:endParaRPr>
          </a:p>
          <a:p>
            <a:pPr indent="0" lvl="0" marL="457200" marR="0" rtl="0" algn="l">
              <a:lnSpc>
                <a:spcPct val="90000"/>
              </a:lnSpc>
              <a:spcBef>
                <a:spcPts val="1000"/>
              </a:spcBef>
              <a:spcAft>
                <a:spcPts val="0"/>
              </a:spcAft>
              <a:buClr>
                <a:srgbClr val="000000"/>
              </a:buClr>
              <a:buSzPts val="2000"/>
              <a:buFont typeface="Arial"/>
              <a:buNone/>
            </a:pPr>
            <a:r>
              <a:t/>
            </a:r>
            <a:endParaRPr b="0" i="0" sz="2000" u="none" cap="none" strike="noStrike">
              <a:solidFill>
                <a:schemeClr val="dk1"/>
              </a:solidFill>
              <a:latin typeface="Noto Sans Symbols"/>
              <a:ea typeface="Noto Sans Symbols"/>
              <a:cs typeface="Noto Sans Symbols"/>
              <a:sym typeface="Noto Sans Symbols"/>
            </a:endParaRPr>
          </a:p>
          <a:p>
            <a:pPr indent="-355600" lvl="0" marL="457200" marR="0" rtl="0" algn="l">
              <a:lnSpc>
                <a:spcPct val="90000"/>
              </a:lnSpc>
              <a:spcBef>
                <a:spcPts val="1000"/>
              </a:spcBef>
              <a:spcAft>
                <a:spcPts val="0"/>
              </a:spcAft>
              <a:buClr>
                <a:schemeClr val="dk1"/>
              </a:buClr>
              <a:buSzPts val="2000"/>
              <a:buFont typeface="Noto Sans Symbols"/>
              <a:buChar char="❏"/>
            </a:pPr>
            <a:r>
              <a:rPr b="1" i="0" lang="en-US" sz="2000" u="none" cap="none" strike="noStrike">
                <a:solidFill>
                  <a:schemeClr val="dk1"/>
                </a:solidFill>
                <a:latin typeface="Noto Sans Symbols"/>
                <a:ea typeface="Noto Sans Symbols"/>
                <a:cs typeface="Noto Sans Symbols"/>
                <a:sym typeface="Noto Sans Symbols"/>
              </a:rPr>
              <a:t>Quantify:</a:t>
            </a:r>
            <a:r>
              <a:rPr b="0" i="0" lang="en-US" sz="2000" u="none" cap="none" strike="noStrike">
                <a:solidFill>
                  <a:schemeClr val="dk1"/>
                </a:solidFill>
                <a:latin typeface="Noto Sans Symbols"/>
                <a:ea typeface="Noto Sans Symbols"/>
                <a:cs typeface="Noto Sans Symbols"/>
                <a:sym typeface="Noto Sans Symbols"/>
              </a:rPr>
              <a:t> Compute Residuals using KL-Div or CUSUM.</a:t>
            </a:r>
            <a:endParaRPr b="0" i="0" sz="2000" u="none" cap="none" strike="noStrike">
              <a:solidFill>
                <a:schemeClr val="dk1"/>
              </a:solidFill>
              <a:latin typeface="Noto Sans Symbols"/>
              <a:ea typeface="Noto Sans Symbols"/>
              <a:cs typeface="Noto Sans Symbols"/>
              <a:sym typeface="Noto Sans Symbols"/>
            </a:endParaRPr>
          </a:p>
          <a:p>
            <a:pPr indent="0" lvl="0" marL="457200" marR="0" rtl="0" algn="l">
              <a:lnSpc>
                <a:spcPct val="90000"/>
              </a:lnSpc>
              <a:spcBef>
                <a:spcPts val="1000"/>
              </a:spcBef>
              <a:spcAft>
                <a:spcPts val="0"/>
              </a:spcAft>
              <a:buClr>
                <a:srgbClr val="000000"/>
              </a:buClr>
              <a:buSzPts val="2000"/>
              <a:buFont typeface="Arial"/>
              <a:buNone/>
            </a:pPr>
            <a:r>
              <a:t/>
            </a:r>
            <a:endParaRPr b="0" i="0" sz="2000" u="none" cap="none" strike="noStrike">
              <a:solidFill>
                <a:schemeClr val="dk1"/>
              </a:solidFill>
              <a:latin typeface="Noto Sans Symbols"/>
              <a:ea typeface="Noto Sans Symbols"/>
              <a:cs typeface="Noto Sans Symbols"/>
              <a:sym typeface="Noto Sans Symbols"/>
            </a:endParaRPr>
          </a:p>
          <a:p>
            <a:pPr indent="-355600" lvl="0" marL="457200" marR="0" rtl="0" algn="l">
              <a:lnSpc>
                <a:spcPct val="90000"/>
              </a:lnSpc>
              <a:spcBef>
                <a:spcPts val="1000"/>
              </a:spcBef>
              <a:spcAft>
                <a:spcPts val="0"/>
              </a:spcAft>
              <a:buClr>
                <a:schemeClr val="dk1"/>
              </a:buClr>
              <a:buSzPts val="2000"/>
              <a:buFont typeface="Noto Sans Symbols"/>
              <a:buChar char="❏"/>
            </a:pPr>
            <a:r>
              <a:rPr b="1" i="0" lang="en-US" sz="2000" u="none" cap="none" strike="noStrike">
                <a:solidFill>
                  <a:schemeClr val="dk1"/>
                </a:solidFill>
                <a:latin typeface="Noto Sans Symbols"/>
                <a:ea typeface="Noto Sans Symbols"/>
                <a:cs typeface="Noto Sans Symbols"/>
                <a:sym typeface="Noto Sans Symbols"/>
              </a:rPr>
              <a:t>Assess:</a:t>
            </a:r>
            <a:r>
              <a:rPr b="0" i="0" lang="en-US" sz="2000" u="none" cap="none" strike="noStrike">
                <a:solidFill>
                  <a:schemeClr val="dk1"/>
                </a:solidFill>
                <a:latin typeface="Noto Sans Symbols"/>
                <a:ea typeface="Noto Sans Symbols"/>
                <a:cs typeface="Noto Sans Symbols"/>
                <a:sym typeface="Noto Sans Symbols"/>
              </a:rPr>
              <a:t> Estimate CVaR (tail risk) from the sliding window of residuals.</a:t>
            </a:r>
            <a:endParaRPr b="0" i="0" sz="2000" u="none" cap="none" strike="noStrike">
              <a:solidFill>
                <a:schemeClr val="dk1"/>
              </a:solidFill>
              <a:latin typeface="Noto Sans Symbols"/>
              <a:ea typeface="Noto Sans Symbols"/>
              <a:cs typeface="Noto Sans Symbols"/>
              <a:sym typeface="Noto Sans Symbols"/>
            </a:endParaRPr>
          </a:p>
          <a:p>
            <a:pPr indent="0" lvl="0" marL="457200" marR="0" rtl="0" algn="l">
              <a:lnSpc>
                <a:spcPct val="90000"/>
              </a:lnSpc>
              <a:spcBef>
                <a:spcPts val="1000"/>
              </a:spcBef>
              <a:spcAft>
                <a:spcPts val="0"/>
              </a:spcAft>
              <a:buClr>
                <a:srgbClr val="000000"/>
              </a:buClr>
              <a:buSzPts val="2000"/>
              <a:buFont typeface="Arial"/>
              <a:buNone/>
            </a:pPr>
            <a:r>
              <a:t/>
            </a:r>
            <a:endParaRPr b="0" i="0" sz="2000" u="none" cap="none" strike="noStrike">
              <a:solidFill>
                <a:schemeClr val="dk1"/>
              </a:solidFill>
              <a:latin typeface="Noto Sans Symbols"/>
              <a:ea typeface="Noto Sans Symbols"/>
              <a:cs typeface="Noto Sans Symbols"/>
              <a:sym typeface="Noto Sans Symbols"/>
            </a:endParaRPr>
          </a:p>
          <a:p>
            <a:pPr indent="-355600" lvl="0" marL="457200" marR="0" rtl="0" algn="l">
              <a:lnSpc>
                <a:spcPct val="90000"/>
              </a:lnSpc>
              <a:spcBef>
                <a:spcPts val="1000"/>
              </a:spcBef>
              <a:spcAft>
                <a:spcPts val="0"/>
              </a:spcAft>
              <a:buClr>
                <a:schemeClr val="dk1"/>
              </a:buClr>
              <a:buSzPts val="2000"/>
              <a:buFont typeface="Noto Sans Symbols"/>
              <a:buChar char="❏"/>
            </a:pPr>
            <a:r>
              <a:rPr b="1" i="0" lang="en-US" sz="2000" u="none" cap="none" strike="noStrike">
                <a:solidFill>
                  <a:schemeClr val="dk1"/>
                </a:solidFill>
                <a:latin typeface="Noto Sans Symbols"/>
                <a:ea typeface="Noto Sans Symbols"/>
                <a:cs typeface="Noto Sans Symbols"/>
                <a:sym typeface="Noto Sans Symbols"/>
              </a:rPr>
              <a:t>Act:</a:t>
            </a:r>
            <a:r>
              <a:rPr b="0" i="0" lang="en-US" sz="2000" u="none" cap="none" strike="noStrike">
                <a:solidFill>
                  <a:schemeClr val="dk1"/>
                </a:solidFill>
                <a:latin typeface="Noto Sans Symbols"/>
                <a:ea typeface="Noto Sans Symbols"/>
                <a:cs typeface="Noto Sans Symbols"/>
                <a:sym typeface="Noto Sans Symbols"/>
              </a:rPr>
              <a:t> Map CVaR to a constraint margin f(CVaR).</a:t>
            </a:r>
            <a:endParaRPr b="0" i="0" sz="2000" u="none" cap="none" strike="noStrike">
              <a:solidFill>
                <a:schemeClr val="dk1"/>
              </a:solidFill>
              <a:latin typeface="Noto Sans Symbols"/>
              <a:ea typeface="Noto Sans Symbols"/>
              <a:cs typeface="Noto Sans Symbols"/>
              <a:sym typeface="Noto Sans Symbols"/>
            </a:endParaRPr>
          </a:p>
          <a:p>
            <a:pPr indent="0" lvl="0" marL="457200" marR="0" rtl="0" algn="l">
              <a:lnSpc>
                <a:spcPct val="90000"/>
              </a:lnSpc>
              <a:spcBef>
                <a:spcPts val="1000"/>
              </a:spcBef>
              <a:spcAft>
                <a:spcPts val="0"/>
              </a:spcAft>
              <a:buClr>
                <a:srgbClr val="000000"/>
              </a:buClr>
              <a:buSzPts val="2000"/>
              <a:buFont typeface="Arial"/>
              <a:buNone/>
            </a:pPr>
            <a:r>
              <a:t/>
            </a:r>
            <a:endParaRPr b="0" i="0" sz="2000" u="none" cap="none" strike="noStrike">
              <a:solidFill>
                <a:schemeClr val="dk1"/>
              </a:solidFill>
              <a:latin typeface="Noto Sans Symbols"/>
              <a:ea typeface="Noto Sans Symbols"/>
              <a:cs typeface="Noto Sans Symbols"/>
              <a:sym typeface="Noto Sans Symbols"/>
            </a:endParaRPr>
          </a:p>
          <a:p>
            <a:pPr indent="-355600" lvl="0" marL="457200" marR="0" rtl="0" algn="l">
              <a:lnSpc>
                <a:spcPct val="90000"/>
              </a:lnSpc>
              <a:spcBef>
                <a:spcPts val="1000"/>
              </a:spcBef>
              <a:spcAft>
                <a:spcPts val="0"/>
              </a:spcAft>
              <a:buClr>
                <a:schemeClr val="dk1"/>
              </a:buClr>
              <a:buSzPts val="2000"/>
              <a:buFont typeface="Noto Sans Symbols"/>
              <a:buChar char="❏"/>
            </a:pPr>
            <a:r>
              <a:rPr b="1" i="0" lang="en-US" sz="2000" u="none" cap="none" strike="noStrike">
                <a:solidFill>
                  <a:schemeClr val="dk1"/>
                </a:solidFill>
                <a:latin typeface="Noto Sans Symbols"/>
                <a:ea typeface="Noto Sans Symbols"/>
                <a:cs typeface="Noto Sans Symbols"/>
                <a:sym typeface="Noto Sans Symbols"/>
              </a:rPr>
              <a:t>Control:</a:t>
            </a:r>
            <a:r>
              <a:rPr b="0" i="0" lang="en-US" sz="2000" u="none" cap="none" strike="noStrike">
                <a:solidFill>
                  <a:schemeClr val="dk1"/>
                </a:solidFill>
                <a:latin typeface="Noto Sans Symbols"/>
                <a:ea typeface="Noto Sans Symbols"/>
                <a:cs typeface="Noto Sans Symbols"/>
                <a:sym typeface="Noto Sans Symbols"/>
              </a:rPr>
              <a:t> Update MPC bounds.</a:t>
            </a:r>
            <a:endParaRPr b="0" i="0" sz="2000" u="none" cap="none" strike="noStrike">
              <a:solidFill>
                <a:schemeClr val="dk1"/>
              </a:solidFill>
              <a:latin typeface="Noto Sans Symbols"/>
              <a:ea typeface="Noto Sans Symbols"/>
              <a:cs typeface="Noto Sans Symbols"/>
              <a:sym typeface="Noto Sans Symbols"/>
            </a:endParaRPr>
          </a:p>
        </p:txBody>
      </p:sp>
      <p:pic>
        <p:nvPicPr>
          <p:cNvPr descr="A screenshot of a computer&#10;&#10;AI-generated content may be incorrect." id="115" name="Google Shape;115;g3ba3cb23dd1_0_0"/>
          <p:cNvPicPr preferRelativeResize="0"/>
          <p:nvPr/>
        </p:nvPicPr>
        <p:blipFill rotWithShape="1">
          <a:blip r:embed="rId3">
            <a:alphaModFix/>
          </a:blip>
          <a:srcRect b="0" l="0" r="0" t="0"/>
          <a:stretch/>
        </p:blipFill>
        <p:spPr>
          <a:xfrm>
            <a:off x="838200" y="908707"/>
            <a:ext cx="5854995" cy="5949292"/>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g3d132202421_0_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21" name="Google Shape;121;g3d132202421_0_0"/>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Literature Review</a:t>
            </a:r>
            <a:endParaRPr b="0" i="0" sz="1400" u="none" cap="none" strike="noStrike">
              <a:solidFill>
                <a:srgbClr val="000000"/>
              </a:solidFill>
              <a:latin typeface="Arial"/>
              <a:ea typeface="Arial"/>
              <a:cs typeface="Arial"/>
              <a:sym typeface="Arial"/>
            </a:endParaRPr>
          </a:p>
        </p:txBody>
      </p:sp>
      <p:pic>
        <p:nvPicPr>
          <p:cNvPr id="122" name="Google Shape;122;g3d132202421_0_0"/>
          <p:cNvPicPr preferRelativeResize="0"/>
          <p:nvPr/>
        </p:nvPicPr>
        <p:blipFill rotWithShape="1">
          <a:blip r:embed="rId3">
            <a:alphaModFix/>
          </a:blip>
          <a:srcRect b="0" l="0" r="0" t="0"/>
          <a:stretch/>
        </p:blipFill>
        <p:spPr>
          <a:xfrm>
            <a:off x="565325" y="985825"/>
            <a:ext cx="11061342" cy="537052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7" name="Shape 127"/>
        <p:cNvGrpSpPr/>
        <p:nvPr/>
      </p:nvGrpSpPr>
      <p:grpSpPr>
        <a:xfrm>
          <a:off x="0" y="0"/>
          <a:ext cx="0" cy="0"/>
          <a:chOff x="0" y="0"/>
          <a:chExt cx="0" cy="0"/>
        </a:xfrm>
      </p:grpSpPr>
      <p:sp>
        <p:nvSpPr>
          <p:cNvPr id="128" name="Google Shape;128;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29" name="Google Shape;129;p26"/>
          <p:cNvSpPr txBox="1"/>
          <p:nvPr/>
        </p:nvSpPr>
        <p:spPr>
          <a:xfrm>
            <a:off x="131134" y="136525"/>
            <a:ext cx="11222666" cy="544512"/>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PROB: AV Safety Defaults Are Binary and Static</a:t>
            </a:r>
            <a:endParaRPr b="0" i="0" sz="1400" u="none" cap="none" strike="noStrike">
              <a:solidFill>
                <a:srgbClr val="000000"/>
              </a:solidFill>
              <a:latin typeface="Arial"/>
              <a:ea typeface="Arial"/>
              <a:cs typeface="Arial"/>
              <a:sym typeface="Arial"/>
            </a:endParaRPr>
          </a:p>
        </p:txBody>
      </p:sp>
      <p:sp>
        <p:nvSpPr>
          <p:cNvPr id="130" name="Google Shape;130;p26"/>
          <p:cNvSpPr txBox="1"/>
          <p:nvPr/>
        </p:nvSpPr>
        <p:spPr>
          <a:xfrm>
            <a:off x="567800" y="878325"/>
            <a:ext cx="11542500" cy="5103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Scenario: </a:t>
            </a:r>
            <a:r>
              <a:rPr b="0" i="0" lang="en-US" sz="1600" u="none" cap="none" strike="noStrike">
                <a:solidFill>
                  <a:schemeClr val="dk1"/>
                </a:solidFill>
                <a:latin typeface="Arial"/>
                <a:ea typeface="Arial"/>
                <a:cs typeface="Arial"/>
                <a:sym typeface="Arial"/>
              </a:rPr>
              <a:t>autonomous vehicle encounters an unexpected static obstacle at 30m, traveling at 7 m/s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Current behavior (Autoware default):</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 </a:t>
            </a:r>
            <a:r>
              <a:rPr b="0" i="0" lang="en-US" sz="1600" u="none" cap="none" strike="noStrike">
                <a:solidFill>
                  <a:schemeClr val="dk1"/>
                </a:solidFill>
                <a:latin typeface="Arial"/>
                <a:ea typeface="Arial"/>
                <a:cs typeface="Arial"/>
                <a:sym typeface="Arial"/>
              </a:rPr>
              <a:t>Minimum Risk Condition (MRC): decelerate to a complete stop in-lane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Conservative, always "safe" in the collision-avoidance sense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But MRC creates secondary risks:</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 </a:t>
            </a:r>
            <a:r>
              <a:rPr b="0" i="0" lang="en-US" sz="1600" u="none" cap="none" strike="noStrike">
                <a:solidFill>
                  <a:schemeClr val="dk1"/>
                </a:solidFill>
                <a:latin typeface="Arial"/>
                <a:ea typeface="Arial"/>
                <a:cs typeface="Arial"/>
                <a:sym typeface="Arial"/>
              </a:rPr>
              <a:t>Stopped vehicle in active traffic lane → rear-end collision hazard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Traffic blockage, mission failure, emergency vehicle obstruction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In urban environments, MRC may be the MORE dangerous outcome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The right action depends on context:</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a:t>
            </a:r>
            <a:r>
              <a:rPr b="0" i="0" lang="en-US" sz="1600" u="none" cap="none" strike="noStrike">
                <a:solidFill>
                  <a:schemeClr val="dk1"/>
                </a:solidFill>
                <a:latin typeface="Arial"/>
                <a:ea typeface="Arial"/>
                <a:cs typeface="Arial"/>
                <a:sym typeface="Arial"/>
              </a:rPr>
              <a:t>→ Adjacent lane available + enough lead time → avoidance is safer</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No adjacent lane OR obstacle too close → MRC is correct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Current systems cannot distinguish these cases at runtime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The gap: avoidance policy is a fixed parameter (manual vs. auto), not a runtime decision</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 </a:t>
            </a:r>
            <a:r>
              <a:rPr b="0" i="0" lang="en-US" sz="1600" u="none" cap="none" strike="noStrike">
                <a:solidFill>
                  <a:schemeClr val="dk1"/>
                </a:solidFill>
                <a:latin typeface="Arial"/>
                <a:ea typeface="Arial"/>
                <a:cs typeface="Arial"/>
                <a:sym typeface="Arial"/>
              </a:rPr>
              <a:t>No system assesses whether the specific situation makes avoidance warranted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p:txBody>
      </p:sp>
      <p:pic>
        <p:nvPicPr>
          <p:cNvPr id="131" name="Google Shape;131;p26"/>
          <p:cNvPicPr preferRelativeResize="0"/>
          <p:nvPr/>
        </p:nvPicPr>
        <p:blipFill rotWithShape="1">
          <a:blip r:embed="rId3">
            <a:alphaModFix/>
          </a:blip>
          <a:srcRect b="0" l="0" r="0" t="0"/>
          <a:stretch/>
        </p:blipFill>
        <p:spPr>
          <a:xfrm>
            <a:off x="8361562" y="1956625"/>
            <a:ext cx="3241275" cy="1962250"/>
          </a:xfrm>
          <a:prstGeom prst="rect">
            <a:avLst/>
          </a:prstGeom>
          <a:noFill/>
          <a:ln>
            <a:noFill/>
          </a:ln>
        </p:spPr>
      </p:pic>
      <p:sp>
        <p:nvSpPr>
          <p:cNvPr id="132" name="Google Shape;132;p26"/>
          <p:cNvSpPr txBox="1"/>
          <p:nvPr/>
        </p:nvSpPr>
        <p:spPr>
          <a:xfrm>
            <a:off x="8361588" y="3918875"/>
            <a:ext cx="3241200" cy="1596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chemeClr val="dk1"/>
                </a:solidFill>
                <a:latin typeface="Arial"/>
                <a:ea typeface="Arial"/>
                <a:cs typeface="Arial"/>
                <a:sym typeface="Arial"/>
              </a:rPr>
              <a:t>Source: BBC, https://www.bbc.com/news/videos/czx20g00ly1o</a:t>
            </a:r>
            <a:endParaRPr b="0" i="0" sz="7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7" name="Shape 137"/>
        <p:cNvGrpSpPr/>
        <p:nvPr/>
      </p:nvGrpSpPr>
      <p:grpSpPr>
        <a:xfrm>
          <a:off x="0" y="0"/>
          <a:ext cx="0" cy="0"/>
          <a:chOff x="0" y="0"/>
          <a:chExt cx="0" cy="0"/>
        </a:xfrm>
      </p:grpSpPr>
      <p:sp>
        <p:nvSpPr>
          <p:cNvPr id="138" name="Google Shape;138;g3ef5baf9285_0_1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39" name="Google Shape;139;g3ef5baf9285_0_13"/>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LIT. GAP: The Avoidance Decision Has No Owner</a:t>
            </a:r>
            <a:endParaRPr b="0" i="0" sz="1400" u="none" cap="none" strike="noStrike">
              <a:solidFill>
                <a:srgbClr val="000000"/>
              </a:solidFill>
              <a:latin typeface="Arial"/>
              <a:ea typeface="Arial"/>
              <a:cs typeface="Arial"/>
              <a:sym typeface="Arial"/>
            </a:endParaRPr>
          </a:p>
        </p:txBody>
      </p:sp>
      <p:sp>
        <p:nvSpPr>
          <p:cNvPr id="140" name="Google Shape;140;g3ef5baf9285_0_13"/>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1. Avoidance PLANNING (well-studied):</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a:t>
            </a:r>
            <a:r>
              <a:rPr b="0" i="0" lang="en-US" sz="1600" u="none" cap="none" strike="noStrike">
                <a:solidFill>
                  <a:schemeClr val="dk1"/>
                </a:solidFill>
                <a:latin typeface="Arial"/>
                <a:ea typeface="Arial"/>
                <a:cs typeface="Arial"/>
                <a:sym typeface="Arial"/>
              </a:rPr>
              <a:t>→ MPC, CBF, polynomial trajectory optimization, reachability analysis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Assumption: the decision to avoid is already made upstream</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Representative work: Ziegler et al. (2014), Brito et al. (2019), Pek &amp; Althoff (2020)</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2. Risk ASSESSMENT (well-studied):</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Time-to-Collision (TTC), Post-Encroachment Time (PET), probabilistic risk bounds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Quantifies risk of current state but prescribes no action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Representative work: Jansson (2005), Lefèvre et al. (2014), our prior T-ITS 2025</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3. Emergency Braking / AEB (well-studied):</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Purely kinematic threshold logic: TTC &lt; τ → brake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No lane availability check, no learned model, no distinction between obstacle types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ISO 22737, Euro NCAP AEB protocols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The gap — Avoidance DECISION-MAKING (unstudied):</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No framework asks: "Given this specific situation, is avoidance the correct response?"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Systems default to MRC (stop) or avoidance (go) based on a static configuration parameter</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The decision is made by the system integrator at deployment time, not by the vehicle at runtime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Our problem statement fills this gap:</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Real-time binary classification: {avoidance warranted, MRC mandatory}</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Validated across conditions where the correct answer differs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5" name="Shape 145"/>
        <p:cNvGrpSpPr/>
        <p:nvPr/>
      </p:nvGrpSpPr>
      <p:grpSpPr>
        <a:xfrm>
          <a:off x="0" y="0"/>
          <a:ext cx="0" cy="0"/>
          <a:chOff x="0" y="0"/>
          <a:chExt cx="0" cy="0"/>
        </a:xfrm>
      </p:grpSpPr>
      <p:sp>
        <p:nvSpPr>
          <p:cNvPr id="146" name="Google Shape;146;g3ef5baf9285_0_27"/>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47" name="Google Shape;147;g3ef5baf9285_0_27"/>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PROBLEM STATEMENT &amp; CONTRIBUTION</a:t>
            </a:r>
            <a:endParaRPr b="0" i="0" sz="1400" u="none" cap="none" strike="noStrike">
              <a:solidFill>
                <a:srgbClr val="000000"/>
              </a:solidFill>
              <a:latin typeface="Arial"/>
              <a:ea typeface="Arial"/>
              <a:cs typeface="Arial"/>
              <a:sym typeface="Arial"/>
            </a:endParaRPr>
          </a:p>
        </p:txBody>
      </p:sp>
      <p:sp>
        <p:nvSpPr>
          <p:cNvPr id="148" name="Google Shape;148;g3ef5baf9285_0_27"/>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Formal problem:</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Given: </a:t>
            </a:r>
            <a:r>
              <a:rPr b="0" i="0" lang="en-US" sz="1600" u="none" cap="none" strike="noStrike">
                <a:solidFill>
                  <a:schemeClr val="dk1"/>
                </a:solidFill>
                <a:latin typeface="Arial"/>
                <a:ea typeface="Arial"/>
                <a:cs typeface="Arial"/>
                <a:sym typeface="Arial"/>
              </a:rPr>
              <a:t>Ego vehicle at speed v encountering an unexpected static obstacle at distance 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Classify in real-time: </a:t>
            </a:r>
            <a:r>
              <a:rPr b="0" i="0" lang="en-US" sz="1600" u="none" cap="none" strike="noStrike">
                <a:solidFill>
                  <a:schemeClr val="dk1"/>
                </a:solidFill>
                <a:latin typeface="Arial"/>
                <a:ea typeface="Arial"/>
                <a:cs typeface="Arial"/>
                <a:sym typeface="Arial"/>
              </a:rPr>
              <a:t>{avoidance warranted, MRC mandatory}</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With: </a:t>
            </a:r>
            <a:r>
              <a:rPr b="0" i="0" lang="en-US" sz="1600" u="none" cap="none" strike="noStrike">
                <a:solidFill>
                  <a:schemeClr val="dk1"/>
                </a:solidFill>
                <a:latin typeface="Arial"/>
                <a:ea typeface="Arial"/>
                <a:cs typeface="Arial"/>
                <a:sym typeface="Arial"/>
              </a:rPr>
              <a:t>formal coverage guarantee on the classification error rate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Scope (this work):</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Single unexpected static obstacle, obstacle detected by onboard perception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Single adjacent lane considered for avoidance (first-order case)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No NPC vehicles in adjacent lane (controlled simulation)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Static environment (no dynamic obstacles other than the primary one)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Hypothesis: </a:t>
            </a:r>
            <a:r>
              <a:rPr b="0" i="0" lang="en-US" sz="1600" u="none" cap="none" strike="noStrike">
                <a:solidFill>
                  <a:schemeClr val="dk1"/>
                </a:solidFill>
                <a:latin typeface="Arial"/>
                <a:ea typeface="Arial"/>
                <a:cs typeface="Arial"/>
                <a:sym typeface="Arial"/>
              </a:rPr>
              <a:t>A composite signal combining three independently necessary components correctly classifies avoidance feasibility across all failure modes: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(1) Topological feasibility:   ∃ adjacent driveable lanelet in HD map</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(2) Temporal feasibility:      TTC = d / v_approach &gt; τ_min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(3) Behavioral confirmation:   CVaR_α(residual) &gt; θ  (digital twin detects non-nominal event)</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Each component is necessary for a distinct failure mode; no two-signal subset achieves equivalent classification accuracy (ablation study).</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Contribution: </a:t>
            </a:r>
            <a:r>
              <a:rPr b="0" i="0" lang="en-US" sz="1600" u="none" cap="none" strike="noStrike">
                <a:solidFill>
                  <a:schemeClr val="dk1"/>
                </a:solidFill>
                <a:latin typeface="Arial"/>
                <a:ea typeface="Arial"/>
                <a:cs typeface="Arial"/>
                <a:sym typeface="Arial"/>
              </a:rPr>
              <a:t>First empirically validated, real-time feasibility classifier for the avoidance-vs-MRC decision using a composite signal with conformal prediction coverage guarantee on the behavioral component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g3f79321b2c1_0_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55" name="Google Shape;155;g3f79321b2c1_0_0"/>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Three-layer architecture</a:t>
            </a:r>
            <a:endParaRPr b="0" i="0" sz="1400" u="none" cap="none" strike="noStrike">
              <a:solidFill>
                <a:srgbClr val="000000"/>
              </a:solidFill>
              <a:latin typeface="Arial"/>
              <a:ea typeface="Arial"/>
              <a:cs typeface="Arial"/>
              <a:sym typeface="Arial"/>
            </a:endParaRPr>
          </a:p>
        </p:txBody>
      </p:sp>
      <p:sp>
        <p:nvSpPr>
          <p:cNvPr id="156" name="Google Shape;156;g3f79321b2c1_0_0"/>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t/>
            </a:r>
            <a:endParaRPr b="1"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900" u="none" cap="none" strike="noStrike">
                <a:solidFill>
                  <a:schemeClr val="dk1"/>
                </a:solidFill>
                <a:latin typeface="Arial"/>
                <a:ea typeface="Arial"/>
                <a:cs typeface="Arial"/>
                <a:sym typeface="Arial"/>
              </a:rPr>
              <a:t>Two bodies of work exist today and don't talk to each other:</a:t>
            </a:r>
            <a:endParaRPr b="1"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Arial"/>
              <a:buAutoNum type="arabicPeriod"/>
            </a:pPr>
            <a:r>
              <a:rPr b="1" i="0" lang="en-US" sz="1600" u="none" cap="none" strike="noStrike">
                <a:solidFill>
                  <a:schemeClr val="dk1"/>
                </a:solidFill>
                <a:latin typeface="Arial"/>
                <a:ea typeface="Arial"/>
                <a:cs typeface="Arial"/>
                <a:sym typeface="Arial"/>
              </a:rPr>
              <a:t>UQ / anomaly detection: </a:t>
            </a:r>
            <a:r>
              <a:rPr b="0" i="0" lang="en-US" sz="1600" u="none" cap="none" strike="noStrike">
                <a:solidFill>
                  <a:schemeClr val="dk1"/>
                </a:solidFill>
                <a:latin typeface="Arial"/>
                <a:ea typeface="Arial"/>
                <a:cs typeface="Arial"/>
                <a:sym typeface="Arial"/>
              </a:rPr>
              <a:t>raises a flag, treats uncertainty as an alarm to threshold, not a quantity to reason further about</a:t>
            </a:r>
            <a:endParaRPr b="0" i="0" sz="1600" u="none" cap="none" strike="noStrike">
              <a:solidFill>
                <a:schemeClr val="dk1"/>
              </a:solidFill>
              <a:latin typeface="Arial"/>
              <a:ea typeface="Arial"/>
              <a:cs typeface="Arial"/>
              <a:sym typeface="Arial"/>
            </a:endParaRPr>
          </a:p>
          <a:p>
            <a:pPr indent="0" lvl="0" marL="45720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Arial"/>
              <a:buAutoNum type="arabicPeriod"/>
            </a:pPr>
            <a:r>
              <a:rPr b="1" i="0" lang="en-US" sz="1600" u="none" cap="none" strike="noStrike">
                <a:solidFill>
                  <a:schemeClr val="dk1"/>
                </a:solidFill>
                <a:latin typeface="Arial"/>
                <a:ea typeface="Arial"/>
                <a:cs typeface="Arial"/>
                <a:sym typeface="Arial"/>
              </a:rPr>
              <a:t>Risk-aware planning: </a:t>
            </a:r>
            <a:r>
              <a:rPr b="0" i="0" lang="en-US" sz="1600" u="none" cap="none" strike="noStrike">
                <a:solidFill>
                  <a:schemeClr val="dk1"/>
                </a:solidFill>
                <a:latin typeface="Arial"/>
                <a:ea typeface="Arial"/>
                <a:cs typeface="Arial"/>
                <a:sym typeface="Arial"/>
              </a:rPr>
              <a:t>computes collision risk and plans against it, but ASSUMES its own prediction models are correct</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A digital twin's own predictive uncertainty, once properly calibrated and validated against real faults, is the substrate for translating  "how off-nominal is this vehicle behaving" into "what physical consequence does that imply", without needing a catalog of known fault types to work.</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p:txBody>
      </p:sp>
      <p:sp>
        <p:nvSpPr>
          <p:cNvPr id="157" name="Google Shape;157;g3f79321b2c1_0_0"/>
          <p:cNvSpPr/>
          <p:nvPr/>
        </p:nvSpPr>
        <p:spPr>
          <a:xfrm>
            <a:off x="1026700" y="3608425"/>
            <a:ext cx="3010500" cy="2748000"/>
          </a:xfrm>
          <a:prstGeom prst="rect">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Layer 1:</a:t>
            </a:r>
            <a:r>
              <a:rPr b="1" lang="en-US"/>
              <a:t> Detect</a:t>
            </a:r>
            <a:endParaRPr b="1"/>
          </a:p>
          <a:p>
            <a:pPr indent="0" lvl="0" marL="0" marR="0" rtl="0" algn="ctr">
              <a:lnSpc>
                <a:spcPct val="100000"/>
              </a:lnSpc>
              <a:spcBef>
                <a:spcPts val="0"/>
              </a:spcBef>
              <a:spcAft>
                <a:spcPts val="0"/>
              </a:spcAft>
              <a:buClr>
                <a:srgbClr val="000000"/>
              </a:buClr>
              <a:buSzPts val="1400"/>
              <a:buFont typeface="Arial"/>
              <a:buNone/>
            </a:pPr>
            <a:r>
              <a:t/>
            </a:r>
            <a:endParaRPr b="1"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1"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rPr lang="en-US"/>
              <a:t>Calibrated anomaly signal (WHEN) + consistency heads (HOW MUCH, WHICH WAY). No fault data needed to build.</a:t>
            </a:r>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STATUS: DONE (ego_v6)</a:t>
            </a:r>
            <a:endParaRPr b="0" i="0" sz="1400" u="none" cap="none" strike="noStrike">
              <a:solidFill>
                <a:srgbClr val="000000"/>
              </a:solidFill>
              <a:latin typeface="Arial"/>
              <a:ea typeface="Arial"/>
              <a:cs typeface="Arial"/>
              <a:sym typeface="Arial"/>
            </a:endParaRPr>
          </a:p>
        </p:txBody>
      </p:sp>
      <p:sp>
        <p:nvSpPr>
          <p:cNvPr id="158" name="Google Shape;158;g3f79321b2c1_0_0"/>
          <p:cNvSpPr/>
          <p:nvPr/>
        </p:nvSpPr>
        <p:spPr>
          <a:xfrm>
            <a:off x="4593150" y="3608425"/>
            <a:ext cx="3010500" cy="2748000"/>
          </a:xfrm>
          <a:prstGeom prst="rect">
            <a:avLst/>
          </a:prstGeom>
          <a:solidFill>
            <a:srgbClr val="00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Layer 2: Consequence</a:t>
            </a:r>
            <a:endParaRPr b="1"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1"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1"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rPr lang="en-US"/>
              <a:t>Futures of the forecast, moved by the estimated pose error, checked against the road and objects: P(violation).</a:t>
            </a: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STATUS: BUILT, OFFLINE</a:t>
            </a:r>
            <a:endParaRPr b="0" i="0" sz="1400" u="none" cap="none" strike="noStrike">
              <a:solidFill>
                <a:srgbClr val="000000"/>
              </a:solidFill>
              <a:latin typeface="Arial"/>
              <a:ea typeface="Arial"/>
              <a:cs typeface="Arial"/>
              <a:sym typeface="Arial"/>
            </a:endParaRPr>
          </a:p>
        </p:txBody>
      </p:sp>
      <p:sp>
        <p:nvSpPr>
          <p:cNvPr id="159" name="Google Shape;159;g3f79321b2c1_0_0"/>
          <p:cNvSpPr/>
          <p:nvPr/>
        </p:nvSpPr>
        <p:spPr>
          <a:xfrm>
            <a:off x="8159600" y="3608425"/>
            <a:ext cx="3010500" cy="2748000"/>
          </a:xfrm>
          <a:prstGeom prst="rect">
            <a:avLst/>
          </a:prstGeom>
          <a:solidFill>
            <a:srgbClr val="CC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Layer 3: </a:t>
            </a:r>
            <a:r>
              <a:rPr b="1" lang="en-US"/>
              <a:t>Response</a:t>
            </a:r>
            <a:endParaRPr b="1"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1"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1"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rPr lang="en-US"/>
              <a:t>Correct the pose with the same estimate; slow down or stop only if it cannot be corrected.</a:t>
            </a:r>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STATUS: CORRECTION TESTED OPEN-LOOP</a:t>
            </a:r>
            <a:endParaRPr b="0" i="0" sz="1400" u="none" cap="none" strike="noStrike">
              <a:solidFill>
                <a:srgbClr val="000000"/>
              </a:solidFill>
              <a:latin typeface="Arial"/>
              <a:ea typeface="Arial"/>
              <a:cs typeface="Arial"/>
              <a:sym typeface="Arial"/>
            </a:endParaRPr>
          </a:p>
        </p:txBody>
      </p:sp>
      <p:sp>
        <p:nvSpPr>
          <p:cNvPr id="160" name="Google Shape;160;g3f79321b2c1_0_0"/>
          <p:cNvSpPr/>
          <p:nvPr/>
        </p:nvSpPr>
        <p:spPr>
          <a:xfrm>
            <a:off x="4090925" y="4897675"/>
            <a:ext cx="448500" cy="1695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g3f79321b2c1_0_0"/>
          <p:cNvSpPr/>
          <p:nvPr/>
        </p:nvSpPr>
        <p:spPr>
          <a:xfrm>
            <a:off x="7657375" y="4897675"/>
            <a:ext cx="448500" cy="1695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Google Shape;168;g3f79321b2c1_0_16"/>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THE DIGITAL TWIN: ST-GAT ARCHITECTURE </a:t>
            </a:r>
            <a:endParaRPr b="0" i="0" sz="1400" u="none" cap="none" strike="noStrike">
              <a:solidFill>
                <a:srgbClr val="000000"/>
              </a:solidFill>
              <a:latin typeface="Arial"/>
              <a:ea typeface="Arial"/>
              <a:cs typeface="Arial"/>
              <a:sym typeface="Arial"/>
            </a:endParaRPr>
          </a:p>
        </p:txBody>
      </p:sp>
      <p:sp>
        <p:nvSpPr>
          <p:cNvPr id="169" name="Google Shape;169;g3f79321b2c1_0_16"/>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sz="1900" b="1">
                <a:solidFill>
                  <a:srgbClr val="1B1B1B"/>
                </a:solidFill>
                <a:latin typeface="Arial"/>
              </a:rPr>
              <a:t>Encoder: </a:t>
            </a:r>
            <a:r>
              <a:rPr sz="1900" b="0">
                <a:solidFill>
                  <a:srgbClr val="1B1B1B"/>
                </a:solidFill>
                <a:latin typeface="Arial"/>
              </a:rPr>
              <a:t>GCN graph encoder (HD-map lanelets) fused with a Transformer temporal encoder + LSTM over a 3-second (30-step, 10 Hz) window.</a:t>
            </a:r>
            <a:endParaRPr b="0" i="0" sz="1900" u="none" cap="none" strike="noStrike">
              <a:solidFill>
                <a:schemeClr val="dk1"/>
              </a:solidFill>
              <a:latin typeface="Arial"/>
              <a:ea typeface="Arial"/>
              <a:cs typeface="Arial"/>
              <a:sym typeface="Arial"/>
            </a:endParaRPr>
          </a:p>
          <a:p>
            <a:r>
              <a:rPr sz="1900" b="0">
                <a:solidFill>
                  <a:srgbClr val="1B1B1B"/>
                </a:solidFill>
                <a:latin typeface="Arial"/>
              </a:rPr>
              <a:t/>
            </a:r>
          </a:p>
          <a:p>
            <a:r>
              <a:rPr sz="1900" b="1">
                <a:solidFill>
                  <a:srgbClr val="1B1B1B"/>
                </a:solidFill>
                <a:latin typeface="Arial"/>
              </a:rPr>
              <a:t>Inputs (ego_v6): </a:t>
            </a:r>
            <a:r>
              <a:rPr sz="1900" b="0">
                <a:solidFill>
                  <a:srgbClr val="1B1B1B"/>
                </a:solidFill>
                <a:latin typeface="Arial"/>
              </a:rPr>
              <a:t>ego motion, the stack's own uncertainty and localization health, 5 consistency gaps, traffic light, objects, map graph, route ahead. Full table with sources on the next slide.</a:t>
            </a:r>
          </a:p>
          <a:p>
            <a:r>
              <a:rPr sz="1900" b="0">
                <a:solidFill>
                  <a:srgbClr val="1B1B1B"/>
                </a:solidFill>
                <a:latin typeface="Arial"/>
              </a:rPr>
              <a:t/>
            </a:r>
          </a:p>
          <a:p>
            <a:r>
              <a:rPr sz="1900" b="1">
                <a:solidFill>
                  <a:srgbClr val="1B1B1B"/>
                </a:solidFill>
                <a:latin typeface="Arial"/>
              </a:rPr>
              <a:t>Outputs: </a:t>
            </a:r>
            <a:r>
              <a:rPr sz="1900" b="0">
                <a:solidFill>
                  <a:srgbClr val="1B1B1B"/>
                </a:solidFill>
                <a:latin typeface="Arial"/>
              </a:rPr>
              <a:t>3 s forecast of</a:t>
            </a:r>
          </a:p>
          <a:p>
            <a:r>
              <a:rPr sz="1900" b="0">
                <a:solidFill>
                  <a:srgbClr val="1B1B1B"/>
                </a:solidFill>
                <a:latin typeface="Arial"/>
              </a:rPr>
              <a:t>  → behaviour: position, velocity, steering, acceleration, traffic-light channels (WHEN something is off)</a:t>
            </a:r>
          </a:p>
          <a:p>
            <a:r>
              <a:rPr sz="1900" b="0">
                <a:solidFill>
                  <a:srgbClr val="1B1B1B"/>
                </a:solidFill>
                <a:latin typeface="Arial"/>
              </a:rPr>
              <a:t>  → consistency: the 5 gaps (HOW MUCH and WHICH WAY the state is off)</a:t>
            </a:r>
          </a:p>
          <a:p>
            <a:r>
              <a:rPr sz="1900" b="0">
                <a:solidFill>
                  <a:srgbClr val="1B1B1B"/>
                </a:solidFill>
                <a:latin typeface="Arial"/>
              </a:rPr>
              <a:t/>
            </a:r>
          </a:p>
          <a:p>
            <a:r>
              <a:rPr sz="1900" b="1">
                <a:solidFill>
                  <a:srgbClr val="1B1B1B"/>
                </a:solidFill>
                <a:latin typeface="Arial"/>
              </a:rPr>
              <a:t>Uncertainty: </a:t>
            </a:r>
            <a:r>
              <a:rPr sz="1900" b="0">
                <a:solidFill>
                  <a:srgbClr val="1B1B1B"/>
                </a:solidFill>
                <a:latin typeface="Arial"/>
              </a:rPr>
              <a:t>plain point predictor, wrapped in post-hoc conformal calibration (leave-one-trial-out, per horizon step).</a:t>
            </a:r>
          </a:p>
          <a:p>
            <a:r>
              <a:rPr sz="1900" b="0">
                <a:solidFill>
                  <a:srgbClr val="1B1B1B"/>
                </a:solidFill>
                <a:latin typeface="Arial"/>
              </a:rPr>
              <a:t/>
            </a:r>
          </a:p>
          <a:p>
            <a:r>
              <a:rPr sz="1900" b="1">
                <a:solidFill>
                  <a:srgbClr val="1B1B1B"/>
                </a:solidFill>
                <a:latin typeface="Arial"/>
              </a:rPr>
              <a:t>Trained on nominal driving only. </a:t>
            </a:r>
            <a:r>
              <a:rPr sz="1900" b="0">
                <a:solidFill>
                  <a:srgbClr val="1B1B1B"/>
                </a:solidFill>
                <a:latin typeface="Arial"/>
              </a:rPr>
              <a:t>No fault data is used to build it.</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g3ef5baf9285_0_5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76" name="Google Shape;176;g3ef5baf9285_0_56"/>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EXPERIMENTAL PLATFORM</a:t>
            </a:r>
            <a:endParaRPr b="0" i="0" sz="4000" u="none" cap="none" strike="noStrike">
              <a:solidFill>
                <a:srgbClr val="7030A0"/>
              </a:solidFill>
              <a:latin typeface="Play"/>
              <a:ea typeface="Play"/>
              <a:cs typeface="Play"/>
              <a:sym typeface="Play"/>
            </a:endParaRPr>
          </a:p>
        </p:txBody>
      </p:sp>
      <p:sp>
        <p:nvSpPr>
          <p:cNvPr id="177" name="Google Shape;177;g3ef5baf9285_0_56"/>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Simulation stack:</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a:t>
            </a:r>
            <a:r>
              <a:rPr b="0" i="0" lang="en-US" sz="1600" u="none" cap="none" strike="noStrike">
                <a:solidFill>
                  <a:schemeClr val="dk1"/>
                </a:solidFill>
                <a:latin typeface="Arial"/>
                <a:ea typeface="Arial"/>
                <a:cs typeface="Arial"/>
                <a:sym typeface="Arial"/>
              </a:rPr>
              <a:t>→ Simulator:  AWSIM Labs v1.6.1 (Unity-based, ROS2 native, physics-accurate sensors)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AV stack:   Autoware Universe (production-grade; same stack used in real-vehicle deployments)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Interface:  ROS2 Humble; all data logged via rosbag2 at 10 Hz</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Map:        Shinjuku HD map (Lanelet2 OSM format, urban multi-lane environment)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Obstacle:</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Type: Static parked vehicle (CAR object, 4.5m × 1.8m)</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Baseline placement: 30m ahead of ego at 150m route distance from spawn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Placed in LL 238 (confirmed two-lane: LL 238 with adjacent LL 237)</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Route profiles used:</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a:t>
            </a:r>
            <a:r>
              <a:rPr b="0" i="0" lang="en-US" sz="1600" u="none" cap="none" strike="noStrike">
                <a:solidFill>
                  <a:schemeClr val="dk1"/>
                </a:solidFill>
                <a:latin typeface="Arial"/>
                <a:ea typeface="Arial"/>
                <a:cs typeface="Arial"/>
                <a:sym typeface="Arial"/>
              </a:rPr>
              <a:t>→ Goal 007: 710m route, northward corridor through Shinjuku</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Goal 011: 633m route, same corridor, different terminal</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Goal 021: 697m route, extended northern approach</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Per-run output:</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rosbag (all ROS2 topics at full rate)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result.json (status, driving_time, MRM events)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residuals CSV (one row per 1-step window: NLL, obj_dist, has_adjacent_lane, CUSUM)</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f5baf9285_0_6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84" name="Google Shape;184;g3ef5baf9285_0_64"/>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DATA COLLECTED SO FAR</a:t>
            </a:r>
            <a:endParaRPr b="0" i="0" sz="4000" u="none" cap="none" strike="noStrike">
              <a:solidFill>
                <a:srgbClr val="7030A0"/>
              </a:solidFill>
              <a:latin typeface="Play"/>
              <a:ea typeface="Play"/>
              <a:cs typeface="Play"/>
              <a:sym typeface="Play"/>
            </a:endParaRPr>
          </a:p>
        </p:txBody>
      </p:sp>
      <p:sp>
        <p:nvSpPr>
          <p:cNvPr id="185" name="Google Shape;185;g3ef5baf9285_0_64"/>
          <p:cNvSpPr txBox="1"/>
          <p:nvPr/>
        </p:nvSpPr>
        <p:spPr>
          <a:xfrm>
            <a:off x="567850" y="946825"/>
            <a:ext cx="11542500" cy="5774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Nominal baseline: </a:t>
            </a:r>
            <a:r>
              <a:rPr b="0" i="0" lang="en-US" sz="1600" u="none" cap="none" strike="noStrike">
                <a:solidFill>
                  <a:schemeClr val="dk1"/>
                </a:solidFill>
                <a:latin typeface="Arial"/>
                <a:ea typeface="Arial"/>
                <a:cs typeface="Arial"/>
                <a:sym typeface="Arial"/>
              </a:rPr>
              <a:t>26 goals across the Nishishinjuku map, ~2 trials each, the reference distribution everything else is compared against.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Fault campaigns:</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p:txBody>
      </p:sp>
      <p:pic>
        <p:nvPicPr>
          <p:cNvPr id="186" name="Google Shape;186;g3ef5baf9285_0_64" title="route_map_example_goal012.png"/>
          <p:cNvPicPr preferRelativeResize="0"/>
          <p:nvPr/>
        </p:nvPicPr>
        <p:blipFill rotWithShape="1">
          <a:blip r:embed="rId3">
            <a:alphaModFix/>
          </a:blip>
          <a:srcRect b="0" l="0" r="0" t="0"/>
          <a:stretch/>
        </p:blipFill>
        <p:spPr>
          <a:xfrm>
            <a:off x="7497100" y="1334850"/>
            <a:ext cx="3377699" cy="5386601"/>
          </a:xfrm>
          <a:prstGeom prst="rect">
            <a:avLst/>
          </a:prstGeom>
          <a:noFill/>
          <a:ln>
            <a:noFill/>
          </a:ln>
        </p:spPr>
      </p:pic>
      <p:graphicFrame>
        <p:nvGraphicFramePr>
          <p:cNvPr id="187" name="Google Shape;187;g3ef5baf9285_0_64"/>
          <p:cNvGraphicFramePr/>
          <p:nvPr/>
        </p:nvGraphicFramePr>
        <p:xfrm>
          <a:off x="760550" y="2195000"/>
          <a:ext cx="3000000" cy="3000000"/>
        </p:xfrm>
        <a:graphic>
          <a:graphicData uri="http://schemas.openxmlformats.org/drawingml/2006/table">
            <a:tbl>
              <a:tblPr>
                <a:noFill/>
                <a:tableStyleId>{9C844C29-A8E8-4D91-807B-E1607A600EBB}</a:tableStyleId>
              </a:tblPr>
              <a:tblGrid>
                <a:gridCol w="3224300"/>
                <a:gridCol w="3224300"/>
              </a:tblGrid>
              <a:tr h="381000">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t>IMU Faults</a:t>
                      </a:r>
                      <a:endParaRPr b="1"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t>Traffic-light (Camera) faults</a:t>
                      </a:r>
                      <a:endParaRPr b="1"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chemeClr val="dk1"/>
                        </a:buClr>
                        <a:buSzPts val="1600"/>
                        <a:buFont typeface="Arial"/>
                        <a:buNone/>
                      </a:pPr>
                      <a:r>
                        <a:rPr lang="en-US" sz="1600" u="none" cap="none" strike="noStrike">
                          <a:solidFill>
                            <a:schemeClr val="dk1"/>
                          </a:solidFill>
                        </a:rPr>
                        <a:t>imu_fault_s1  — mild bias(deliberate negative control,designed to be harmless)</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chemeClr val="dk1"/>
                        </a:buClr>
                        <a:buSzPts val="1600"/>
                        <a:buFont typeface="Arial"/>
                        <a:buNone/>
                      </a:pPr>
                      <a:r>
                        <a:rPr lang="en-US" sz="1600" u="none" cap="none" strike="noStrike">
                          <a:solidFill>
                            <a:schemeClr val="dk1"/>
                          </a:solidFill>
                        </a:rPr>
                        <a:t>tl_fault_s2 — oscillating color</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chemeClr val="dk1"/>
                        </a:buClr>
                        <a:buSzPts val="1600"/>
                        <a:buFont typeface="Arial"/>
                        <a:buNone/>
                      </a:pPr>
                      <a:r>
                        <a:rPr lang="en-US" sz="1600" u="none" cap="none" strike="noStrike">
                          <a:solidFill>
                            <a:schemeClr val="dk1"/>
                          </a:solidFill>
                        </a:rPr>
                        <a:t>imu_fault_s3  — stronger bias </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chemeClr val="dk1"/>
                        </a:buClr>
                        <a:buSzPts val="1600"/>
                        <a:buFont typeface="Arial"/>
                        <a:buNone/>
                      </a:pPr>
                      <a:r>
                        <a:rPr lang="en-US" sz="1600" u="none" cap="none" strike="noStrike">
                          <a:solidFill>
                            <a:schemeClr val="dk1"/>
                          </a:solidFill>
                        </a:rPr>
                        <a:t>tl_fault_s3 — UNKNOWN classification (negative-evidence case)</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chemeClr val="dk1"/>
                        </a:buClr>
                        <a:buSzPts val="1600"/>
                        <a:buFont typeface="Arial"/>
                        <a:buNone/>
                      </a:pPr>
                      <a:r>
                        <a:rPr lang="en-US" sz="1600" u="none" cap="none" strike="noStrike">
                          <a:solidFill>
                            <a:schemeClr val="dk1"/>
                          </a:solidFill>
                        </a:rPr>
                        <a:t>imu_fault_scale — gyro scale error</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chemeClr val="dk1"/>
                        </a:buClr>
                        <a:buSzPts val="1600"/>
                        <a:buFont typeface="Arial"/>
                        <a:buNone/>
                      </a:pPr>
                      <a:r>
                        <a:rPr lang="en-US" sz="1600" u="none" cap="none" strike="noStrike">
                          <a:solidFill>
                            <a:schemeClr val="dk1"/>
                          </a:solidFill>
                        </a:rPr>
                        <a:t>tl_fault_s4 — signal blackout (negative-evidence case)</a:t>
                      </a:r>
                      <a:endParaRPr sz="16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chemeClr val="dk1"/>
                        </a:buClr>
                        <a:buSzPts val="1600"/>
                        <a:buFont typeface="Arial"/>
                        <a:buNone/>
                      </a:pPr>
                      <a:r>
                        <a:rPr lang="en-US" sz="1600" u="none" cap="none" strike="noStrike">
                          <a:solidFill>
                            <a:schemeClr val="dk1"/>
                          </a:solidFill>
                        </a:rPr>
                        <a:t> imu_fault_stuck — gyro frozen </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chemeClr val="dk1"/>
                        </a:buClr>
                        <a:buSzPts val="1600"/>
                        <a:buFont typeface="Arial"/>
                        <a:buNone/>
                      </a:pPr>
                      <a:r>
                        <a:rPr lang="en-US" sz="1600" u="none" cap="none" strike="noStrike">
                          <a:solidFill>
                            <a:schemeClr val="dk1"/>
                          </a:solidFill>
                        </a:rPr>
                        <a:t>tl_fault_ramp — confidence decays continuously to zero</a:t>
                      </a:r>
                      <a:endParaRPr sz="1600" u="none" cap="none" strike="noStrike">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f79321b2c1_0_3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94" name="Google Shape;194;g3f79321b2c1_0_36"/>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FAULT INJECTION STRATEGY, TYPES, &amp; MAG.</a:t>
            </a:r>
            <a:endParaRPr b="0" i="0" sz="4000" u="none" cap="none" strike="noStrike">
              <a:solidFill>
                <a:srgbClr val="7030A0"/>
              </a:solidFill>
              <a:latin typeface="Play"/>
              <a:ea typeface="Play"/>
              <a:cs typeface="Play"/>
              <a:sym typeface="Play"/>
            </a:endParaRPr>
          </a:p>
        </p:txBody>
      </p:sp>
      <p:sp>
        <p:nvSpPr>
          <p:cNvPr id="195" name="Google Shape;195;g3f79321b2c1_0_36"/>
          <p:cNvSpPr txBox="1"/>
          <p:nvPr/>
        </p:nvSpPr>
        <p:spPr>
          <a:xfrm>
            <a:off x="567850" y="946825"/>
            <a:ext cx="11542500" cy="5774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p:txBody>
      </p:sp>
      <p:pic>
        <p:nvPicPr>
          <p:cNvPr id="196" name="Google Shape;196;g3f79321b2c1_0_36" title="imu_fault_stuck_goal_007_t1_20260728_202434.png"/>
          <p:cNvPicPr preferRelativeResize="0"/>
          <p:nvPr/>
        </p:nvPicPr>
        <p:blipFill rotWithShape="1">
          <a:blip r:embed="rId3">
            <a:alphaModFix/>
          </a:blip>
          <a:srcRect b="0" l="15283" r="0" t="0"/>
          <a:stretch/>
        </p:blipFill>
        <p:spPr>
          <a:xfrm>
            <a:off x="1780988" y="946825"/>
            <a:ext cx="8630026" cy="577470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g3f79321b2c1_0_47"/>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03" name="Google Shape;203;g3f79321b2c1_0_47"/>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FAULT INJECTION STRATEGY, TYPES, &amp; MAG.</a:t>
            </a:r>
            <a:endParaRPr b="0" i="0" sz="4000" u="none" cap="none" strike="noStrike">
              <a:solidFill>
                <a:srgbClr val="7030A0"/>
              </a:solidFill>
              <a:latin typeface="Play"/>
              <a:ea typeface="Play"/>
              <a:cs typeface="Play"/>
              <a:sym typeface="Play"/>
            </a:endParaRPr>
          </a:p>
        </p:txBody>
      </p:sp>
      <p:sp>
        <p:nvSpPr>
          <p:cNvPr id="204" name="Google Shape;204;g3f79321b2c1_0_47"/>
          <p:cNvSpPr txBox="1"/>
          <p:nvPr/>
        </p:nvSpPr>
        <p:spPr>
          <a:xfrm>
            <a:off x="567850" y="946825"/>
            <a:ext cx="11542500" cy="5774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p:txBody>
      </p:sp>
      <p:pic>
        <p:nvPicPr>
          <p:cNvPr id="205" name="Google Shape;205;g3f79321b2c1_0_47" title="fault_impact_example_imu_fault_s3.png"/>
          <p:cNvPicPr preferRelativeResize="0"/>
          <p:nvPr/>
        </p:nvPicPr>
        <p:blipFill rotWithShape="1">
          <a:blip r:embed="rId3">
            <a:alphaModFix/>
          </a:blip>
          <a:srcRect b="0" l="0" r="0" t="0"/>
          <a:stretch/>
        </p:blipFill>
        <p:spPr>
          <a:xfrm>
            <a:off x="744975" y="919175"/>
            <a:ext cx="10284109" cy="582999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g3f79321b2c1_0_59"/>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12" name="Google Shape;212;g3f79321b2c1_0_59"/>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MODEL PREDICTIONS &amp; CALIBRATION</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chemeClr val="dk1"/>
              </a:buClr>
              <a:buSzPts val="1100"/>
              <a:buFont typeface="Arial"/>
              <a:buNone/>
            </a:pPr>
            <a:r>
              <a:t/>
            </a:r>
            <a:endParaRPr b="0" i="0" sz="4000" u="none" cap="none" strike="noStrike">
              <a:solidFill>
                <a:srgbClr val="7030A0"/>
              </a:solidFill>
              <a:latin typeface="Play"/>
              <a:ea typeface="Play"/>
              <a:cs typeface="Play"/>
              <a:sym typeface="Play"/>
            </a:endParaRPr>
          </a:p>
        </p:txBody>
      </p:sp>
      <p:sp>
        <p:nvSpPr>
          <p:cNvPr id="213" name="Google Shape;213;g3f79321b2c1_0_59"/>
          <p:cNvSpPr txBox="1"/>
          <p:nvPr/>
        </p:nvSpPr>
        <p:spPr>
          <a:xfrm>
            <a:off x="567850" y="946825"/>
            <a:ext cx="5484000" cy="5774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lang="en-US" sz="1600">
                <a:solidFill>
                  <a:schemeClr val="dk1"/>
                </a:solidFill>
              </a:rPr>
              <a:t>What "calibrated" means in plain terms:</a:t>
            </a:r>
            <a:r>
              <a:rPr lang="en-US" sz="1600">
                <a:solidFill>
                  <a:schemeClr val="dk1"/>
                </a:solidFill>
              </a:rPr>
              <a:t> if we ask for a band that should contain the truth 90% of the time, it actually does, not 70%, not 99%, 90%. This plot sweeps that check across a whole range of confidence levels, not just one point, and the result tracks the diagonal (perfect</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calibration) closely for every feature.</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p:txBody>
      </p:sp>
      <p:pic>
        <p:nvPicPr>
          <p:cNvPr id="214" name="Google Shape;214;g3f79321b2c1_0_59" title="reliability_diagram.png"/>
          <p:cNvPicPr preferRelativeResize="0"/>
          <p:nvPr/>
        </p:nvPicPr>
        <p:blipFill>
          <a:blip r:embed="rId3">
            <a:alphaModFix/>
          </a:blip>
          <a:stretch>
            <a:fillRect/>
          </a:stretch>
        </p:blipFill>
        <p:spPr>
          <a:xfrm>
            <a:off x="6051924" y="1117575"/>
            <a:ext cx="5899727" cy="543317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g3f79321b2c1_0_78"/>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21" name="Google Shape;221;g3f79321b2c1_0_78"/>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MODEL PREDICTIONS &amp; CALIBRATION</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chemeClr val="dk1"/>
              </a:buClr>
              <a:buSzPts val="1100"/>
              <a:buFont typeface="Arial"/>
              <a:buNone/>
            </a:pPr>
            <a:r>
              <a:t/>
            </a:r>
            <a:endParaRPr b="0" i="0" sz="4000" u="none" cap="none" strike="noStrike">
              <a:solidFill>
                <a:srgbClr val="7030A0"/>
              </a:solidFill>
              <a:latin typeface="Play"/>
              <a:ea typeface="Play"/>
              <a:cs typeface="Play"/>
              <a:sym typeface="Play"/>
            </a:endParaRPr>
          </a:p>
        </p:txBody>
      </p:sp>
      <p:sp>
        <p:nvSpPr>
          <p:cNvPr id="222" name="Google Shape;222;g3f79321b2c1_0_78"/>
          <p:cNvSpPr txBox="1"/>
          <p:nvPr/>
        </p:nvSpPr>
        <p:spPr>
          <a:xfrm>
            <a:off x="567850" y="946825"/>
            <a:ext cx="5602500" cy="5774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A calibrated interval that's absurdly wide is technically "valid" and useless, this plot is the honest companion check:</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How much does the interval have to grow to buy more coverage. Both traffic-light features show a sharp elbow around 80-85% coverage, which is a real, data-driven</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reason to operate at a 90% target rather than pushing toward 98%.</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BUT, a single pooled number can hide a real problem, and it did…..</a:t>
            </a:r>
            <a:endParaRPr sz="1600">
              <a:solidFill>
                <a:schemeClr val="dk1"/>
              </a:solidFill>
            </a:endParaRPr>
          </a:p>
        </p:txBody>
      </p:sp>
      <p:pic>
        <p:nvPicPr>
          <p:cNvPr id="223" name="Google Shape;223;g3f79321b2c1_0_78" title="efficiency_curve.png"/>
          <p:cNvPicPr preferRelativeResize="0"/>
          <p:nvPr/>
        </p:nvPicPr>
        <p:blipFill>
          <a:blip r:embed="rId3">
            <a:alphaModFix/>
          </a:blip>
          <a:stretch>
            <a:fillRect/>
          </a:stretch>
        </p:blipFill>
        <p:spPr>
          <a:xfrm>
            <a:off x="6224650" y="1205850"/>
            <a:ext cx="5708020" cy="525665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g3f79321b2c1_0_68"/>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30" name="Google Shape;230;g3f79321b2c1_0_68"/>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MODEL PREDICTIONS &amp; CALIBRATION</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chemeClr val="dk1"/>
              </a:buClr>
              <a:buSzPts val="1100"/>
              <a:buFont typeface="Arial"/>
              <a:buNone/>
            </a:pPr>
            <a:r>
              <a:t/>
            </a:r>
            <a:endParaRPr b="0" i="0" sz="4000" u="none" cap="none" strike="noStrike">
              <a:solidFill>
                <a:srgbClr val="7030A0"/>
              </a:solidFill>
              <a:latin typeface="Play"/>
              <a:ea typeface="Play"/>
              <a:cs typeface="Play"/>
              <a:sym typeface="Play"/>
            </a:endParaRPr>
          </a:p>
        </p:txBody>
      </p:sp>
      <p:sp>
        <p:nvSpPr>
          <p:cNvPr id="231" name="Google Shape;231;g3f79321b2c1_0_68"/>
          <p:cNvSpPr txBox="1"/>
          <p:nvPr/>
        </p:nvSpPr>
        <p:spPr>
          <a:xfrm>
            <a:off x="567850" y="946825"/>
            <a:ext cx="11542500" cy="1296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The predicted trajectory visibly undershoots the real turn, steering and lateral-velocity predictions barely rise while the vehicle actually turns sharply. The model wasn't reading the route ahead well enough to anticipate turns it hadn't already started.</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p:txBody>
      </p:sp>
      <p:pic>
        <p:nvPicPr>
          <p:cNvPr id="232" name="Google Shape;232;g3f79321b2c1_0_68" title="v1_turn_position_map.png"/>
          <p:cNvPicPr preferRelativeResize="0"/>
          <p:nvPr/>
        </p:nvPicPr>
        <p:blipFill>
          <a:blip r:embed="rId3">
            <a:alphaModFix/>
          </a:blip>
          <a:stretch>
            <a:fillRect/>
          </a:stretch>
        </p:blipFill>
        <p:spPr>
          <a:xfrm>
            <a:off x="7432150" y="2143100"/>
            <a:ext cx="4438974" cy="4438974"/>
          </a:xfrm>
          <a:prstGeom prst="rect">
            <a:avLst/>
          </a:prstGeom>
          <a:noFill/>
          <a:ln>
            <a:noFill/>
          </a:ln>
        </p:spPr>
      </p:pic>
      <p:pic>
        <p:nvPicPr>
          <p:cNvPr id="233" name="Google Shape;233;g3f79321b2c1_0_68" title="v1_turn_scalar_bands.png"/>
          <p:cNvPicPr preferRelativeResize="0"/>
          <p:nvPr/>
        </p:nvPicPr>
        <p:blipFill>
          <a:blip r:embed="rId4">
            <a:alphaModFix/>
          </a:blip>
          <a:stretch>
            <a:fillRect/>
          </a:stretch>
        </p:blipFill>
        <p:spPr>
          <a:xfrm>
            <a:off x="567850" y="2488600"/>
            <a:ext cx="6558949" cy="374797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g3f89bc87c35_0_7"/>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40" name="Google Shape;240;g3f89bc87c35_0_7"/>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MODEL PREDICTIONS &amp; CALIBRATION</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chemeClr val="dk1"/>
              </a:buClr>
              <a:buSzPts val="1100"/>
              <a:buFont typeface="Arial"/>
              <a:buNone/>
            </a:pPr>
            <a:r>
              <a:t/>
            </a:r>
            <a:endParaRPr b="0" i="0" sz="4000" u="none" cap="none" strike="noStrike">
              <a:solidFill>
                <a:srgbClr val="7030A0"/>
              </a:solidFill>
              <a:latin typeface="Play"/>
              <a:ea typeface="Play"/>
              <a:cs typeface="Play"/>
              <a:sym typeface="Play"/>
            </a:endParaRPr>
          </a:p>
        </p:txBody>
      </p:sp>
      <p:sp>
        <p:nvSpPr>
          <p:cNvPr id="241" name="Google Shape;241;g3f89bc87c35_0_7"/>
          <p:cNvSpPr txBox="1"/>
          <p:nvPr/>
        </p:nvSpPr>
        <p:spPr>
          <a:xfrm>
            <a:off x="567850" y="946825"/>
            <a:ext cx="11542500" cy="1196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Pooled steering coverage reads ~90% (looks fine), but splits into 94.2% on calm driving and only 75.6% near intersections.</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The fix:</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  → Oversample turn/intersection-proximate windows during training, weighted by each window's OWN actual difficulty</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  → Fully data-driven: weights are inverse-frequency-derived from whatever the CURRENT training set's distribution actually is</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p:txBody>
      </p:sp>
      <p:pic>
        <p:nvPicPr>
          <p:cNvPr id="242" name="Google Shape;242;g3f89bc87c35_0_7" title="v2_turn_position_map.png"/>
          <p:cNvPicPr preferRelativeResize="0"/>
          <p:nvPr/>
        </p:nvPicPr>
        <p:blipFill>
          <a:blip r:embed="rId3">
            <a:alphaModFix/>
          </a:blip>
          <a:stretch>
            <a:fillRect/>
          </a:stretch>
        </p:blipFill>
        <p:spPr>
          <a:xfrm>
            <a:off x="7518775" y="2205900"/>
            <a:ext cx="4409975" cy="4409975"/>
          </a:xfrm>
          <a:prstGeom prst="rect">
            <a:avLst/>
          </a:prstGeom>
          <a:noFill/>
          <a:ln>
            <a:noFill/>
          </a:ln>
        </p:spPr>
      </p:pic>
      <p:pic>
        <p:nvPicPr>
          <p:cNvPr id="243" name="Google Shape;243;g3f89bc87c35_0_7" title="v2_turn_scalar_bands.png"/>
          <p:cNvPicPr preferRelativeResize="0"/>
          <p:nvPr/>
        </p:nvPicPr>
        <p:blipFill>
          <a:blip r:embed="rId4">
            <a:alphaModFix/>
          </a:blip>
          <a:stretch>
            <a:fillRect/>
          </a:stretch>
        </p:blipFill>
        <p:spPr>
          <a:xfrm>
            <a:off x="567850" y="2456725"/>
            <a:ext cx="6839572" cy="3908327"/>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g3f79321b2c1_0_87"/>
          <p:cNvSpPr txBox="1"/>
          <p:nvPr/>
        </p:nvSpPr>
        <p:spPr>
          <a:xfrm>
            <a:off x="567850" y="946825"/>
            <a:ext cx="4994400" cy="5774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solidFill>
                  <a:schemeClr val="dk1"/>
                </a:solidFill>
              </a:rPr>
              <a:t>Once the model itself is better, a sharper calibration question remains:</a:t>
            </a:r>
            <a:r>
              <a:rPr lang="en-US" sz="1600">
                <a:solidFill>
                  <a:schemeClr val="dk1"/>
                </a:solidFill>
              </a:rPr>
              <a:t>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Should the interval WIDTH itself vary by scenario, not just be validated per scenario? Two approaches, built and compared:</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b="1" lang="en-US" sz="1600">
                <a:solidFill>
                  <a:schemeClr val="dk1"/>
                </a:solidFill>
              </a:rPr>
              <a:t>Approach A</a:t>
            </a:r>
            <a:r>
              <a:rPr lang="en-US" sz="1600">
                <a:solidFill>
                  <a:schemeClr val="dk1"/>
                </a:solidFill>
              </a:rPr>
              <a:t>: Mondrian (discrete group-conditional) conformal calibration:</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Partition calibration data into zone categories (turn / intersection / curved-road / open-road), fit a SEPARATE calibrated interval per group instead of one pooled number.</a:t>
            </a:r>
            <a:endParaRPr sz="1600">
              <a:solidFill>
                <a:schemeClr val="dk1"/>
              </a:solidFill>
            </a:endParaRPr>
          </a:p>
        </p:txBody>
      </p:sp>
      <p:sp>
        <p:nvSpPr>
          <p:cNvPr id="250" name="Google Shape;250;g3f79321b2c1_0_87"/>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51" name="Google Shape;251;g3f79321b2c1_0_87"/>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lang="en-US" sz="4000">
                <a:solidFill>
                  <a:srgbClr val="7030A0"/>
                </a:solidFill>
                <a:latin typeface="Play"/>
                <a:ea typeface="Play"/>
                <a:cs typeface="Play"/>
                <a:sym typeface="Play"/>
              </a:rPr>
              <a:t>CONDITIONAL CALIBRATION</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chemeClr val="dk1"/>
              </a:buClr>
              <a:buSzPts val="1100"/>
              <a:buFont typeface="Arial"/>
              <a:buNone/>
            </a:pPr>
            <a:r>
              <a:t/>
            </a:r>
            <a:endParaRPr b="0" i="0" sz="4000" u="none" cap="none" strike="noStrike">
              <a:solidFill>
                <a:srgbClr val="7030A0"/>
              </a:solidFill>
              <a:latin typeface="Play"/>
              <a:ea typeface="Play"/>
              <a:cs typeface="Play"/>
              <a:sym typeface="Play"/>
            </a:endParaRPr>
          </a:p>
        </p:txBody>
      </p:sp>
      <p:pic>
        <p:nvPicPr>
          <p:cNvPr id="252" name="Google Shape;252;g3f79321b2c1_0_87" title="mondrian_vs_vanilla_width.png"/>
          <p:cNvPicPr preferRelativeResize="0"/>
          <p:nvPr/>
        </p:nvPicPr>
        <p:blipFill>
          <a:blip r:embed="rId3">
            <a:alphaModFix/>
          </a:blip>
          <a:stretch>
            <a:fillRect/>
          </a:stretch>
        </p:blipFill>
        <p:spPr>
          <a:xfrm>
            <a:off x="5492376" y="1006288"/>
            <a:ext cx="6581274" cy="565577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g3f89bc87c35_0_21"/>
          <p:cNvSpPr txBox="1"/>
          <p:nvPr/>
        </p:nvSpPr>
        <p:spPr>
          <a:xfrm>
            <a:off x="567850" y="946825"/>
            <a:ext cx="11473500" cy="150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solidFill>
                  <a:schemeClr val="dk1"/>
                </a:solidFill>
              </a:rPr>
              <a:t>Approach B: </a:t>
            </a:r>
            <a:r>
              <a:rPr lang="en-US" sz="1600">
                <a:solidFill>
                  <a:schemeClr val="dk1"/>
                </a:solidFill>
              </a:rPr>
              <a:t>continuous conditioning on the model's own learned scene representation. Find the k most similar past scenes by the model's own internal representation of "what kind of situation is this," calibrate against just that neighborhood</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b="1" sz="1600">
              <a:solidFill>
                <a:schemeClr val="dk1"/>
              </a:solidFill>
            </a:endParaRPr>
          </a:p>
        </p:txBody>
      </p:sp>
      <p:sp>
        <p:nvSpPr>
          <p:cNvPr id="259" name="Google Shape;259;g3f89bc87c35_0_2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60" name="Google Shape;260;g3f89bc87c35_0_21"/>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lang="en-US" sz="4000">
                <a:solidFill>
                  <a:srgbClr val="7030A0"/>
                </a:solidFill>
                <a:latin typeface="Play"/>
                <a:ea typeface="Play"/>
                <a:cs typeface="Play"/>
                <a:sym typeface="Play"/>
              </a:rPr>
              <a:t>CONDITIONAL CALIBRATION</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chemeClr val="dk1"/>
              </a:buClr>
              <a:buSzPts val="1100"/>
              <a:buFont typeface="Arial"/>
              <a:buNone/>
            </a:pPr>
            <a:r>
              <a:t/>
            </a:r>
            <a:endParaRPr b="0" i="0" sz="4000" u="none" cap="none" strike="noStrike">
              <a:solidFill>
                <a:srgbClr val="7030A0"/>
              </a:solidFill>
              <a:latin typeface="Play"/>
              <a:ea typeface="Play"/>
              <a:cs typeface="Play"/>
              <a:sym typeface="Play"/>
            </a:endParaRPr>
          </a:p>
        </p:txBody>
      </p:sp>
      <p:pic>
        <p:nvPicPr>
          <p:cNvPr id="261" name="Google Shape;261;g3f89bc87c35_0_21" title="embedding_turn_scalar_bands.png"/>
          <p:cNvPicPr preferRelativeResize="0"/>
          <p:nvPr/>
        </p:nvPicPr>
        <p:blipFill>
          <a:blip r:embed="rId3">
            <a:alphaModFix/>
          </a:blip>
          <a:stretch>
            <a:fillRect/>
          </a:stretch>
        </p:blipFill>
        <p:spPr>
          <a:xfrm>
            <a:off x="1640300" y="1629225"/>
            <a:ext cx="8911400" cy="5092226"/>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g3f79321b2c1_0_96"/>
          <p:cNvSpPr txBox="1"/>
          <p:nvPr/>
        </p:nvSpPr>
        <p:spPr>
          <a:xfrm>
            <a:off x="567850" y="946825"/>
            <a:ext cx="11533200" cy="1804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lang="en-US" sz="1600">
                <a:solidFill>
                  <a:schemeClr val="dk1"/>
                </a:solidFill>
              </a:rPr>
              <a:t>IMU faults corrupt STATE ESTIMATION. Residual triples during the fault window, then KEEPS GROWING afterward instead of recovering, from 44% exceeding the calibrated band right after the fault "ends" to 78% by 60-120 seconds later. A corrupted internal position estimate doesn't self-heal once poisoned.</a:t>
            </a:r>
            <a:endParaRPr sz="1600">
              <a:solidFill>
                <a:schemeClr val="dk1"/>
              </a:solidFill>
            </a:endParaRPr>
          </a:p>
          <a:p>
            <a:pPr indent="0" lvl="0" marL="0" marR="0" rtl="0" algn="l">
              <a:lnSpc>
                <a:spcPct val="100000"/>
              </a:lnSpc>
              <a:spcBef>
                <a:spcPts val="0"/>
              </a:spcBef>
              <a:spcAft>
                <a:spcPts val="0"/>
              </a:spcAft>
              <a:buClr>
                <a:srgbClr val="000000"/>
              </a:buClr>
              <a:buSzPts val="1600"/>
              <a:buFont typeface="Arial"/>
              <a:buNone/>
            </a:pPr>
            <a:r>
              <a:t/>
            </a:r>
            <a:endParaRPr sz="1600">
              <a:solidFill>
                <a:schemeClr val="dk1"/>
              </a:solidFill>
            </a:endParaRPr>
          </a:p>
        </p:txBody>
      </p:sp>
      <p:sp>
        <p:nvSpPr>
          <p:cNvPr id="268" name="Google Shape;268;g3f79321b2c1_0_9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69" name="Google Shape;269;g3f79321b2c1_0_96"/>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lang="en-US" sz="4000">
                <a:solidFill>
                  <a:srgbClr val="7030A0"/>
                </a:solidFill>
                <a:latin typeface="Play"/>
                <a:ea typeface="Play"/>
                <a:cs typeface="Play"/>
                <a:sym typeface="Play"/>
              </a:rPr>
              <a:t>LAYER 1 vs FAULTS</a:t>
            </a:r>
            <a:endParaRPr b="0" i="0" sz="4000" u="none" cap="none" strike="noStrike">
              <a:solidFill>
                <a:srgbClr val="7030A0"/>
              </a:solidFill>
              <a:latin typeface="Play"/>
              <a:ea typeface="Play"/>
              <a:cs typeface="Play"/>
              <a:sym typeface="Play"/>
            </a:endParaRPr>
          </a:p>
        </p:txBody>
      </p:sp>
      <p:pic>
        <p:nvPicPr>
          <p:cNvPr id="270" name="Google Shape;270;g3f79321b2c1_0_96" title="imu_fault_trace.png"/>
          <p:cNvPicPr preferRelativeResize="0"/>
          <p:nvPr/>
        </p:nvPicPr>
        <p:blipFill>
          <a:blip r:embed="rId3">
            <a:alphaModFix/>
          </a:blip>
          <a:stretch>
            <a:fillRect/>
          </a:stretch>
        </p:blipFill>
        <p:spPr>
          <a:xfrm>
            <a:off x="2594675" y="3017125"/>
            <a:ext cx="7002649" cy="28647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g3ef5baf9285_0_3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77" name="Google Shape;277;g3ef5baf9285_0_36"/>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INTERPRETATION AND NEXT STEPS</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chemeClr val="dk1"/>
              </a:buClr>
              <a:buSzPts val="1100"/>
              <a:buFont typeface="Arial"/>
              <a:buNone/>
            </a:pPr>
            <a:r>
              <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rgbClr val="7030A0"/>
              </a:buClr>
              <a:buSzPts val="4000"/>
              <a:buFont typeface="Play"/>
              <a:buNone/>
            </a:pPr>
            <a:r>
              <a:t/>
            </a:r>
            <a:endParaRPr b="0" i="0" sz="4000" u="none" cap="none" strike="noStrike">
              <a:solidFill>
                <a:srgbClr val="7030A0"/>
              </a:solidFill>
              <a:latin typeface="Play"/>
              <a:ea typeface="Play"/>
              <a:cs typeface="Play"/>
              <a:sym typeface="Play"/>
            </a:endParaRPr>
          </a:p>
        </p:txBody>
      </p:sp>
      <p:sp>
        <p:nvSpPr>
          <p:cNvPr id="278" name="Google Shape;278;g3ef5baf9285_0_36"/>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i="0" lang="en-US" sz="2000" u="none" cap="none" strike="noStrike">
                <a:solidFill>
                  <a:schemeClr val="dk1"/>
                </a:solidFill>
                <a:latin typeface="Arial"/>
                <a:ea typeface="Arial"/>
                <a:cs typeface="Arial"/>
                <a:sym typeface="Arial"/>
              </a:rPr>
              <a:t>What the arc actually showed (the meta-result, not just the numbers):</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20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Arial"/>
              <a:buChar char="●"/>
            </a:pPr>
            <a:r>
              <a:rPr b="0" i="0" lang="en-US" sz="1600" u="none" cap="none" strike="noStrike">
                <a:solidFill>
                  <a:schemeClr val="dk1"/>
                </a:solidFill>
                <a:latin typeface="Arial"/>
                <a:ea typeface="Arial"/>
                <a:cs typeface="Arial"/>
                <a:sym typeface="Arial"/>
              </a:rPr>
              <a:t>Grounding this framework's own credibility FIRST, before building anything on top of it, was the right call, it surfaced a real problem (measurable miscalibration) that would have silently undermined every downstream result otherwise</a:t>
            </a:r>
            <a:endParaRPr b="0" i="0" sz="1600" u="none" cap="none" strike="noStrike">
              <a:solidFill>
                <a:schemeClr val="dk1"/>
              </a:solidFill>
              <a:latin typeface="Arial"/>
              <a:ea typeface="Arial"/>
              <a:cs typeface="Arial"/>
              <a:sym typeface="Arial"/>
            </a:endParaRPr>
          </a:p>
          <a:p>
            <a:pPr indent="0" lvl="0" marL="45720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Arial"/>
              <a:buChar char="●"/>
            </a:pPr>
            <a:r>
              <a:rPr b="0" i="0" lang="en-US" sz="1600" u="none" cap="none" strike="noStrike">
                <a:solidFill>
                  <a:schemeClr val="dk1"/>
                </a:solidFill>
                <a:latin typeface="Arial"/>
                <a:ea typeface="Arial"/>
                <a:cs typeface="Arial"/>
                <a:sym typeface="Arial"/>
              </a:rPr>
              <a:t>The fix that worked was a genuine pivot (conformal on a plain point predictor), not a patch on the original approach.</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2000" u="none" cap="none" strike="noStrike">
                <a:solidFill>
                  <a:schemeClr val="dk1"/>
                </a:solidFill>
                <a:latin typeface="Arial"/>
                <a:ea typeface="Arial"/>
                <a:cs typeface="Arial"/>
                <a:sym typeface="Arial"/>
              </a:rPr>
              <a:t>The question Layer 2 should answer:</a:t>
            </a:r>
            <a:r>
              <a:rPr b="1" i="0" lang="en-US" sz="1600" u="none" cap="none" strike="noStrike">
                <a:solidFill>
                  <a:schemeClr val="dk1"/>
                </a:solidFill>
                <a:latin typeface="Arial"/>
                <a:ea typeface="Arial"/>
                <a:cs typeface="Arial"/>
                <a:sym typeface="Arial"/>
              </a:rPr>
              <a:t>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A weird residual on an empty straight road is noise; the same residual approaching an occluded intersection is a crash. Map anomaly to actual risk by rolling counterfactual futures forward through the digital twin, same substrate as Layer 1 (per-feature residuals), different question asked of it ("so what," not "how surprising").</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2000" u="none" cap="none" strike="noStrike">
                <a:solidFill>
                  <a:schemeClr val="dk1"/>
                </a:solidFill>
                <a:latin typeface="Arial"/>
                <a:ea typeface="Arial"/>
                <a:cs typeface="Arial"/>
                <a:sym typeface="Arial"/>
              </a:rPr>
              <a:t>What we need next:</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20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Arial"/>
              <a:buChar char="●"/>
            </a:pPr>
            <a:r>
              <a:rPr b="0" i="0" lang="en-US" sz="1600" u="none" cap="none" strike="noStrike">
                <a:solidFill>
                  <a:schemeClr val="dk1"/>
                </a:solidFill>
                <a:latin typeface="Arial"/>
                <a:ea typeface="Arial"/>
                <a:cs typeface="Arial"/>
                <a:sym typeface="Arial"/>
              </a:rPr>
              <a:t>Richer, continuous "bad event" logging, current collision/stuck heuristics are too rare/unreliable. Need continuously-loggable margin violations (time-to-collision, minimum following distance, lateral lane-boundary margin)</a:t>
            </a:r>
            <a:endParaRPr b="0" i="0" sz="16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Arial"/>
              <a:buChar char="●"/>
            </a:pPr>
            <a:r>
              <a:rPr b="0" i="0" lang="en-US" sz="1600" u="none" cap="none" strike="noStrike">
                <a:solidFill>
                  <a:schemeClr val="dk1"/>
                </a:solidFill>
                <a:latin typeface="Arial"/>
                <a:ea typeface="Arial"/>
                <a:cs typeface="Arial"/>
                <a:sym typeface="Arial"/>
              </a:rPr>
              <a:t>More nominal trials</a:t>
            </a:r>
            <a:endParaRPr b="0" i="0" sz="16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Arial"/>
              <a:buChar char="●"/>
            </a:pPr>
            <a:r>
              <a:rPr b="0" i="0" lang="en-US" sz="1600" u="none" cap="none" strike="noStrike">
                <a:solidFill>
                  <a:schemeClr val="dk1"/>
                </a:solidFill>
                <a:latin typeface="Arial"/>
                <a:ea typeface="Arial"/>
                <a:cs typeface="Arial"/>
                <a:sym typeface="Arial"/>
              </a:rPr>
              <a:t>Conditioning the conformal quantile on the model's own learned scene embedding (graph context / h_last), plumbing to borrow statistical strength across similar situations; layered on top of, not replacing, the existing per-horizon-step quantiles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3" name="Shape 283"/>
        <p:cNvGrpSpPr/>
        <p:nvPr/>
      </p:nvGrpSpPr>
      <p:grpSpPr>
        <a:xfrm>
          <a:off x="0" y="0"/>
          <a:ext cx="0" cy="0"/>
          <a:chOff x="0" y="0"/>
          <a:chExt cx="0" cy="0"/>
        </a:xfrm>
      </p:grpSpPr>
      <p:sp>
        <p:nvSpPr>
          <p:cNvPr id="284" name="Google Shape;284;g3f79321b2c1_0_11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85" name="Google Shape;285;g3f79321b2c1_0_114"/>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RESULT SHAPE</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chemeClr val="dk1"/>
              </a:buClr>
              <a:buSzPts val="1100"/>
              <a:buFont typeface="Arial"/>
              <a:buNone/>
            </a:pPr>
            <a:r>
              <a:t/>
            </a:r>
            <a:endParaRPr b="0" i="0" sz="4000" u="none" cap="none" strike="noStrike">
              <a:solidFill>
                <a:srgbClr val="7030A0"/>
              </a:solidFill>
              <a:latin typeface="Play"/>
              <a:ea typeface="Play"/>
              <a:cs typeface="Play"/>
              <a:sym typeface="Play"/>
            </a:endParaRPr>
          </a:p>
          <a:p>
            <a:pPr indent="0" lvl="0" marL="0" marR="0" rtl="0" algn="l">
              <a:lnSpc>
                <a:spcPct val="90000"/>
              </a:lnSpc>
              <a:spcBef>
                <a:spcPts val="0"/>
              </a:spcBef>
              <a:spcAft>
                <a:spcPts val="0"/>
              </a:spcAft>
              <a:buClr>
                <a:srgbClr val="7030A0"/>
              </a:buClr>
              <a:buSzPts val="4000"/>
              <a:buFont typeface="Play"/>
              <a:buNone/>
            </a:pPr>
            <a:r>
              <a:t/>
            </a:r>
            <a:endParaRPr b="0" i="0" sz="4000" u="none" cap="none" strike="noStrike">
              <a:solidFill>
                <a:srgbClr val="7030A0"/>
              </a:solidFill>
              <a:latin typeface="Play"/>
              <a:ea typeface="Play"/>
              <a:cs typeface="Play"/>
              <a:sym typeface="Play"/>
            </a:endParaRPr>
          </a:p>
        </p:txBody>
      </p:sp>
      <p:sp>
        <p:nvSpPr>
          <p:cNvPr id="286" name="Google Shape;286;g3f79321b2c1_0_114"/>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chemeClr val="dk1"/>
                </a:solidFill>
                <a:latin typeface="Arial"/>
                <a:ea typeface="Arial"/>
                <a:cs typeface="Arial"/>
                <a:sym typeface="Arial"/>
              </a:rPr>
              <a:t>Target result shape:</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Reliability diagram for RISK:</a:t>
            </a:r>
            <a:r>
              <a:rPr b="0" i="0" lang="en-US" sz="1600" u="none" cap="none" strike="noStrike">
                <a:solidFill>
                  <a:schemeClr val="dk1"/>
                </a:solidFill>
                <a:latin typeface="Arial"/>
                <a:ea typeface="Arial"/>
                <a:cs typeface="Arial"/>
                <a:sym typeface="Arial"/>
              </a:rPr>
              <a:t> log predicted P(safety-margin violation within horizon H) at every timestep, check ground truth H seconds later, bin by predicted probability, plot predicted vs. observed.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Lead time vs. false-alarm rate curve:</a:t>
            </a:r>
            <a:r>
              <a:rPr b="0" i="0" lang="en-US" sz="1600" u="none" cap="none" strike="noStrike">
                <a:solidFill>
                  <a:schemeClr val="dk1"/>
                </a:solidFill>
                <a:latin typeface="Arial"/>
                <a:ea typeface="Arial"/>
                <a:cs typeface="Arial"/>
                <a:sym typeface="Arial"/>
              </a:rPr>
              <a:t> any anomaly signal trades lead time against false alarms, report the curve, compare at matched false-alarm rates. Why decomposition wins here specifically: a monolithic score must clear one global threshold; a structured, persistent per-feature signature(e.g. IMU bias producing coherent one-directional drift) can be flagged more sensitively without eating false alarms elsewhere. Lead time is bought with STRUCTURE, not magnitude.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Table:</a:t>
            </a:r>
            <a:r>
              <a:rPr b="0" i="0" lang="en-US" sz="1600" u="none" cap="none" strike="noStrike">
                <a:solidFill>
                  <a:schemeClr val="dk1"/>
                </a:solidFill>
                <a:latin typeface="Arial"/>
                <a:ea typeface="Arial"/>
                <a:cs typeface="Arial"/>
                <a:sym typeface="Arial"/>
              </a:rPr>
              <a:t> fault type x margin violated x lead time.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Detection threshold vs. fault magnitude curve:</a:t>
            </a:r>
            <a:r>
              <a:rPr b="0" i="0" lang="en-US" sz="1600" u="none" cap="none" strike="noStrike">
                <a:solidFill>
                  <a:schemeClr val="dk1"/>
                </a:solidFill>
                <a:latin typeface="Arial"/>
                <a:ea typeface="Arial"/>
                <a:cs typeface="Arial"/>
                <a:sym typeface="Arial"/>
              </a:rPr>
              <a:t> sweep magnitude down, find where the discriminating regime is. Flagged as a stretch goal, needs more experiment infrastructure than the other three.</a:t>
            </a:r>
            <a:endParaRPr b="1" i="0" sz="2000" u="none" cap="none" strike="noStrike">
              <a:solidFill>
                <a:schemeClr val="dk1"/>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91" name="Shape 291"/>
        <p:cNvGrpSpPr/>
        <p:nvPr/>
      </p:nvGrpSpPr>
      <p:grpSpPr>
        <a:xfrm>
          <a:off x="0" y="0"/>
          <a:ext cx="0" cy="0"/>
          <a:chOff x="0" y="0"/>
          <a:chExt cx="0" cy="0"/>
        </a:xfrm>
      </p:grpSpPr>
      <p:sp>
        <p:nvSpPr>
          <p:cNvPr id="292" name="Google Shape;292;g3f79321b2c1_0_10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293" name="Google Shape;293;g3f79321b2c1_0_105"/>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THE THREE-SIGNAL FEASIBILITY CLASSIFIER</a:t>
            </a:r>
            <a:endParaRPr b="0" i="0" sz="1400" u="none" cap="none" strike="noStrike">
              <a:solidFill>
                <a:srgbClr val="000000"/>
              </a:solidFill>
              <a:latin typeface="Arial"/>
              <a:ea typeface="Arial"/>
              <a:cs typeface="Arial"/>
              <a:sym typeface="Arial"/>
            </a:endParaRPr>
          </a:p>
        </p:txBody>
      </p:sp>
      <p:sp>
        <p:nvSpPr>
          <p:cNvPr id="294" name="Google Shape;294;g3f79321b2c1_0_105"/>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Decision logic: </a:t>
            </a:r>
            <a:r>
              <a:rPr b="0" i="0" lang="en-US" sz="1600" u="none" cap="none" strike="noStrike">
                <a:solidFill>
                  <a:schemeClr val="dk1"/>
                </a:solidFill>
                <a:latin typeface="Arial"/>
                <a:ea typeface="Arial"/>
                <a:cs typeface="Arial"/>
                <a:sym typeface="Arial"/>
              </a:rPr>
              <a:t>all three conditions must hold for avoidance to be enabled: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What each signal handles:</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Signal 1 (Topology):</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Fails when: obstacle on single-lane road, no driveable neighbor</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Deterministic: HD map lookup, no uncertainty</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Cannot distinguish: multi-lane with adequate time vs. multi-lane too close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Signal 2 (Kinematic):</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Fails when: obstacle detected too late (&lt;5m), no time for path planning</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Semi-deterministic: depends on perception accuracy of distance/speed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Cannot distinguish: adjacent lane exists vs. does not exist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Signal 3 (Behavioral — digital twin):</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Fails when: situation appears nominally plausible (normal deceleration)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Probabilistic: CVaR from learned distribution residual</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Necessary because: Signals 1+2 alone cannot distinguish real obstacles from routine stops (traffic lights, crosswalks), no trajectory anomaly exists, until the vehicle has already committed to a stop</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Integration point: </a:t>
            </a:r>
            <a:r>
              <a:rPr b="0" i="0" lang="en-US" sz="1600" u="none" cap="none" strike="noStrike">
                <a:solidFill>
                  <a:schemeClr val="dk1"/>
                </a:solidFill>
                <a:latin typeface="Arial"/>
                <a:ea typeface="Arial"/>
                <a:cs typeface="Arial"/>
                <a:sym typeface="Arial"/>
              </a:rPr>
              <a:t>signals are evaluated at 10 Hz; threshold τ_min and θ calibrated on held-out nominal runs using conformal prediction (finite-sample coverage guarantee)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99" name="Shape 299"/>
        <p:cNvGrpSpPr/>
        <p:nvPr/>
      </p:nvGrpSpPr>
      <p:grpSpPr>
        <a:xfrm>
          <a:off x="0" y="0"/>
          <a:ext cx="0" cy="0"/>
          <a:chOff x="0" y="0"/>
          <a:chExt cx="0" cy="0"/>
        </a:xfrm>
      </p:grpSpPr>
      <p:sp>
        <p:nvSpPr>
          <p:cNvPr id="300" name="Google Shape;300;g3ef5e7879ea_0_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301" name="Google Shape;301;g3ef5e7879ea_0_5"/>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R1: POPULATION-LEVEL NLL TIME-SERIES</a:t>
            </a:r>
            <a:endParaRPr b="0" i="0" sz="4000" u="none" cap="none" strike="noStrike">
              <a:solidFill>
                <a:srgbClr val="7030A0"/>
              </a:solidFill>
              <a:latin typeface="Play"/>
              <a:ea typeface="Play"/>
              <a:cs typeface="Play"/>
              <a:sym typeface="Play"/>
            </a:endParaRPr>
          </a:p>
        </p:txBody>
      </p:sp>
      <p:sp>
        <p:nvSpPr>
          <p:cNvPr id="302" name="Google Shape;302;g3ef5e7879ea_0_5"/>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Key message:</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The spike is brief (~2–3 s out of a 60–160 s run).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Full-run CVaR averages over all the nominal driving time and HIDES the spike.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Max NLL (or short-window CVaR) is the right statistic for classification — shown next.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p:txBody>
      </p:sp>
      <p:pic>
        <p:nvPicPr>
          <p:cNvPr id="303" name="Google Shape;303;g3ef5e7879ea_0_5"/>
          <p:cNvPicPr preferRelativeResize="0"/>
          <p:nvPr/>
        </p:nvPicPr>
        <p:blipFill rotWithShape="1">
          <a:blip r:embed="rId3">
            <a:alphaModFix/>
          </a:blip>
          <a:srcRect b="0" l="0" r="0" t="0"/>
          <a:stretch/>
        </p:blipFill>
        <p:spPr>
          <a:xfrm>
            <a:off x="1606913" y="2093174"/>
            <a:ext cx="9464285" cy="46282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08" name="Shape 308"/>
        <p:cNvGrpSpPr/>
        <p:nvPr/>
      </p:nvGrpSpPr>
      <p:grpSpPr>
        <a:xfrm>
          <a:off x="0" y="0"/>
          <a:ext cx="0" cy="0"/>
          <a:chOff x="0" y="0"/>
          <a:chExt cx="0" cy="0"/>
        </a:xfrm>
      </p:grpSpPr>
      <p:sp>
        <p:nvSpPr>
          <p:cNvPr id="309" name="Google Shape;309;g3ef5e7879ea_0_2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310" name="Google Shape;310;g3ef5e7879ea_0_23"/>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R2:PER-RUN STAT. THREE CANDIDATE SIGNALS</a:t>
            </a:r>
            <a:endParaRPr b="0" i="0" sz="4000" u="none" cap="none" strike="noStrike">
              <a:solidFill>
                <a:srgbClr val="7030A0"/>
              </a:solidFill>
              <a:latin typeface="Play"/>
              <a:ea typeface="Play"/>
              <a:cs typeface="Play"/>
              <a:sym typeface="Play"/>
            </a:endParaRPr>
          </a:p>
        </p:txBody>
      </p:sp>
      <p:sp>
        <p:nvSpPr>
          <p:cNvPr id="311" name="Google Shape;311;g3ef5e7879ea_0_23"/>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LEFT: Max NLL (per run):</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Recovery:  max NLL ≈ −3 to +2   (wide range, spikes above 0)</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Noescape:  max NLL ≈ −6 to −6.3 (narrow range, never crosses threshold)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p = 0.034 (**) → statistically significant separation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Validates Signal 3: the behavioral residual spike correctly distinguishes the two conditions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p:txBody>
      </p:sp>
      <p:pic>
        <p:nvPicPr>
          <p:cNvPr id="312" name="Google Shape;312;g3ef5e7879ea_0_23"/>
          <p:cNvPicPr preferRelativeResize="0"/>
          <p:nvPr/>
        </p:nvPicPr>
        <p:blipFill rotWithShape="1">
          <a:blip r:embed="rId3">
            <a:alphaModFix/>
          </a:blip>
          <a:srcRect b="0" l="0" r="0" t="0"/>
          <a:stretch/>
        </p:blipFill>
        <p:spPr>
          <a:xfrm>
            <a:off x="1269488" y="2632548"/>
            <a:ext cx="8945975" cy="380245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17" name="Shape 317"/>
        <p:cNvGrpSpPr/>
        <p:nvPr/>
      </p:nvGrpSpPr>
      <p:grpSpPr>
        <a:xfrm>
          <a:off x="0" y="0"/>
          <a:ext cx="0" cy="0"/>
          <a:chOff x="0" y="0"/>
          <a:chExt cx="0" cy="0"/>
        </a:xfrm>
      </p:grpSpPr>
      <p:sp>
        <p:nvSpPr>
          <p:cNvPr id="318" name="Google Shape;318;g3ef5e7879ea_0_3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319" name="Google Shape;319;g3ef5e7879ea_0_35"/>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R2:PER-RUN STAT. THREE CANDIDATE SIGNALS</a:t>
            </a:r>
            <a:endParaRPr b="0" i="0" sz="4000" u="none" cap="none" strike="noStrike">
              <a:solidFill>
                <a:srgbClr val="7030A0"/>
              </a:solidFill>
              <a:latin typeface="Play"/>
              <a:ea typeface="Play"/>
              <a:cs typeface="Play"/>
              <a:sym typeface="Play"/>
            </a:endParaRPr>
          </a:p>
        </p:txBody>
      </p:sp>
      <p:sp>
        <p:nvSpPr>
          <p:cNvPr id="320" name="Google Shape;320;g3ef5e7879ea_0_35"/>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MIDDLE: CVaR₉₅ over entire run:</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Recovery ≈ Noescape (distributions nearly overlap)</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p ≈ 0.94  → NO separation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Confirms why full-run CVaR is a poor statistic:</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the spike is too brief relative to the run length, diluted by 99% nominal windows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p:txBody>
      </p:sp>
      <p:pic>
        <p:nvPicPr>
          <p:cNvPr id="321" name="Google Shape;321;g3ef5e7879ea_0_35"/>
          <p:cNvPicPr preferRelativeResize="0"/>
          <p:nvPr/>
        </p:nvPicPr>
        <p:blipFill rotWithShape="1">
          <a:blip r:embed="rId3">
            <a:alphaModFix/>
          </a:blip>
          <a:srcRect b="0" l="0" r="0" t="0"/>
          <a:stretch/>
        </p:blipFill>
        <p:spPr>
          <a:xfrm>
            <a:off x="1269488" y="2632548"/>
            <a:ext cx="8945975" cy="38024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6" name="Shape 326"/>
        <p:cNvGrpSpPr/>
        <p:nvPr/>
      </p:nvGrpSpPr>
      <p:grpSpPr>
        <a:xfrm>
          <a:off x="0" y="0"/>
          <a:ext cx="0" cy="0"/>
          <a:chOff x="0" y="0"/>
          <a:chExt cx="0" cy="0"/>
        </a:xfrm>
      </p:grpSpPr>
      <p:sp>
        <p:nvSpPr>
          <p:cNvPr id="327" name="Google Shape;327;g3ef5e7879ea_0_4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328" name="Google Shape;328;g3ef5e7879ea_0_44"/>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R2:PER-RUN STAT. THREE CANDIDATE SIGNALS</a:t>
            </a:r>
            <a:endParaRPr b="0" i="0" sz="4000" u="none" cap="none" strike="noStrike">
              <a:solidFill>
                <a:srgbClr val="7030A0"/>
              </a:solidFill>
              <a:latin typeface="Play"/>
              <a:ea typeface="Play"/>
              <a:cs typeface="Play"/>
              <a:sym typeface="Play"/>
            </a:endParaRPr>
          </a:p>
        </p:txBody>
      </p:sp>
      <p:sp>
        <p:nvSpPr>
          <p:cNvPr id="329" name="Google Shape;329;g3ef5e7879ea_0_44"/>
          <p:cNvSpPr txBox="1"/>
          <p:nvPr/>
        </p:nvSpPr>
        <p:spPr>
          <a:xfrm>
            <a:off x="567800" y="878325"/>
            <a:ext cx="11542500" cy="58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RIGHT: Fraction of windows with adjacent lane (has_adjacent_lane):</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chemeClr val="dk1"/>
                </a:solidFill>
                <a:latin typeface="Arial"/>
                <a:ea typeface="Arial"/>
                <a:cs typeface="Arial"/>
                <a:sym typeface="Arial"/>
              </a:rPr>
              <a:t>  </a:t>
            </a:r>
            <a:r>
              <a:rPr b="0" i="0" lang="en-US" sz="1600" u="none" cap="none" strike="noStrike">
                <a:solidFill>
                  <a:schemeClr val="dk1"/>
                </a:solidFill>
                <a:latin typeface="Arial"/>
                <a:ea typeface="Arial"/>
                <a:cs typeface="Arial"/>
                <a:sym typeface="Arial"/>
              </a:rPr>
              <a:t>Noescape slightly HIGHER than recovery  (wrong direction)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p ≈ 0.999 → strongly not significant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Both datasets are on the same multi-lane roads — topology cannot separate them</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600" u="none" cap="none" strike="noStrike">
                <a:solidFill>
                  <a:schemeClr val="dk1"/>
                </a:solidFill>
                <a:latin typeface="Arial"/>
                <a:ea typeface="Arial"/>
                <a:cs typeface="Arial"/>
                <a:sym typeface="Arial"/>
              </a:rPr>
              <a:t>  → This is expected: the topology signal requires obs_singlelane data (not yet collected)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1" i="0" sz="1600" u="none" cap="none" strike="noStrike">
              <a:solidFill>
                <a:schemeClr val="dk1"/>
              </a:solidFill>
              <a:latin typeface="Arial"/>
              <a:ea typeface="Arial"/>
              <a:cs typeface="Arial"/>
              <a:sym typeface="Arial"/>
            </a:endParaRPr>
          </a:p>
        </p:txBody>
      </p:sp>
      <p:pic>
        <p:nvPicPr>
          <p:cNvPr id="330" name="Google Shape;330;g3ef5e7879ea_0_44"/>
          <p:cNvPicPr preferRelativeResize="0"/>
          <p:nvPr/>
        </p:nvPicPr>
        <p:blipFill rotWithShape="1">
          <a:blip r:embed="rId3">
            <a:alphaModFix/>
          </a:blip>
          <a:srcRect b="0" l="0" r="0" t="0"/>
          <a:stretch/>
        </p:blipFill>
        <p:spPr>
          <a:xfrm>
            <a:off x="1269488" y="2632548"/>
            <a:ext cx="8945975" cy="38024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5" name="Shape 335"/>
        <p:cNvGrpSpPr/>
        <p:nvPr/>
      </p:nvGrpSpPr>
      <p:grpSpPr>
        <a:xfrm>
          <a:off x="0" y="0"/>
          <a:ext cx="0" cy="0"/>
          <a:chOff x="0" y="0"/>
          <a:chExt cx="0" cy="0"/>
        </a:xfrm>
      </p:grpSpPr>
      <p:sp>
        <p:nvSpPr>
          <p:cNvPr id="336" name="Google Shape;336;g3ef5e7879ea_0_5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337" name="Google Shape;337;g3ef5e7879ea_0_54"/>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100"/>
              <a:buFont typeface="Arial"/>
              <a:buNone/>
            </a:pPr>
            <a:r>
              <a:rPr b="0" i="0" lang="en-US" sz="4000" u="none" cap="none" strike="noStrike">
                <a:solidFill>
                  <a:srgbClr val="7030A0"/>
                </a:solidFill>
                <a:latin typeface="Play"/>
                <a:ea typeface="Play"/>
                <a:cs typeface="Play"/>
                <a:sym typeface="Play"/>
              </a:rPr>
              <a:t>R3:SINGLE-RUN DEEP DIVE — EVENT TIMELINE</a:t>
            </a:r>
            <a:endParaRPr b="0" i="0" sz="4000" u="none" cap="none" strike="noStrike">
              <a:solidFill>
                <a:srgbClr val="7030A0"/>
              </a:solidFill>
              <a:latin typeface="Play"/>
              <a:ea typeface="Play"/>
              <a:cs typeface="Play"/>
              <a:sym typeface="Play"/>
            </a:endParaRPr>
          </a:p>
        </p:txBody>
      </p:sp>
      <p:sp>
        <p:nvSpPr>
          <p:cNvPr id="338" name="Google Shape;338;g3ef5e7879ea_0_54"/>
          <p:cNvSpPr txBox="1"/>
          <p:nvPr/>
        </p:nvSpPr>
        <p:spPr>
          <a:xfrm>
            <a:off x="567800" y="878325"/>
            <a:ext cx="11542500" cy="1160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What this proves:</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  • </a:t>
            </a:r>
            <a:r>
              <a:rPr b="0" i="0" lang="en-US" sz="1600" u="none" cap="none" strike="noStrike">
                <a:solidFill>
                  <a:schemeClr val="dk1"/>
                </a:solidFill>
                <a:latin typeface="Arial"/>
                <a:ea typeface="Arial"/>
                <a:cs typeface="Arial"/>
                <a:sym typeface="Arial"/>
              </a:rPr>
              <a:t>Signal 3 fires IF AND ONLY IF avoidance is executed — confirming the expected mechanism</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  • The approach phase (obstacle visible, no avoidance) produces NO NLL signal — explains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    why full-run CVaR is diluted; and why windowed detection must be active at maneuver time</a:t>
            </a:r>
            <a:endParaRPr b="0" i="0" sz="1600" u="none" cap="none" strike="noStrike">
              <a:solidFill>
                <a:schemeClr val="dk1"/>
              </a:solidFill>
              <a:latin typeface="Arial"/>
              <a:ea typeface="Arial"/>
              <a:cs typeface="Arial"/>
              <a:sym typeface="Arial"/>
            </a:endParaRPr>
          </a:p>
        </p:txBody>
      </p:sp>
      <p:pic>
        <p:nvPicPr>
          <p:cNvPr id="339" name="Google Shape;339;g3ef5e7879ea_0_54"/>
          <p:cNvPicPr preferRelativeResize="0"/>
          <p:nvPr/>
        </p:nvPicPr>
        <p:blipFill rotWithShape="1">
          <a:blip r:embed="rId3">
            <a:alphaModFix/>
          </a:blip>
          <a:srcRect b="0" l="0" r="0" t="0"/>
          <a:stretch/>
        </p:blipFill>
        <p:spPr>
          <a:xfrm>
            <a:off x="730675" y="2039000"/>
            <a:ext cx="10147722" cy="46824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4" name="Shape 344"/>
        <p:cNvGrpSpPr/>
        <p:nvPr/>
      </p:nvGrpSpPr>
      <p:grpSpPr>
        <a:xfrm>
          <a:off x="0" y="0"/>
          <a:ext cx="0" cy="0"/>
          <a:chOff x="0" y="0"/>
          <a:chExt cx="0" cy="0"/>
        </a:xfrm>
      </p:grpSpPr>
      <p:sp>
        <p:nvSpPr>
          <p:cNvPr id="345" name="Google Shape;345;g3ef5baf9285_0_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346" name="Google Shape;346;g3ef5baf9285_0_0"/>
          <p:cNvSpPr txBox="1"/>
          <p:nvPr/>
        </p:nvSpPr>
        <p:spPr>
          <a:xfrm>
            <a:off x="131134" y="136525"/>
            <a:ext cx="11222700" cy="544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Targeted Control Constraints</a:t>
            </a:r>
            <a:endParaRPr b="0" i="0" sz="1400" u="none" cap="none" strike="noStrike">
              <a:solidFill>
                <a:srgbClr val="000000"/>
              </a:solidFill>
              <a:latin typeface="Arial"/>
              <a:ea typeface="Arial"/>
              <a:cs typeface="Arial"/>
              <a:sym typeface="Arial"/>
            </a:endParaRPr>
          </a:p>
        </p:txBody>
      </p:sp>
      <p:sp>
        <p:nvSpPr>
          <p:cNvPr id="347" name="Google Shape;347;g3ef5baf9285_0_0"/>
          <p:cNvSpPr txBox="1"/>
          <p:nvPr/>
        </p:nvSpPr>
        <p:spPr>
          <a:xfrm>
            <a:off x="567800" y="878325"/>
            <a:ext cx="11542500" cy="5103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chemeClr val="dk1"/>
                </a:solidFill>
                <a:latin typeface="Arial"/>
                <a:ea typeface="Arial"/>
                <a:cs typeface="Arial"/>
                <a:sym typeface="Arial"/>
              </a:rPr>
              <a:t>Strategy:</a:t>
            </a:r>
            <a:r>
              <a:rPr b="0" i="0" lang="en-US" sz="1900" u="none" cap="none" strike="noStrike">
                <a:solidFill>
                  <a:schemeClr val="dk1"/>
                </a:solidFill>
                <a:latin typeface="Arial"/>
                <a:ea typeface="Arial"/>
                <a:cs typeface="Arial"/>
                <a:sym typeface="Arial"/>
              </a:rPr>
              <a:t> Target specific Autoware parameters that directly govern safety margins and reaction capability.</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1. Max Velocity (Tier 1):</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Control: Topic /planning/scenario_planning/max_velocity</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Mechanism: Immediate reduction of speed limit.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Default: ~50 km/h</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Action: Reduce towards 0 based on risk.</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2. Safe Distance Margin (Tier 2):</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Control: Parameter obstacle_cruise.safe_distance_margin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Mechanism: Defines the buffer zone maintained behind obstacles.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Default: 5.0 meters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Action: Expand margin (e.g., 5.0m –&gt; 7.5m).</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3. Lane Keeping Tolerance (Tier 3)</a:t>
            </a:r>
            <a:endParaRPr b="1"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Control: lane_departure_checker.max_lateral_deviation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Default: 2.0 meters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Arial"/>
                <a:ea typeface="Arial"/>
                <a:cs typeface="Arial"/>
                <a:sym typeface="Arial"/>
              </a:rPr>
              <a:t>Action: Tighten (Decrease) to force stricter centering.</a:t>
            </a:r>
            <a:endParaRPr b="0" i="0" sz="1600" u="none" cap="none" strike="noStrike">
              <a:solidFill>
                <a:schemeClr val="dk1"/>
              </a:solidFill>
              <a:latin typeface="Arial"/>
              <a:ea typeface="Arial"/>
              <a:cs typeface="Arial"/>
              <a:sym typeface="Arial"/>
            </a:endParaRPr>
          </a:p>
        </p:txBody>
      </p:sp>
      <p:pic>
        <p:nvPicPr>
          <p:cNvPr descr="A diagram of a traffic light&#10;&#10;AI-generated content may be incorrect." id="348" name="Google Shape;348;g3ef5baf9285_0_0"/>
          <p:cNvPicPr preferRelativeResize="0"/>
          <p:nvPr/>
        </p:nvPicPr>
        <p:blipFill rotWithShape="1">
          <a:blip r:embed="rId3">
            <a:alphaModFix/>
          </a:blip>
          <a:srcRect b="0" l="0" r="0" t="0"/>
          <a:stretch/>
        </p:blipFill>
        <p:spPr>
          <a:xfrm>
            <a:off x="8179125" y="1543300"/>
            <a:ext cx="3771375" cy="37713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3" name="Shape 353"/>
        <p:cNvGrpSpPr/>
        <p:nvPr/>
      </p:nvGrpSpPr>
      <p:grpSpPr>
        <a:xfrm>
          <a:off x="0" y="0"/>
          <a:ext cx="0" cy="0"/>
          <a:chOff x="0" y="0"/>
          <a:chExt cx="0" cy="0"/>
        </a:xfrm>
      </p:grpSpPr>
      <p:sp>
        <p:nvSpPr>
          <p:cNvPr id="354" name="Google Shape;354;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355" name="Google Shape;355;p27"/>
          <p:cNvSpPr txBox="1"/>
          <p:nvPr/>
        </p:nvSpPr>
        <p:spPr>
          <a:xfrm>
            <a:off x="131134" y="136525"/>
            <a:ext cx="11222666" cy="544512"/>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7030A0"/>
              </a:buClr>
              <a:buSzPts val="4000"/>
              <a:buFont typeface="Play"/>
              <a:buNone/>
            </a:pPr>
            <a:r>
              <a:rPr b="0" i="0" lang="en-US" sz="4000" u="none" cap="none" strike="noStrike">
                <a:solidFill>
                  <a:srgbClr val="7030A0"/>
                </a:solidFill>
                <a:latin typeface="Play"/>
                <a:ea typeface="Play"/>
                <a:cs typeface="Play"/>
                <a:sym typeface="Play"/>
              </a:rPr>
              <a:t>From Risk to Action (The Optimization Problem)</a:t>
            </a:r>
            <a:endParaRPr b="0" i="0" sz="1400" u="none" cap="none" strike="noStrike">
              <a:solidFill>
                <a:srgbClr val="000000"/>
              </a:solidFill>
              <a:latin typeface="Arial"/>
              <a:ea typeface="Arial"/>
              <a:cs typeface="Arial"/>
              <a:sym typeface="Arial"/>
            </a:endParaRPr>
          </a:p>
        </p:txBody>
      </p:sp>
      <p:sp>
        <p:nvSpPr>
          <p:cNvPr id="356" name="Google Shape;356;p27"/>
          <p:cNvSpPr txBox="1"/>
          <p:nvPr/>
        </p:nvSpPr>
        <p:spPr>
          <a:xfrm>
            <a:off x="825100" y="1029150"/>
            <a:ext cx="10956900" cy="5234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700"/>
              <a:buFont typeface="Arial"/>
              <a:buNone/>
            </a:pPr>
            <a:r>
              <a:rPr b="1" i="0" lang="en-US" sz="1700" u="none" cap="none" strike="noStrike">
                <a:solidFill>
                  <a:schemeClr val="dk1"/>
                </a:solidFill>
                <a:latin typeface="Arial"/>
                <a:ea typeface="Arial"/>
                <a:cs typeface="Arial"/>
                <a:sym typeface="Arial"/>
              </a:rPr>
              <a:t>What are we solving?</a:t>
            </a:r>
            <a:r>
              <a:rPr b="0" i="0" lang="en-US" sz="1700" u="none" cap="none" strike="noStrike">
                <a:solidFill>
                  <a:schemeClr val="dk1"/>
                </a:solidFill>
                <a:latin typeface="Arial"/>
                <a:ea typeface="Arial"/>
                <a:cs typeface="Arial"/>
                <a:sym typeface="Arial"/>
              </a:rPr>
              <a:t> We aim to minimize efficiency loss (time to complete mission) while strictly bounding the probability of failure.</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chemeClr val="dk1"/>
                </a:solidFill>
                <a:latin typeface="Arial"/>
                <a:ea typeface="Arial"/>
                <a:cs typeface="Arial"/>
                <a:sym typeface="Arial"/>
              </a:rPr>
              <a:t>Objective Function: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chemeClr val="dk1"/>
                </a:solidFill>
                <a:latin typeface="Arial"/>
                <a:ea typeface="Arial"/>
                <a:cs typeface="Arial"/>
                <a:sym typeface="Arial"/>
              </a:rPr>
              <a:t>The Mapping Strategy: We assume pure learning is unsafe and pure physics is too conservative.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US" sz="1700" u="none" cap="none" strike="noStrike">
                <a:solidFill>
                  <a:schemeClr val="dk1"/>
                </a:solidFill>
                <a:latin typeface="Arial"/>
                <a:ea typeface="Arial"/>
                <a:cs typeface="Arial"/>
                <a:sym typeface="Arial"/>
              </a:rPr>
              <a:t>Physics Floor: Guarantees absolute safety bounds (e.g., stopping distance never violates physics).</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US" sz="1700" u="none" cap="none" strike="noStrike">
                <a:solidFill>
                  <a:schemeClr val="dk1"/>
                </a:solidFill>
                <a:latin typeface="Arial"/>
                <a:ea typeface="Arial"/>
                <a:cs typeface="Arial"/>
                <a:sym typeface="Arial"/>
              </a:rPr>
              <a:t>CVaR Sensitivity: As residuals variance or bias increases, </a:t>
            </a:r>
            <a:r>
              <a:rPr b="0" i="1" lang="en-US" sz="1700" u="none" cap="none" strike="noStrike">
                <a:solidFill>
                  <a:schemeClr val="dk1"/>
                </a:solidFill>
                <a:latin typeface="Arial"/>
                <a:ea typeface="Arial"/>
                <a:cs typeface="Arial"/>
                <a:sym typeface="Arial"/>
              </a:rPr>
              <a:t>gamma</a:t>
            </a:r>
            <a:r>
              <a:rPr b="0" i="0" lang="en-US" sz="1700" u="none" cap="none" strike="noStrike">
                <a:solidFill>
                  <a:schemeClr val="dk1"/>
                </a:solidFill>
                <a:latin typeface="Arial"/>
                <a:ea typeface="Arial"/>
                <a:cs typeface="Arial"/>
                <a:sym typeface="Arial"/>
              </a:rPr>
              <a:t> scales up non-linearly, reacting aggressively to high-risk outliers (tail events) before the average error becomes critical.</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US" sz="1700" u="none" cap="none" strike="noStrike">
                <a:solidFill>
                  <a:schemeClr val="dk1"/>
                </a:solidFill>
                <a:latin typeface="Arial"/>
                <a:ea typeface="Arial"/>
                <a:cs typeface="Arial"/>
                <a:sym typeface="Arial"/>
              </a:rPr>
              <a:t>Assumption: High residuals in the Digital Twin consistently correlate with increased real-world uncertainty/risk.</a:t>
            </a:r>
            <a:endParaRPr b="0" i="0" sz="1700" u="none" cap="none" strike="noStrike">
              <a:solidFill>
                <a:schemeClr val="dk1"/>
              </a:solidFill>
              <a:latin typeface="Arial"/>
              <a:ea typeface="Arial"/>
              <a:cs typeface="Arial"/>
              <a:sym typeface="Arial"/>
            </a:endParaRPr>
          </a:p>
        </p:txBody>
      </p:sp>
      <p:pic>
        <p:nvPicPr>
          <p:cNvPr id="357" name="Google Shape;357;p27"/>
          <p:cNvPicPr preferRelativeResize="0"/>
          <p:nvPr/>
        </p:nvPicPr>
        <p:blipFill rotWithShape="1">
          <a:blip r:embed="rId3">
            <a:alphaModFix/>
          </a:blip>
          <a:srcRect b="20691" l="0" r="0" t="0"/>
          <a:stretch/>
        </p:blipFill>
        <p:spPr>
          <a:xfrm>
            <a:off x="2831700" y="1722675"/>
            <a:ext cx="4894399" cy="544500"/>
          </a:xfrm>
          <a:prstGeom prst="rect">
            <a:avLst/>
          </a:prstGeom>
          <a:noFill/>
          <a:ln>
            <a:noFill/>
          </a:ln>
        </p:spPr>
      </p:pic>
      <p:pic>
        <p:nvPicPr>
          <p:cNvPr id="358" name="Google Shape;358;p27"/>
          <p:cNvPicPr preferRelativeResize="0"/>
          <p:nvPr/>
        </p:nvPicPr>
        <p:blipFill rotWithShape="1">
          <a:blip r:embed="rId4">
            <a:alphaModFix/>
          </a:blip>
          <a:srcRect b="0" l="0" r="0" t="0"/>
          <a:stretch/>
        </p:blipFill>
        <p:spPr>
          <a:xfrm>
            <a:off x="2661113" y="2890038"/>
            <a:ext cx="6162675" cy="1257300"/>
          </a:xfrm>
          <a:prstGeom prst="rect">
            <a:avLst/>
          </a:prstGeom>
          <a:noFill/>
          <a:ln>
            <a:noFill/>
          </a:ln>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600">
                <a:solidFill>
                  <a:srgbClr val="7030A0"/>
                </a:solidFill>
                <a:latin typeface="Play"/>
              </a:rPr>
              <a:t>Since last meeting: the story in one slide</a:t>
            </a:r>
          </a:p>
        </p:txBody>
      </p:sp>
      <p:sp>
        <p:nvSpPr>
          <p:cNvPr id="169" name="TextBox 168"/>
          <p:cNvSpPr txBox="1"/>
          <p:nvPr/>
        </p:nvSpPr>
        <p:spPr>
          <a:xfrm>
            <a:off x="713232" y="914400"/>
            <a:ext cx="10899648" cy="5120640"/>
          </a:xfrm>
          <a:prstGeom prst="rect">
            <a:avLst/>
          </a:prstGeom>
          <a:noFill/>
        </p:spPr>
        <p:txBody>
          <a:bodyPr wrap="square">
            <a:spAutoFit/>
          </a:bodyPr>
          <a:lstStyle/>
          <a:p>
            <a:r>
              <a:rPr sz="1900" b="1">
                <a:solidFill>
                  <a:srgbClr val="1B1B1B"/>
                </a:solidFill>
                <a:latin typeface="Arial"/>
              </a:rPr>
              <a:t>Risk: </a:t>
            </a:r>
            <a:r>
              <a:rPr sz="1900" b="0">
                <a:solidFill>
                  <a:srgbClr val="1B1B1B"/>
                </a:solidFill>
                <a:latin typeface="Arial"/>
              </a:rPr>
              <a:t>sensor faults that corrupt the vehicle's own state estimate (IMU faults so far).</a:t>
            </a:r>
          </a:p>
          <a:p>
            <a:r>
              <a:rPr sz="1900" b="0">
                <a:solidFill>
                  <a:srgbClr val="1B1B1B"/>
                </a:solidFill>
                <a:latin typeface="Arial"/>
              </a:rPr>
              <a:t/>
            </a:r>
          </a:p>
          <a:p>
            <a:r>
              <a:rPr sz="1900" b="1">
                <a:solidFill>
                  <a:srgbClr val="1B1B1B"/>
                </a:solidFill>
                <a:latin typeface="Arial"/>
              </a:rPr>
              <a:t>Two failure modes today:</a:t>
            </a:r>
          </a:p>
          <a:p>
            <a:r>
              <a:rPr sz="1900" b="0">
                <a:solidFill>
                  <a:srgbClr val="1B1B1B"/>
                </a:solidFill>
                <a:latin typeface="Arial"/>
              </a:rPr>
              <a:t>  → Silent: the stack never notices. In our data Autoware's estimate stayed in lane while the real car left the road (4 departures).</a:t>
            </a:r>
          </a:p>
          <a:p>
            <a:r>
              <a:rPr sz="1900" b="0">
                <a:solidFill>
                  <a:srgbClr val="1B1B1B"/>
                </a:solidFill>
                <a:latin typeface="Arial"/>
              </a:rPr>
              <a:t>  → Detected: the default response is to stop (MRC). Safe, but the vehicle stops for faults that would not have mattered.</a:t>
            </a:r>
          </a:p>
          <a:p>
            <a:r>
              <a:rPr sz="1900" b="0">
                <a:solidFill>
                  <a:srgbClr val="1B1B1B"/>
                </a:solidFill>
                <a:latin typeface="Arial"/>
              </a:rPr>
              <a:t/>
            </a:r>
          </a:p>
          <a:p>
            <a:r>
              <a:rPr sz="1900" b="1">
                <a:solidFill>
                  <a:srgbClr val="1B1B1B"/>
                </a:solidFill>
                <a:latin typeface="Arial"/>
              </a:rPr>
              <a:t>Our approach, reading only what the stack already publishes:</a:t>
            </a:r>
          </a:p>
          <a:p>
            <a:r>
              <a:rPr sz="1900" b="0">
                <a:solidFill>
                  <a:srgbClr val="1B1B1B"/>
                </a:solidFill>
                <a:latin typeface="Arial"/>
              </a:rPr>
              <a:t>  1. Learn how the stack's estimates normally agree with the vehicle's own reports (consistency), nominal data only.</a:t>
            </a:r>
          </a:p>
          <a:p>
            <a:r>
              <a:rPr sz="1900" b="0">
                <a:solidFill>
                  <a:srgbClr val="1B1B1B"/>
                </a:solidFill>
                <a:latin typeface="Arial"/>
              </a:rPr>
              <a:t>  2. Calibrated disagreement → WHEN the state is off, HOW MUCH, WHICH WAY (a pose-error estimate).</a:t>
            </a:r>
          </a:p>
          <a:p>
            <a:r>
              <a:rPr sz="1900" b="0">
                <a:solidFill>
                  <a:srgbClr val="1B1B1B"/>
                </a:solidFill>
                <a:latin typeface="Arial"/>
              </a:rPr>
              <a:t>  3. Layer 2: move the predicted futures by that error, check them against the map → P(violation).</a:t>
            </a:r>
          </a:p>
          <a:p>
            <a:r>
              <a:rPr sz="1900" b="0">
                <a:solidFill>
                  <a:srgbClr val="1B1B1B"/>
                </a:solidFill>
                <a:latin typeface="Arial"/>
              </a:rPr>
              <a:t>  4. Same estimate → a correction: correct and continue; stop only when it cannot be corrected.</a:t>
            </a:r>
          </a:p>
          <a:p>
            <a:r>
              <a:rPr sz="1900" b="0">
                <a:solidFill>
                  <a:srgbClr val="1B1B1B"/>
                </a:solidFill>
                <a:latin typeface="Arial"/>
              </a:rPr>
              <a:t/>
            </a:r>
          </a:p>
          <a:p>
            <a:r>
              <a:rPr sz="1900" b="1">
                <a:solidFill>
                  <a:srgbClr val="1B1B1B"/>
                </a:solidFill>
                <a:latin typeface="Arial"/>
              </a:rPr>
              <a:t>Status: </a:t>
            </a:r>
            <a:r>
              <a:rPr sz="1900" b="0">
                <a:solidFill>
                  <a:srgbClr val="1B1B1B"/>
                </a:solidFill>
                <a:latin typeface="Arial"/>
              </a:rPr>
              <a:t>1–3 done; 4 tested offline against AWSIM ground truth; closed loop is next.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Model inputs: what, where from, what it means</a:t>
            </a:r>
          </a:p>
        </p:txBody>
      </p:sp>
      <p:graphicFrame>
        <p:nvGraphicFramePr>
          <p:cNvPr id="169" name="Table 168"/>
          <p:cNvGraphicFramePr>
            <a:graphicFrameLocks noGrp="1"/>
          </p:cNvGraphicFramePr>
          <p:nvPr/>
        </p:nvGraphicFramePr>
        <p:xfrm>
          <a:off x="713232" y="868680"/>
          <a:ext cx="10991087" cy="4992624"/>
        </p:xfrm>
        <a:graphic>
          <a:graphicData uri="http://schemas.openxmlformats.org/drawingml/2006/table">
            <a:tbl>
              <a:tblPr firstRow="1" bandRow="1">
                <a:tableStyleId>{5C22544A-7EE6-4342-B048-85BDC9FD1C3A}</a:tableStyleId>
              </a:tblPr>
              <a:tblGrid>
                <a:gridCol w="1570155"/>
                <a:gridCol w="2691695"/>
                <a:gridCol w="3005726"/>
                <a:gridCol w="3723511"/>
              </a:tblGrid>
              <a:tr h="384048">
                <a:tc>
                  <a:txBody>
                    <a:bodyPr wrap="square"/>
                    <a:lstStyle/>
                    <a:p>
                      <a:r>
                        <a:rPr sz="1200" b="1">
                          <a:solidFill>
                            <a:srgbClr val="1B1B1B"/>
                          </a:solidFill>
                          <a:latin typeface="Arial"/>
                        </a:rPr>
                        <a:t>Group</a:t>
                      </a:r>
                    </a:p>
                  </a:txBody>
                  <a:tcPr marL="54864" marR="54864" marT="27432" marB="27432" anchor="ctr">
                    <a:solidFill>
                      <a:srgbClr val="E8DFF2"/>
                    </a:solidFill>
                  </a:tcPr>
                </a:tc>
                <a:tc>
                  <a:txBody>
                    <a:bodyPr wrap="square"/>
                    <a:lstStyle/>
                    <a:p>
                      <a:r>
                        <a:rPr sz="1200" b="1">
                          <a:solidFill>
                            <a:srgbClr val="1B1B1B"/>
                          </a:solidFill>
                          <a:latin typeface="Arial"/>
                        </a:rPr>
                        <a:t>Input (dims)</a:t>
                      </a:r>
                    </a:p>
                  </a:txBody>
                  <a:tcPr marL="54864" marR="54864" marT="27432" marB="27432" anchor="ctr">
                    <a:solidFill>
                      <a:srgbClr val="E8DFF2"/>
                    </a:solidFill>
                  </a:tcPr>
                </a:tc>
                <a:tc>
                  <a:txBody>
                    <a:bodyPr wrap="square"/>
                    <a:lstStyle/>
                    <a:p>
                      <a:r>
                        <a:rPr sz="1200" b="1">
                          <a:solidFill>
                            <a:srgbClr val="1B1B1B"/>
                          </a:solidFill>
                          <a:latin typeface="Arial"/>
                        </a:rPr>
                        <a:t>Source (ROS topic)</a:t>
                      </a:r>
                    </a:p>
                  </a:txBody>
                  <a:tcPr marL="54864" marR="54864" marT="27432" marB="27432" anchor="ctr">
                    <a:solidFill>
                      <a:srgbClr val="E8DFF2"/>
                    </a:solidFill>
                  </a:tcPr>
                </a:tc>
                <a:tc>
                  <a:txBody>
                    <a:bodyPr wrap="square"/>
                    <a:lstStyle/>
                    <a:p>
                      <a:r>
                        <a:rPr sz="1200" b="1">
                          <a:solidFill>
                            <a:srgbClr val="1B1B1B"/>
                          </a:solidFill>
                          <a:latin typeface="Arial"/>
                        </a:rPr>
                        <a:t>What it signifies</a:t>
                      </a:r>
                    </a:p>
                  </a:txBody>
                  <a:tcPr marL="54864" marR="54864" marT="27432" marB="27432" anchor="ctr">
                    <a:solidFill>
                      <a:srgbClr val="E8DFF2"/>
                    </a:solidFill>
                  </a:tcPr>
                </a:tc>
              </a:tr>
              <a:tr h="384048">
                <a:tc>
                  <a:txBody>
                    <a:bodyPr wrap="square"/>
                    <a:lstStyle/>
                    <a:p>
                      <a:r>
                        <a:rPr sz="1200" b="0">
                          <a:solidFill>
                            <a:srgbClr val="1B1B1B"/>
                          </a:solidFill>
                          <a:latin typeface="Arial"/>
                        </a:rPr>
                        <a:t>Ego motion</a:t>
                      </a:r>
                    </a:p>
                  </a:txBody>
                  <a:tcPr marL="54864" marR="54864" marT="27432" marB="27432" anchor="ctr">
                    <a:solidFill>
                      <a:srgbClr val="FFFFFF"/>
                    </a:solidFill>
                  </a:tcPr>
                </a:tc>
                <a:tc>
                  <a:txBody>
                    <a:bodyPr wrap="square"/>
                    <a:lstStyle/>
                    <a:p>
                      <a:r>
                        <a:rPr sz="1200" b="0">
                          <a:solidFill>
                            <a:srgbClr val="1B1B1B"/>
                          </a:solidFill>
                          <a:latin typeface="Arial"/>
                        </a:rPr>
                        <a:t>position x, y (2)</a:t>
                      </a:r>
                    </a:p>
                  </a:txBody>
                  <a:tcPr marL="54864" marR="54864" marT="27432" marB="27432" anchor="ctr">
                    <a:solidFill>
                      <a:srgbClr val="FFFFFF"/>
                    </a:solidFill>
                  </a:tcPr>
                </a:tc>
                <a:tc>
                  <a:txBody>
                    <a:bodyPr wrap="square"/>
                    <a:lstStyle/>
                    <a:p>
                      <a:r>
                        <a:rPr sz="1200" b="0">
                          <a:solidFill>
                            <a:srgbClr val="1B1B1B"/>
                          </a:solidFill>
                          <a:latin typeface="Arial"/>
                        </a:rPr>
                        <a:t>/localization/kinematic_state (EKF pose)</a:t>
                      </a:r>
                    </a:p>
                  </a:txBody>
                  <a:tcPr marL="54864" marR="54864" marT="27432" marB="27432" anchor="ctr">
                    <a:solidFill>
                      <a:srgbClr val="FFFFFF"/>
                    </a:solidFill>
                  </a:tcPr>
                </a:tc>
                <a:tc>
                  <a:txBody>
                    <a:bodyPr wrap="square"/>
                    <a:lstStyle/>
                    <a:p>
                      <a:r>
                        <a:rPr sz="1200" b="0">
                          <a:solidFill>
                            <a:srgbClr val="1B1B1B"/>
                          </a:solidFill>
                          <a:latin typeface="Arial"/>
                        </a:rPr>
                        <a:t>Where the stack BELIEVES the car has been; corrupted by localization faults</a:t>
                      </a:r>
                    </a:p>
                  </a:txBody>
                  <a:tcPr marL="54864" marR="54864" marT="27432" marB="27432" anchor="ctr">
                    <a:solidFill>
                      <a:srgbClr val="FFFFFF"/>
                    </a:solidFill>
                  </a:tcPr>
                </a:tc>
              </a:tr>
              <a:tr h="384048">
                <a:tc>
                  <a:txBody>
                    <a:bodyPr wrap="square"/>
                    <a:lstStyle/>
                    <a:p>
                      <a:r>
                        <a:rPr sz="1200" b="0">
                          <a:solidFill>
                            <a:srgbClr val="1B1B1B"/>
                          </a:solidFill>
                          <a:latin typeface="Arial"/>
                        </a:rPr>
                        <a:t/>
                      </a:r>
                    </a:p>
                  </a:txBody>
                  <a:tcPr marL="54864" marR="54864" marT="27432" marB="27432" anchor="ctr">
                    <a:solidFill>
                      <a:srgbClr val="FFFFFF"/>
                    </a:solidFill>
                  </a:tcPr>
                </a:tc>
                <a:tc>
                  <a:txBody>
                    <a:bodyPr wrap="square"/>
                    <a:lstStyle/>
                    <a:p>
                      <a:r>
                        <a:rPr sz="1200" b="0">
                          <a:solidFill>
                            <a:srgbClr val="1B1B1B"/>
                          </a:solidFill>
                          <a:latin typeface="Arial"/>
                        </a:rPr>
                        <a:t>velocity: along, across (2)</a:t>
                      </a:r>
                    </a:p>
                  </a:txBody>
                  <a:tcPr marL="54864" marR="54864" marT="27432" marB="27432" anchor="ctr">
                    <a:solidFill>
                      <a:srgbClr val="FFFFFF"/>
                    </a:solidFill>
                  </a:tcPr>
                </a:tc>
                <a:tc>
                  <a:txBody>
                    <a:bodyPr wrap="square"/>
                    <a:lstStyle/>
                    <a:p>
                      <a:r>
                        <a:rPr sz="1200" b="0">
                          <a:solidFill>
                            <a:srgbClr val="1B1B1B"/>
                          </a:solidFill>
                          <a:latin typeface="Arial"/>
                        </a:rPr>
                        <a:t>/vehicle/status/velocity_status</a:t>
                      </a:r>
                    </a:p>
                  </a:txBody>
                  <a:tcPr marL="54864" marR="54864" marT="27432" marB="27432" anchor="ctr">
                    <a:solidFill>
                      <a:srgbClr val="FFFFFF"/>
                    </a:solidFill>
                  </a:tcPr>
                </a:tc>
                <a:tc>
                  <a:txBody>
                    <a:bodyPr wrap="square"/>
                    <a:lstStyle/>
                    <a:p>
                      <a:r>
                        <a:rPr sz="1200" b="0">
                          <a:solidFill>
                            <a:srgbClr val="1B1B1B"/>
                          </a:solidFill>
                          <a:latin typeface="Arial"/>
                        </a:rPr>
                        <a:t>How the vehicle itself reports it moved; independent of localization</a:t>
                      </a:r>
                    </a:p>
                  </a:txBody>
                  <a:tcPr marL="54864" marR="54864" marT="27432" marB="27432" anchor="ctr">
                    <a:solidFill>
                      <a:srgbClr val="FFFFFF"/>
                    </a:solidFill>
                  </a:tcPr>
                </a:tc>
              </a:tr>
              <a:tr h="384048">
                <a:tc>
                  <a:txBody>
                    <a:bodyPr wrap="square"/>
                    <a:lstStyle/>
                    <a:p>
                      <a:r>
                        <a:rPr sz="1200" b="0">
                          <a:solidFill>
                            <a:srgbClr val="1B1B1B"/>
                          </a:solidFill>
                          <a:latin typeface="Arial"/>
                        </a:rPr>
                        <a:t/>
                      </a:r>
                    </a:p>
                  </a:txBody>
                  <a:tcPr marL="54864" marR="54864" marT="27432" marB="27432" anchor="ctr">
                    <a:solidFill>
                      <a:srgbClr val="FFFFFF"/>
                    </a:solidFill>
                  </a:tcPr>
                </a:tc>
                <a:tc>
                  <a:txBody>
                    <a:bodyPr wrap="square"/>
                    <a:lstStyle/>
                    <a:p>
                      <a:r>
                        <a:rPr sz="1200" b="0">
                          <a:solidFill>
                            <a:srgbClr val="1B1B1B"/>
                          </a:solidFill>
                          <a:latin typeface="Arial"/>
                        </a:rPr>
                        <a:t>steering (1)</a:t>
                      </a:r>
                    </a:p>
                  </a:txBody>
                  <a:tcPr marL="54864" marR="54864" marT="27432" marB="27432" anchor="ctr">
                    <a:solidFill>
                      <a:srgbClr val="FFFFFF"/>
                    </a:solidFill>
                  </a:tcPr>
                </a:tc>
                <a:tc>
                  <a:txBody>
                    <a:bodyPr wrap="square"/>
                    <a:lstStyle/>
                    <a:p>
                      <a:r>
                        <a:rPr sz="1200" b="0">
                          <a:solidFill>
                            <a:srgbClr val="1B1B1B"/>
                          </a:solidFill>
                          <a:latin typeface="Arial"/>
                        </a:rPr>
                        <a:t>/vehicle/status/steering_status</a:t>
                      </a:r>
                    </a:p>
                  </a:txBody>
                  <a:tcPr marL="54864" marR="54864" marT="27432" marB="27432" anchor="ctr">
                    <a:solidFill>
                      <a:srgbClr val="FFFFFF"/>
                    </a:solidFill>
                  </a:tcPr>
                </a:tc>
                <a:tc>
                  <a:txBody>
                    <a:bodyPr wrap="square"/>
                    <a:lstStyle/>
                    <a:p>
                      <a:r>
                        <a:rPr sz="1200" b="0">
                          <a:solidFill>
                            <a:srgbClr val="1B1B1B"/>
                          </a:solidFill>
                          <a:latin typeface="Arial"/>
                        </a:rPr>
                        <a:t>Measured steering angle</a:t>
                      </a:r>
                    </a:p>
                  </a:txBody>
                  <a:tcPr marL="54864" marR="54864" marT="27432" marB="27432" anchor="ctr">
                    <a:solidFill>
                      <a:srgbClr val="FFFFFF"/>
                    </a:solidFill>
                  </a:tcPr>
                </a:tc>
              </a:tr>
              <a:tr h="384048">
                <a:tc>
                  <a:txBody>
                    <a:bodyPr wrap="square"/>
                    <a:lstStyle/>
                    <a:p>
                      <a:r>
                        <a:rPr sz="1200" b="0">
                          <a:solidFill>
                            <a:srgbClr val="1B1B1B"/>
                          </a:solidFill>
                          <a:latin typeface="Arial"/>
                        </a:rPr>
                        <a:t/>
                      </a:r>
                    </a:p>
                  </a:txBody>
                  <a:tcPr marL="54864" marR="54864" marT="27432" marB="27432" anchor="ctr">
                    <a:solidFill>
                      <a:srgbClr val="FFFFFF"/>
                    </a:solidFill>
                  </a:tcPr>
                </a:tc>
                <a:tc>
                  <a:txBody>
                    <a:bodyPr wrap="square"/>
                    <a:lstStyle/>
                    <a:p>
                      <a:r>
                        <a:rPr sz="1200" b="0">
                          <a:solidFill>
                            <a:srgbClr val="1B1B1B"/>
                          </a:solidFill>
                          <a:latin typeface="Arial"/>
                        </a:rPr>
                        <a:t>acceleration (1)</a:t>
                      </a:r>
                    </a:p>
                  </a:txBody>
                  <a:tcPr marL="54864" marR="54864" marT="27432" marB="27432" anchor="ctr">
                    <a:solidFill>
                      <a:srgbClr val="FFFFFF"/>
                    </a:solidFill>
                  </a:tcPr>
                </a:tc>
                <a:tc>
                  <a:txBody>
                    <a:bodyPr wrap="square"/>
                    <a:lstStyle/>
                    <a:p>
                      <a:r>
                        <a:rPr sz="1200" b="0">
                          <a:solidFill>
                            <a:srgbClr val="1B1B1B"/>
                          </a:solidFill>
                          <a:latin typeface="Arial"/>
                        </a:rPr>
                        <a:t>/control/command/control_cmd</a:t>
                      </a:r>
                    </a:p>
                  </a:txBody>
                  <a:tcPr marL="54864" marR="54864" marT="27432" marB="27432" anchor="ctr">
                    <a:solidFill>
                      <a:srgbClr val="FFFFFF"/>
                    </a:solidFill>
                  </a:tcPr>
                </a:tc>
                <a:tc>
                  <a:txBody>
                    <a:bodyPr wrap="square"/>
                    <a:lstStyle/>
                    <a:p>
                      <a:r>
                        <a:rPr sz="1200" b="0">
                          <a:solidFill>
                            <a:srgbClr val="1B1B1B"/>
                          </a:solidFill>
                          <a:latin typeface="Arial"/>
                        </a:rPr>
                        <a:t>What the controller asked for</a:t>
                      </a:r>
                    </a:p>
                  </a:txBody>
                  <a:tcPr marL="54864" marR="54864" marT="27432" marB="27432" anchor="ctr">
                    <a:solidFill>
                      <a:srgbClr val="FFFFFF"/>
                    </a:solidFill>
                  </a:tcPr>
                </a:tc>
              </a:tr>
              <a:tr h="384048">
                <a:tc>
                  <a:txBody>
                    <a:bodyPr wrap="square"/>
                    <a:lstStyle/>
                    <a:p>
                      <a:r>
                        <a:rPr sz="1200" b="0">
                          <a:solidFill>
                            <a:srgbClr val="1B1B1B"/>
                          </a:solidFill>
                          <a:latin typeface="Arial"/>
                        </a:rPr>
                        <a:t>Self-reported confidence</a:t>
                      </a:r>
                    </a:p>
                  </a:txBody>
                  <a:tcPr marL="54864" marR="54864" marT="27432" marB="27432" anchor="ctr">
                    <a:solidFill>
                      <a:srgbClr val="FFFFFF"/>
                    </a:solidFill>
                  </a:tcPr>
                </a:tc>
                <a:tc>
                  <a:txBody>
                    <a:bodyPr wrap="square"/>
                    <a:lstStyle/>
                    <a:p>
                      <a:r>
                        <a:rPr sz="1200" b="0">
                          <a:solidFill>
                            <a:srgbClr val="1B1B1B"/>
                          </a:solidFill>
                          <a:latin typeface="Arial"/>
                        </a:rPr>
                        <a:t>EKF position variance x, y (2)</a:t>
                      </a:r>
                    </a:p>
                  </a:txBody>
                  <a:tcPr marL="54864" marR="54864" marT="27432" marB="27432" anchor="ctr">
                    <a:solidFill>
                      <a:srgbClr val="FFFFFF"/>
                    </a:solidFill>
                  </a:tcPr>
                </a:tc>
                <a:tc>
                  <a:txBody>
                    <a:bodyPr wrap="square"/>
                    <a:lstStyle/>
                    <a:p>
                      <a:r>
                        <a:rPr sz="1200" b="0">
                          <a:solidFill>
                            <a:srgbClr val="1B1B1B"/>
                          </a:solidFill>
                          <a:latin typeface="Arial"/>
                        </a:rPr>
                        <a:t>/localization/pose_with_covariance</a:t>
                      </a:r>
                    </a:p>
                  </a:txBody>
                  <a:tcPr marL="54864" marR="54864" marT="27432" marB="27432" anchor="ctr">
                    <a:solidFill>
                      <a:srgbClr val="FFFFFF"/>
                    </a:solidFill>
                  </a:tcPr>
                </a:tc>
                <a:tc>
                  <a:txBody>
                    <a:bodyPr wrap="square"/>
                    <a:lstStyle/>
                    <a:p>
                      <a:r>
                        <a:rPr sz="1200" b="0">
                          <a:solidFill>
                            <a:srgbClr val="1B1B1B"/>
                          </a:solidFill>
                          <a:latin typeface="Arial"/>
                        </a:rPr>
                        <a:t>How sure the stack SAYS it is about its position</a:t>
                      </a:r>
                    </a:p>
                  </a:txBody>
                  <a:tcPr marL="54864" marR="54864" marT="27432" marB="27432" anchor="ctr">
                    <a:solidFill>
                      <a:srgbClr val="FFFFFF"/>
                    </a:solidFill>
                  </a:tcPr>
                </a:tc>
              </a:tr>
              <a:tr h="384048">
                <a:tc>
                  <a:txBody>
                    <a:bodyPr wrap="square"/>
                    <a:lstStyle/>
                    <a:p>
                      <a:r>
                        <a:rPr sz="1200" b="1">
                          <a:solidFill>
                            <a:srgbClr val="1B1B1B"/>
                          </a:solidFill>
                          <a:latin typeface="Arial"/>
                        </a:rPr>
                        <a:t>Consistency (new)</a:t>
                      </a:r>
                    </a:p>
                  </a:txBody>
                  <a:tcPr marL="54864" marR="54864" marT="27432" marB="27432" anchor="ctr">
                    <a:solidFill>
                      <a:srgbClr val="FFF1E0"/>
                    </a:solidFill>
                  </a:tcPr>
                </a:tc>
                <a:tc>
                  <a:txBody>
                    <a:bodyPr wrap="square"/>
                    <a:lstStyle/>
                    <a:p>
                      <a:r>
                        <a:rPr sz="1200" b="0">
                          <a:solidFill>
                            <a:srgbClr val="1B1B1B"/>
                          </a:solidFill>
                          <a:latin typeface="Arial"/>
                        </a:rPr>
                        <a:t>5 gaps (also predicted)</a:t>
                      </a:r>
                    </a:p>
                  </a:txBody>
                  <a:tcPr marL="54864" marR="54864" marT="27432" marB="27432" anchor="ctr">
                    <a:solidFill>
                      <a:srgbClr val="FFF1E0"/>
                    </a:solidFill>
                  </a:tcPr>
                </a:tc>
                <a:tc>
                  <a:txBody>
                    <a:bodyPr wrap="square"/>
                    <a:lstStyle/>
                    <a:p>
                      <a:r>
                        <a:rPr sz="1200" b="0">
                          <a:solidFill>
                            <a:srgbClr val="1B1B1B"/>
                          </a:solidFill>
                          <a:latin typeface="Arial"/>
                        </a:rPr>
                        <a:t>kinematic_state vs velocity_status</a:t>
                      </a:r>
                    </a:p>
                  </a:txBody>
                  <a:tcPr marL="54864" marR="54864" marT="27432" marB="27432" anchor="ctr">
                    <a:solidFill>
                      <a:srgbClr val="FFF1E0"/>
                    </a:solidFill>
                  </a:tcPr>
                </a:tc>
                <a:tc>
                  <a:txBody>
                    <a:bodyPr wrap="square"/>
                    <a:lstStyle/>
                    <a:p>
                      <a:r>
                        <a:rPr sz="1200" b="0">
                          <a:solidFill>
                            <a:srgbClr val="1B1B1B"/>
                          </a:solidFill>
                          <a:latin typeface="Arial"/>
                        </a:rPr>
                        <a:t>Do the stack's estimates agree with the vehicle's reports? (next slide)</a:t>
                      </a:r>
                    </a:p>
                  </a:txBody>
                  <a:tcPr marL="54864" marR="54864" marT="27432" marB="27432" anchor="ctr">
                    <a:solidFill>
                      <a:srgbClr val="FFF1E0"/>
                    </a:solidFill>
                  </a:tcPr>
                </a:tc>
              </a:tr>
              <a:tr h="384048">
                <a:tc>
                  <a:txBody>
                    <a:bodyPr wrap="square"/>
                    <a:lstStyle/>
                    <a:p>
                      <a:r>
                        <a:rPr sz="1200" b="1">
                          <a:solidFill>
                            <a:srgbClr val="1B1B1B"/>
                          </a:solidFill>
                          <a:latin typeface="Arial"/>
                        </a:rPr>
                        <a:t>Localization health (new)</a:t>
                      </a:r>
                    </a:p>
                  </a:txBody>
                  <a:tcPr marL="54864" marR="54864" marT="27432" marB="27432" anchor="ctr">
                    <a:solidFill>
                      <a:srgbClr val="FFF1E0"/>
                    </a:solidFill>
                  </a:tcPr>
                </a:tc>
                <a:tc>
                  <a:txBody>
                    <a:bodyPr wrap="square"/>
                    <a:lstStyle/>
                    <a:p>
                      <a:r>
                        <a:rPr sz="1200" b="0">
                          <a:solidFill>
                            <a:srgbClr val="1B1B1B"/>
                          </a:solidFill>
                          <a:latin typeface="Arial"/>
                        </a:rPr>
                        <a:t>EKF gate Mahalanobis; LiDAR-map match probability (2)</a:t>
                      </a:r>
                    </a:p>
                  </a:txBody>
                  <a:tcPr marL="54864" marR="54864" marT="27432" marB="27432" anchor="ctr">
                    <a:solidFill>
                      <a:srgbClr val="FFF1E0"/>
                    </a:solidFill>
                  </a:tcPr>
                </a:tc>
                <a:tc>
                  <a:txBody>
                    <a:bodyPr wrap="square"/>
                    <a:lstStyle/>
                    <a:p>
                      <a:r>
                        <a:rPr sz="1200" b="0">
                          <a:solidFill>
                            <a:srgbClr val="1B1B1B"/>
                          </a:solidFill>
                          <a:latin typeface="Arial"/>
                        </a:rPr>
                        <a:t>/diagnostics (ekf_localizer, ndt_scan_matcher)</a:t>
                      </a:r>
                    </a:p>
                  </a:txBody>
                  <a:tcPr marL="54864" marR="54864" marT="27432" marB="27432" anchor="ctr">
                    <a:solidFill>
                      <a:srgbClr val="FFF1E0"/>
                    </a:solidFill>
                  </a:tcPr>
                </a:tc>
                <a:tc>
                  <a:txBody>
                    <a:bodyPr wrap="square"/>
                    <a:lstStyle/>
                    <a:p>
                      <a:r>
                        <a:rPr sz="1200" b="0">
                          <a:solidFill>
                            <a:srgbClr val="1B1B1B"/>
                          </a:solidFill>
                          <a:latin typeface="Arial"/>
                        </a:rPr>
                        <a:t>Is the absolute reference (LiDAR matched to the HD map) working right now? Input only</a:t>
                      </a:r>
                    </a:p>
                  </a:txBody>
                  <a:tcPr marL="54864" marR="54864" marT="27432" marB="27432" anchor="ctr">
                    <a:solidFill>
                      <a:srgbClr val="FFF1E0"/>
                    </a:solidFill>
                  </a:tcPr>
                </a:tc>
              </a:tr>
              <a:tr h="384048">
                <a:tc>
                  <a:txBody>
                    <a:bodyPr wrap="square"/>
                    <a:lstStyle/>
                    <a:p>
                      <a:r>
                        <a:rPr sz="1200" b="0">
                          <a:solidFill>
                            <a:srgbClr val="1B1B1B"/>
                          </a:solidFill>
                          <a:latin typeface="Arial"/>
                        </a:rPr>
                        <a:t>Traffic light</a:t>
                      </a:r>
                    </a:p>
                  </a:txBody>
                  <a:tcPr marL="54864" marR="54864" marT="27432" marB="27432" anchor="ctr">
                    <a:solidFill>
                      <a:srgbClr val="FFFFFF"/>
                    </a:solidFill>
                  </a:tcPr>
                </a:tc>
                <a:tc>
                  <a:txBody>
                    <a:bodyPr wrap="square"/>
                    <a:lstStyle/>
                    <a:p>
                      <a:r>
                        <a:rPr sz="1200" b="0">
                          <a:solidFill>
                            <a:srgbClr val="1B1B1B"/>
                          </a:solidFill>
                          <a:latin typeface="Arial"/>
                        </a:rPr>
                        <a:t>colour, confidence, map-vs-perception mismatch (3)</a:t>
                      </a:r>
                    </a:p>
                  </a:txBody>
                  <a:tcPr marL="54864" marR="54864" marT="27432" marB="27432" anchor="ctr">
                    <a:solidFill>
                      <a:srgbClr val="FFFFFF"/>
                    </a:solidFill>
                  </a:tcPr>
                </a:tc>
                <a:tc>
                  <a:txBody>
                    <a:bodyPr wrap="square"/>
                    <a:lstStyle/>
                    <a:p>
                      <a:r>
                        <a:rPr sz="1200" b="0">
                          <a:solidFill>
                            <a:srgbClr val="1B1B1B"/>
                          </a:solidFill>
                          <a:latin typeface="Arial"/>
                        </a:rPr>
                        <a:t>traffic_signals_faulted + HD map</a:t>
                      </a:r>
                    </a:p>
                  </a:txBody>
                  <a:tcPr marL="54864" marR="54864" marT="27432" marB="27432" anchor="ctr">
                    <a:solidFill>
                      <a:srgbClr val="FFFFFF"/>
                    </a:solidFill>
                  </a:tcPr>
                </a:tc>
                <a:tc>
                  <a:txBody>
                    <a:bodyPr wrap="square"/>
                    <a:lstStyle/>
                    <a:p>
                      <a:r>
                        <a:rPr sz="1200" b="0">
                          <a:solidFill>
                            <a:srgbClr val="1B1B1B"/>
                          </a:solidFill>
                          <a:latin typeface="Arial"/>
                        </a:rPr>
                        <a:t>What perception reports, and whether the map expects a light it did not report</a:t>
                      </a:r>
                    </a:p>
                  </a:txBody>
                  <a:tcPr marL="54864" marR="54864" marT="27432" marB="27432" anchor="ctr">
                    <a:solidFill>
                      <a:srgbClr val="FFFFFF"/>
                    </a:solidFill>
                  </a:tcPr>
                </a:tc>
              </a:tr>
              <a:tr h="384048">
                <a:tc>
                  <a:txBody>
                    <a:bodyPr wrap="square"/>
                    <a:lstStyle/>
                    <a:p>
                      <a:r>
                        <a:rPr sz="1200" b="0">
                          <a:solidFill>
                            <a:srgbClr val="1B1B1B"/>
                          </a:solidFill>
                          <a:latin typeface="Arial"/>
                        </a:rPr>
                        <a:t>Objects</a:t>
                      </a:r>
                    </a:p>
                  </a:txBody>
                  <a:tcPr marL="54864" marR="54864" marT="27432" marB="27432" anchor="ctr">
                    <a:solidFill>
                      <a:srgbClr val="FFFFFF"/>
                    </a:solidFill>
                  </a:tcPr>
                </a:tc>
                <a:tc>
                  <a:txBody>
                    <a:bodyPr wrap="square"/>
                    <a:lstStyle/>
                    <a:p>
                      <a:r>
                        <a:rPr sz="1200" b="0">
                          <a:solidFill>
                            <a:srgbClr val="1B1B1B"/>
                          </a:solidFill>
                          <a:latin typeface="Arial"/>
                        </a:rPr>
                        <a:t>up to 8 × (rel. x, y, speed, class) </a:t>
                      </a:r>
                    </a:p>
                  </a:txBody>
                  <a:tcPr marL="54864" marR="54864" marT="27432" marB="27432" anchor="ctr">
                    <a:solidFill>
                      <a:srgbClr val="FFFFFF"/>
                    </a:solidFill>
                  </a:tcPr>
                </a:tc>
                <a:tc>
                  <a:txBody>
                    <a:bodyPr wrap="square"/>
                    <a:lstStyle/>
                    <a:p>
                      <a:r>
                        <a:rPr sz="1200" b="0">
                          <a:solidFill>
                            <a:srgbClr val="1B1B1B"/>
                          </a:solidFill>
                          <a:latin typeface="Arial"/>
                        </a:rPr>
                        <a:t>/perception/.../tracking/objects</a:t>
                      </a:r>
                    </a:p>
                  </a:txBody>
                  <a:tcPr marL="54864" marR="54864" marT="27432" marB="27432" anchor="ctr">
                    <a:solidFill>
                      <a:srgbClr val="FFFFFF"/>
                    </a:solidFill>
                  </a:tcPr>
                </a:tc>
                <a:tc>
                  <a:txBody>
                    <a:bodyPr wrap="square"/>
                    <a:lstStyle/>
                    <a:p>
                      <a:r>
                        <a:rPr sz="1200" b="0">
                          <a:solidFill>
                            <a:srgbClr val="1B1B1B"/>
                          </a:solidFill>
                          <a:latin typeface="Arial"/>
                        </a:rPr>
                        <a:t>Who is around</a:t>
                      </a:r>
                    </a:p>
                  </a:txBody>
                  <a:tcPr marL="54864" marR="54864" marT="27432" marB="27432" anchor="ctr">
                    <a:solidFill>
                      <a:srgbClr val="FFFFFF"/>
                    </a:solidFill>
                  </a:tcPr>
                </a:tc>
              </a:tr>
              <a:tr h="384048">
                <a:tc>
                  <a:txBody>
                    <a:bodyPr wrap="square"/>
                    <a:lstStyle/>
                    <a:p>
                      <a:r>
                        <a:rPr sz="1200" b="0">
                          <a:solidFill>
                            <a:srgbClr val="1B1B1B"/>
                          </a:solidFill>
                          <a:latin typeface="Arial"/>
                        </a:rPr>
                        <a:t>Scene</a:t>
                      </a:r>
                    </a:p>
                  </a:txBody>
                  <a:tcPr marL="54864" marR="54864" marT="27432" marB="27432" anchor="ctr">
                    <a:solidFill>
                      <a:srgbClr val="FFFFFF"/>
                    </a:solidFill>
                  </a:tcPr>
                </a:tc>
                <a:tc>
                  <a:txBody>
                    <a:bodyPr wrap="square"/>
                    <a:lstStyle/>
                    <a:p>
                      <a:r>
                        <a:rPr sz="1200" b="0">
                          <a:solidFill>
                            <a:srgbClr val="1B1B1B"/>
                          </a:solidFill>
                          <a:latin typeface="Arial"/>
                        </a:rPr>
                        <a:t>adjacent lane exists (1)</a:t>
                      </a:r>
                    </a:p>
                  </a:txBody>
                  <a:tcPr marL="54864" marR="54864" marT="27432" marB="27432" anchor="ctr">
                    <a:solidFill>
                      <a:srgbClr val="FFFFFF"/>
                    </a:solidFill>
                  </a:tcPr>
                </a:tc>
                <a:tc>
                  <a:txBody>
                    <a:bodyPr wrap="square"/>
                    <a:lstStyle/>
                    <a:p>
                      <a:r>
                        <a:rPr sz="1200" b="0">
                          <a:solidFill>
                            <a:srgbClr val="1B1B1B"/>
                          </a:solidFill>
                          <a:latin typeface="Arial"/>
                        </a:rPr>
                        <a:t>Lanelet2 routing graph</a:t>
                      </a:r>
                    </a:p>
                  </a:txBody>
                  <a:tcPr marL="54864" marR="54864" marT="27432" marB="27432" anchor="ctr">
                    <a:solidFill>
                      <a:srgbClr val="FFFFFF"/>
                    </a:solidFill>
                  </a:tcPr>
                </a:tc>
                <a:tc>
                  <a:txBody>
                    <a:bodyPr wrap="square"/>
                    <a:lstStyle/>
                    <a:p>
                      <a:r>
                        <a:rPr sz="1200" b="0">
                          <a:solidFill>
                            <a:srgbClr val="1B1B1B"/>
                          </a:solidFill>
                          <a:latin typeface="Arial"/>
                        </a:rPr>
                        <a:t>Room to deviate</a:t>
                      </a:r>
                    </a:p>
                  </a:txBody>
                  <a:tcPr marL="54864" marR="54864" marT="27432" marB="27432" anchor="ctr">
                    <a:solidFill>
                      <a:srgbClr val="FFFFFF"/>
                    </a:solidFill>
                  </a:tcPr>
                </a:tc>
              </a:tr>
              <a:tr h="384048">
                <a:tc>
                  <a:txBody>
                    <a:bodyPr wrap="square"/>
                    <a:lstStyle/>
                    <a:p>
                      <a:r>
                        <a:rPr sz="1200" b="0">
                          <a:solidFill>
                            <a:srgbClr val="1B1B1B"/>
                          </a:solidFill>
                          <a:latin typeface="Arial"/>
                        </a:rPr>
                        <a:t/>
                      </a:r>
                    </a:p>
                  </a:txBody>
                  <a:tcPr marL="54864" marR="54864" marT="27432" marB="27432" anchor="ctr">
                    <a:solidFill>
                      <a:srgbClr val="FFFFFF"/>
                    </a:solidFill>
                  </a:tcPr>
                </a:tc>
                <a:tc>
                  <a:txBody>
                    <a:bodyPr wrap="square"/>
                    <a:lstStyle/>
                    <a:p>
                      <a:r>
                        <a:rPr sz="1200" b="0">
                          <a:solidFill>
                            <a:srgbClr val="1B1B1B"/>
                          </a:solidFill>
                          <a:latin typeface="Arial"/>
                        </a:rPr>
                        <a:t>map graph: ≤1024 nodes × (x, y, TL node, on route, lane dir.)</a:t>
                      </a:r>
                    </a:p>
                  </a:txBody>
                  <a:tcPr marL="54864" marR="54864" marT="27432" marB="27432" anchor="ctr">
                    <a:solidFill>
                      <a:srgbClr val="FFFFFF"/>
                    </a:solidFill>
                  </a:tcPr>
                </a:tc>
                <a:tc>
                  <a:txBody>
                    <a:bodyPr wrap="square"/>
                    <a:lstStyle/>
                    <a:p>
                      <a:r>
                        <a:rPr sz="1200" b="0">
                          <a:solidFill>
                            <a:srgbClr val="1B1B1B"/>
                          </a:solidFill>
                          <a:latin typeface="Arial"/>
                        </a:rPr>
                        <a:t>Lanelet2 HD map, 150 m radius</a:t>
                      </a:r>
                    </a:p>
                  </a:txBody>
                  <a:tcPr marL="54864" marR="54864" marT="27432" marB="27432" anchor="ctr">
                    <a:solidFill>
                      <a:srgbClr val="FFFFFF"/>
                    </a:solidFill>
                  </a:tcPr>
                </a:tc>
                <a:tc>
                  <a:txBody>
                    <a:bodyPr wrap="square"/>
                    <a:lstStyle/>
                    <a:p>
                      <a:r>
                        <a:rPr sz="1200" b="0">
                          <a:solidFill>
                            <a:srgbClr val="1B1B1B"/>
                          </a:solidFill>
                          <a:latin typeface="Arial"/>
                        </a:rPr>
                        <a:t>Road geometry around the car</a:t>
                      </a:r>
                    </a:p>
                  </a:txBody>
                  <a:tcPr marL="54864" marR="54864" marT="27432" marB="27432" anchor="ctr">
                    <a:solidFill>
                      <a:srgbClr val="FFFFFF"/>
                    </a:solidFill>
                  </a:tcPr>
                </a:tc>
              </a:tr>
              <a:tr h="384048">
                <a:tc>
                  <a:txBody>
                    <a:bodyPr wrap="square"/>
                    <a:lstStyle/>
                    <a:p>
                      <a:r>
                        <a:rPr sz="1200" b="0">
                          <a:solidFill>
                            <a:srgbClr val="1B1B1B"/>
                          </a:solidFill>
                          <a:latin typeface="Arial"/>
                        </a:rPr>
                        <a:t/>
                      </a:r>
                    </a:p>
                  </a:txBody>
                  <a:tcPr marL="54864" marR="54864" marT="27432" marB="27432" anchor="ctr">
                    <a:solidFill>
                      <a:srgbClr val="FFFFFF"/>
                    </a:solidFill>
                  </a:tcPr>
                </a:tc>
                <a:tc>
                  <a:txBody>
                    <a:bodyPr wrap="square"/>
                    <a:lstStyle/>
                    <a:p>
                      <a:r>
                        <a:rPr sz="1200" b="0">
                          <a:solidFill>
                            <a:srgbClr val="1B1B1B"/>
                          </a:solidFill>
                          <a:latin typeface="Arial"/>
                        </a:rPr>
                        <a:t>route ahead: 20 points, 3 m apart</a:t>
                      </a:r>
                    </a:p>
                  </a:txBody>
                  <a:tcPr marL="54864" marR="54864" marT="27432" marB="27432" anchor="ctr">
                    <a:solidFill>
                      <a:srgbClr val="FFFFFF"/>
                    </a:solidFill>
                  </a:tcPr>
                </a:tc>
                <a:tc>
                  <a:txBody>
                    <a:bodyPr wrap="square"/>
                    <a:lstStyle/>
                    <a:p>
                      <a:r>
                        <a:rPr sz="1200" b="0">
                          <a:solidFill>
                            <a:srgbClr val="1B1B1B"/>
                          </a:solidFill>
                          <a:latin typeface="Arial"/>
                        </a:rPr>
                        <a:t>/planning/mission_planning/route</a:t>
                      </a:r>
                    </a:p>
                  </a:txBody>
                  <a:tcPr marL="54864" marR="54864" marT="27432" marB="27432" anchor="ctr">
                    <a:solidFill>
                      <a:srgbClr val="FFFFFF"/>
                    </a:solidFill>
                  </a:tcPr>
                </a:tc>
                <a:tc>
                  <a:txBody>
                    <a:bodyPr wrap="square"/>
                    <a:lstStyle/>
                    <a:p>
                      <a:r>
                        <a:rPr sz="1200" b="0">
                          <a:solidFill>
                            <a:srgbClr val="1B1B1B"/>
                          </a:solidFill>
                          <a:latin typeface="Arial"/>
                        </a:rPr>
                        <a:t>Where the car intends to go</a:t>
                      </a:r>
                    </a:p>
                  </a:txBody>
                  <a:tcPr marL="54864" marR="54864" marT="27432" marB="27432" anchor="ctr">
                    <a:solidFill>
                      <a:srgbClr val="FFFFFF"/>
                    </a:solidFill>
                  </a:tcPr>
                </a:tc>
              </a:tr>
            </a:tbl>
          </a:graphicData>
        </a:graphic>
      </p:graphicFrame>
      <p:sp>
        <p:nvSpPr>
          <p:cNvPr id="170" name="TextBox 169"/>
          <p:cNvSpPr txBox="1"/>
          <p:nvPr/>
        </p:nvSpPr>
        <p:spPr>
          <a:xfrm>
            <a:off x="713232" y="5989320"/>
            <a:ext cx="10762488" cy="365760"/>
          </a:xfrm>
          <a:prstGeom prst="rect">
            <a:avLst/>
          </a:prstGeom>
          <a:noFill/>
        </p:spPr>
        <p:txBody>
          <a:bodyPr wrap="square">
            <a:spAutoFit/>
          </a:bodyPr>
          <a:lstStyle/>
          <a:p>
            <a:r>
              <a:rPr sz="1300" b="0">
                <a:solidFill>
                  <a:srgbClr val="1B1B1B"/>
                </a:solidFill>
                <a:latin typeface="Arial"/>
              </a:rPr>
              <a:t>History: 3 s at 10 Hz in the ego frame. Outputs: 3 s forecast of motion, traffic-light channels and the 5 gaps.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Consistency: the stack checked against itself</a:t>
            </a:r>
          </a:p>
        </p:txBody>
      </p:sp>
      <p:graphicFrame>
        <p:nvGraphicFramePr>
          <p:cNvPr id="169" name="Table 168"/>
          <p:cNvGraphicFramePr>
            <a:graphicFrameLocks noGrp="1"/>
          </p:cNvGraphicFramePr>
          <p:nvPr/>
        </p:nvGraphicFramePr>
        <p:xfrm>
          <a:off x="713232" y="868680"/>
          <a:ext cx="10991086" cy="2304288"/>
        </p:xfrm>
        <a:graphic>
          <a:graphicData uri="http://schemas.openxmlformats.org/drawingml/2006/table">
            <a:tbl>
              <a:tblPr firstRow="1" bandRow="1">
                <a:tableStyleId>{5C22544A-7EE6-4342-B048-85BDC9FD1C3A}</a:tableStyleId>
              </a:tblPr>
              <a:tblGrid>
                <a:gridCol w="358892"/>
                <a:gridCol w="2960864"/>
                <a:gridCol w="3005726"/>
                <a:gridCol w="1884186"/>
                <a:gridCol w="2781418"/>
              </a:tblGrid>
              <a:tr h="384048">
                <a:tc>
                  <a:txBody>
                    <a:bodyPr wrap="square"/>
                    <a:lstStyle/>
                    <a:p>
                      <a:r>
                        <a:rPr sz="1300" b="1">
                          <a:solidFill>
                            <a:srgbClr val="1B1B1B"/>
                          </a:solidFill>
                          <a:latin typeface="Arial"/>
                        </a:rPr>
                        <a:t>#</a:t>
                      </a:r>
                    </a:p>
                  </a:txBody>
                  <a:tcPr marL="54864" marR="54864" marT="27432" marB="27432" anchor="ctr">
                    <a:solidFill>
                      <a:srgbClr val="E8DFF2"/>
                    </a:solidFill>
                  </a:tcPr>
                </a:tc>
                <a:tc>
                  <a:txBody>
                    <a:bodyPr wrap="square"/>
                    <a:lstStyle/>
                    <a:p>
                      <a:r>
                        <a:rPr sz="1300" b="1">
                          <a:solidFill>
                            <a:srgbClr val="1B1B1B"/>
                          </a:solidFill>
                          <a:latin typeface="Arial"/>
                        </a:rPr>
                        <a:t>Gap (stack − vehicle)</a:t>
                      </a:r>
                    </a:p>
                  </a:txBody>
                  <a:tcPr marL="54864" marR="54864" marT="27432" marB="27432" anchor="ctr">
                    <a:solidFill>
                      <a:srgbClr val="E8DFF2"/>
                    </a:solidFill>
                  </a:tcPr>
                </a:tc>
                <a:tc>
                  <a:txBody>
                    <a:bodyPr wrap="square"/>
                    <a:lstStyle/>
                    <a:p>
                      <a:r>
                        <a:rPr sz="1300" b="1">
                          <a:solidFill>
                            <a:srgbClr val="1B1B1B"/>
                          </a:solidFill>
                          <a:latin typeface="Arial"/>
                        </a:rPr>
                        <a:t>Stack side</a:t>
                      </a:r>
                    </a:p>
                  </a:txBody>
                  <a:tcPr marL="54864" marR="54864" marT="27432" marB="27432" anchor="ctr">
                    <a:solidFill>
                      <a:srgbClr val="E8DFF2"/>
                    </a:solidFill>
                  </a:tcPr>
                </a:tc>
                <a:tc>
                  <a:txBody>
                    <a:bodyPr wrap="square"/>
                    <a:lstStyle/>
                    <a:p>
                      <a:r>
                        <a:rPr sz="1300" b="1">
                          <a:solidFill>
                            <a:srgbClr val="1B1B1B"/>
                          </a:solidFill>
                          <a:latin typeface="Arial"/>
                        </a:rPr>
                        <a:t>Vehicle side</a:t>
                      </a:r>
                    </a:p>
                  </a:txBody>
                  <a:tcPr marL="54864" marR="54864" marT="27432" marB="27432" anchor="ctr">
                    <a:solidFill>
                      <a:srgbClr val="E8DFF2"/>
                    </a:solidFill>
                  </a:tcPr>
                </a:tc>
                <a:tc>
                  <a:txBody>
                    <a:bodyPr wrap="square"/>
                    <a:lstStyle/>
                    <a:p>
                      <a:r>
                        <a:rPr sz="1300" b="1">
                          <a:solidFill>
                            <a:srgbClr val="1B1B1B"/>
                          </a:solidFill>
                          <a:latin typeface="Arial"/>
                        </a:rPr>
                        <a:t>Reveals</a:t>
                      </a:r>
                    </a:p>
                  </a:txBody>
                  <a:tcPr marL="54864" marR="54864" marT="27432" marB="27432" anchor="ctr">
                    <a:solidFill>
                      <a:srgbClr val="E8DFF2"/>
                    </a:solidFill>
                  </a:tcPr>
                </a:tc>
              </a:tr>
              <a:tr h="384048">
                <a:tc>
                  <a:txBody>
                    <a:bodyPr wrap="square"/>
                    <a:lstStyle/>
                    <a:p>
                      <a:r>
                        <a:rPr sz="1300" b="0">
                          <a:solidFill>
                            <a:srgbClr val="1B1B1B"/>
                          </a:solidFill>
                          <a:latin typeface="Arial"/>
                        </a:rPr>
                        <a:t>1</a:t>
                      </a:r>
                    </a:p>
                  </a:txBody>
                  <a:tcPr marL="54864" marR="54864" marT="27432" marB="27432" anchor="ctr">
                    <a:solidFill>
                      <a:srgbClr val="FFFFFF"/>
                    </a:solidFill>
                  </a:tcPr>
                </a:tc>
                <a:tc>
                  <a:txBody>
                    <a:bodyPr wrap="square"/>
                    <a:lstStyle/>
                    <a:p>
                      <a:r>
                        <a:rPr sz="1300" b="0">
                          <a:solidFill>
                            <a:srgbClr val="1B1B1B"/>
                          </a:solidFill>
                          <a:latin typeface="Arial"/>
                        </a:rPr>
                        <a:t>EKF yaw rate − vehicle yaw rate</a:t>
                      </a:r>
                    </a:p>
                  </a:txBody>
                  <a:tcPr marL="54864" marR="54864" marT="27432" marB="27432" anchor="ctr">
                    <a:solidFill>
                      <a:srgbClr val="FFFFFF"/>
                    </a:solidFill>
                  </a:tcPr>
                </a:tc>
                <a:tc>
                  <a:txBody>
                    <a:bodyPr wrap="square"/>
                    <a:lstStyle/>
                    <a:p>
                      <a:r>
                        <a:rPr sz="1300" b="0">
                          <a:solidFill>
                            <a:srgbClr val="1B1B1B"/>
                          </a:solidFill>
                          <a:latin typeface="Arial"/>
                        </a:rPr>
                        <a:t>EKF twist (fuses IMU)</a:t>
                      </a:r>
                    </a:p>
                  </a:txBody>
                  <a:tcPr marL="54864" marR="54864" marT="27432" marB="27432" anchor="ctr">
                    <a:solidFill>
                      <a:srgbClr val="FFFFFF"/>
                    </a:solidFill>
                  </a:tcPr>
                </a:tc>
                <a:tc>
                  <a:txBody>
                    <a:bodyPr wrap="square"/>
                    <a:lstStyle/>
                    <a:p>
                      <a:r>
                        <a:rPr sz="1300" b="0">
                          <a:solidFill>
                            <a:srgbClr val="1B1B1B"/>
                          </a:solidFill>
                          <a:latin typeface="Arial"/>
                        </a:rPr>
                        <a:t>velocity_status</a:t>
                      </a:r>
                    </a:p>
                  </a:txBody>
                  <a:tcPr marL="54864" marR="54864" marT="27432" marB="27432" anchor="ctr">
                    <a:solidFill>
                      <a:srgbClr val="FFFFFF"/>
                    </a:solidFill>
                  </a:tcPr>
                </a:tc>
                <a:tc>
                  <a:txBody>
                    <a:bodyPr wrap="square"/>
                    <a:lstStyle/>
                    <a:p>
                      <a:r>
                        <a:rPr sz="1300" b="0">
                          <a:solidFill>
                            <a:srgbClr val="1B1B1B"/>
                          </a:solidFill>
                          <a:latin typeface="Arial"/>
                        </a:rPr>
                        <a:t>IMU gyro faults, directly</a:t>
                      </a:r>
                    </a:p>
                  </a:txBody>
                  <a:tcPr marL="54864" marR="54864" marT="27432" marB="27432" anchor="ctr">
                    <a:solidFill>
                      <a:srgbClr val="FFFFFF"/>
                    </a:solidFill>
                  </a:tcPr>
                </a:tc>
              </a:tr>
              <a:tr h="384048">
                <a:tc>
                  <a:txBody>
                    <a:bodyPr wrap="square"/>
                    <a:lstStyle/>
                    <a:p>
                      <a:r>
                        <a:rPr sz="1300" b="0">
                          <a:solidFill>
                            <a:srgbClr val="1B1B1B"/>
                          </a:solidFill>
                          <a:latin typeface="Arial"/>
                        </a:rPr>
                        <a:t>2</a:t>
                      </a:r>
                    </a:p>
                  </a:txBody>
                  <a:tcPr marL="54864" marR="54864" marT="27432" marB="27432" anchor="ctr">
                    <a:solidFill>
                      <a:srgbClr val="FFFFFF"/>
                    </a:solidFill>
                  </a:tcPr>
                </a:tc>
                <a:tc>
                  <a:txBody>
                    <a:bodyPr wrap="square"/>
                    <a:lstStyle/>
                    <a:p>
                      <a:r>
                        <a:rPr sz="1300" b="0">
                          <a:solidFill>
                            <a:srgbClr val="1B1B1B"/>
                          </a:solidFill>
                          <a:latin typeface="Arial"/>
                        </a:rPr>
                        <a:t>EKF speed − wheel speed</a:t>
                      </a:r>
                    </a:p>
                  </a:txBody>
                  <a:tcPr marL="54864" marR="54864" marT="27432" marB="27432" anchor="ctr">
                    <a:solidFill>
                      <a:srgbClr val="FFFFFF"/>
                    </a:solidFill>
                  </a:tcPr>
                </a:tc>
                <a:tc>
                  <a:txBody>
                    <a:bodyPr wrap="square"/>
                    <a:lstStyle/>
                    <a:p>
                      <a:r>
                        <a:rPr sz="1300" b="0">
                          <a:solidFill>
                            <a:srgbClr val="1B1B1B"/>
                          </a:solidFill>
                          <a:latin typeface="Arial"/>
                        </a:rPr>
                        <a:t>EKF twist</a:t>
                      </a:r>
                    </a:p>
                  </a:txBody>
                  <a:tcPr marL="54864" marR="54864" marT="27432" marB="27432" anchor="ctr">
                    <a:solidFill>
                      <a:srgbClr val="FFFFFF"/>
                    </a:solidFill>
                  </a:tcPr>
                </a:tc>
                <a:tc>
                  <a:txBody>
                    <a:bodyPr wrap="square"/>
                    <a:lstStyle/>
                    <a:p>
                      <a:r>
                        <a:rPr sz="1300" b="0">
                          <a:solidFill>
                            <a:srgbClr val="1B1B1B"/>
                          </a:solidFill>
                          <a:latin typeface="Arial"/>
                        </a:rPr>
                        <a:t>velocity_status</a:t>
                      </a:r>
                    </a:p>
                  </a:txBody>
                  <a:tcPr marL="54864" marR="54864" marT="27432" marB="27432" anchor="ctr">
                    <a:solidFill>
                      <a:srgbClr val="FFFFFF"/>
                    </a:solidFill>
                  </a:tcPr>
                </a:tc>
                <a:tc>
                  <a:txBody>
                    <a:bodyPr wrap="square"/>
                    <a:lstStyle/>
                    <a:p>
                      <a:r>
                        <a:rPr sz="1300" b="0">
                          <a:solidFill>
                            <a:srgbClr val="1B1B1B"/>
                          </a:solidFill>
                          <a:latin typeface="Arial"/>
                        </a:rPr>
                        <a:t>speed / scale faults</a:t>
                      </a:r>
                    </a:p>
                  </a:txBody>
                  <a:tcPr marL="54864" marR="54864" marT="27432" marB="27432" anchor="ctr">
                    <a:solidFill>
                      <a:srgbClr val="FFFFFF"/>
                    </a:solidFill>
                  </a:tcPr>
                </a:tc>
              </a:tr>
              <a:tr h="384048">
                <a:tc>
                  <a:txBody>
                    <a:bodyPr wrap="square"/>
                    <a:lstStyle/>
                    <a:p>
                      <a:r>
                        <a:rPr sz="1300" b="1">
                          <a:solidFill>
                            <a:srgbClr val="1B1B1B"/>
                          </a:solidFill>
                          <a:latin typeface="Arial"/>
                        </a:rPr>
                        <a:t>3</a:t>
                      </a:r>
                    </a:p>
                  </a:txBody>
                  <a:tcPr marL="54864" marR="54864" marT="27432" marB="27432" anchor="ctr">
                    <a:solidFill>
                      <a:srgbClr val="FFF1E0"/>
                    </a:solidFill>
                  </a:tcPr>
                </a:tc>
                <a:tc>
                  <a:txBody>
                    <a:bodyPr wrap="square"/>
                    <a:lstStyle/>
                    <a:p>
                      <a:r>
                        <a:rPr sz="1300" b="0">
                          <a:solidFill>
                            <a:srgbClr val="1B1B1B"/>
                          </a:solidFill>
                          <a:latin typeface="Arial"/>
                        </a:rPr>
                        <a:t>pose yaw rate − vehicle yaw rate</a:t>
                      </a:r>
                    </a:p>
                  </a:txBody>
                  <a:tcPr marL="54864" marR="54864" marT="27432" marB="27432" anchor="ctr">
                    <a:solidFill>
                      <a:srgbClr val="FFF1E0"/>
                    </a:solidFill>
                  </a:tcPr>
                </a:tc>
                <a:tc>
                  <a:txBody>
                    <a:bodyPr wrap="square"/>
                    <a:lstStyle/>
                    <a:p>
                      <a:r>
                        <a:rPr sz="1300" b="0">
                          <a:solidFill>
                            <a:srgbClr val="1B1B1B"/>
                          </a:solidFill>
                          <a:latin typeface="Arial"/>
                        </a:rPr>
                        <a:t>final pose, differenced (incl. LiDAR corrections)</a:t>
                      </a:r>
                    </a:p>
                  </a:txBody>
                  <a:tcPr marL="54864" marR="54864" marT="27432" marB="27432" anchor="ctr">
                    <a:solidFill>
                      <a:srgbClr val="FFF1E0"/>
                    </a:solidFill>
                  </a:tcPr>
                </a:tc>
                <a:tc>
                  <a:txBody>
                    <a:bodyPr wrap="square"/>
                    <a:lstStyle/>
                    <a:p>
                      <a:r>
                        <a:rPr sz="1300" b="0">
                          <a:solidFill>
                            <a:srgbClr val="1B1B1B"/>
                          </a:solidFill>
                          <a:latin typeface="Arial"/>
                        </a:rPr>
                        <a:t>velocity_status</a:t>
                      </a:r>
                    </a:p>
                  </a:txBody>
                  <a:tcPr marL="54864" marR="54864" marT="27432" marB="27432" anchor="ctr">
                    <a:solidFill>
                      <a:srgbClr val="FFF1E0"/>
                    </a:solidFill>
                  </a:tcPr>
                </a:tc>
                <a:tc>
                  <a:txBody>
                    <a:bodyPr wrap="square"/>
                    <a:lstStyle/>
                    <a:p>
                      <a:r>
                        <a:rPr sz="1300" b="0">
                          <a:solidFill>
                            <a:srgbClr val="1B1B1B"/>
                          </a:solidFill>
                          <a:latin typeface="Arial"/>
                        </a:rPr>
                        <a:t>growth rate of HEADING error</a:t>
                      </a:r>
                    </a:p>
                  </a:txBody>
                  <a:tcPr marL="54864" marR="54864" marT="27432" marB="27432" anchor="ctr">
                    <a:solidFill>
                      <a:srgbClr val="FFF1E0"/>
                    </a:solidFill>
                  </a:tcPr>
                </a:tc>
              </a:tr>
              <a:tr h="384048">
                <a:tc>
                  <a:txBody>
                    <a:bodyPr wrap="square"/>
                    <a:lstStyle/>
                    <a:p>
                      <a:r>
                        <a:rPr sz="1300" b="1">
                          <a:solidFill>
                            <a:srgbClr val="1B1B1B"/>
                          </a:solidFill>
                          <a:latin typeface="Arial"/>
                        </a:rPr>
                        <a:t>4</a:t>
                      </a:r>
                    </a:p>
                  </a:txBody>
                  <a:tcPr marL="54864" marR="54864" marT="27432" marB="27432" anchor="ctr">
                    <a:solidFill>
                      <a:srgbClr val="FFF1E0"/>
                    </a:solidFill>
                  </a:tcPr>
                </a:tc>
                <a:tc>
                  <a:txBody>
                    <a:bodyPr wrap="square"/>
                    <a:lstStyle/>
                    <a:p>
                      <a:r>
                        <a:rPr sz="1300" b="0">
                          <a:solidFill>
                            <a:srgbClr val="1B1B1B"/>
                          </a:solidFill>
                          <a:latin typeface="Arial"/>
                        </a:rPr>
                        <a:t>pose along-track speed − wheel speed</a:t>
                      </a:r>
                    </a:p>
                  </a:txBody>
                  <a:tcPr marL="54864" marR="54864" marT="27432" marB="27432" anchor="ctr">
                    <a:solidFill>
                      <a:srgbClr val="FFF1E0"/>
                    </a:solidFill>
                  </a:tcPr>
                </a:tc>
                <a:tc>
                  <a:txBody>
                    <a:bodyPr wrap="square"/>
                    <a:lstStyle/>
                    <a:p>
                      <a:r>
                        <a:rPr sz="1300" b="0">
                          <a:solidFill>
                            <a:srgbClr val="1B1B1B"/>
                          </a:solidFill>
                          <a:latin typeface="Arial"/>
                        </a:rPr>
                        <a:t>final pose, differenced</a:t>
                      </a:r>
                    </a:p>
                  </a:txBody>
                  <a:tcPr marL="54864" marR="54864" marT="27432" marB="27432" anchor="ctr">
                    <a:solidFill>
                      <a:srgbClr val="FFF1E0"/>
                    </a:solidFill>
                  </a:tcPr>
                </a:tc>
                <a:tc>
                  <a:txBody>
                    <a:bodyPr wrap="square"/>
                    <a:lstStyle/>
                    <a:p>
                      <a:r>
                        <a:rPr sz="1300" b="0">
                          <a:solidFill>
                            <a:srgbClr val="1B1B1B"/>
                          </a:solidFill>
                          <a:latin typeface="Arial"/>
                        </a:rPr>
                        <a:t>velocity_status</a:t>
                      </a:r>
                    </a:p>
                  </a:txBody>
                  <a:tcPr marL="54864" marR="54864" marT="27432" marB="27432" anchor="ctr">
                    <a:solidFill>
                      <a:srgbClr val="FFF1E0"/>
                    </a:solidFill>
                  </a:tcPr>
                </a:tc>
                <a:tc>
                  <a:txBody>
                    <a:bodyPr wrap="square"/>
                    <a:lstStyle/>
                    <a:p>
                      <a:r>
                        <a:rPr sz="1300" b="0">
                          <a:solidFill>
                            <a:srgbClr val="1B1B1B"/>
                          </a:solidFill>
                          <a:latin typeface="Arial"/>
                        </a:rPr>
                        <a:t>growth rate of ALONG-TRACK error</a:t>
                      </a:r>
                    </a:p>
                  </a:txBody>
                  <a:tcPr marL="54864" marR="54864" marT="27432" marB="27432" anchor="ctr">
                    <a:solidFill>
                      <a:srgbClr val="FFF1E0"/>
                    </a:solidFill>
                  </a:tcPr>
                </a:tc>
              </a:tr>
              <a:tr h="384048">
                <a:tc>
                  <a:txBody>
                    <a:bodyPr wrap="square"/>
                    <a:lstStyle/>
                    <a:p>
                      <a:r>
                        <a:rPr sz="1300" b="1">
                          <a:solidFill>
                            <a:srgbClr val="1B1B1B"/>
                          </a:solidFill>
                          <a:latin typeface="Arial"/>
                        </a:rPr>
                        <a:t>5</a:t>
                      </a:r>
                    </a:p>
                  </a:txBody>
                  <a:tcPr marL="54864" marR="54864" marT="27432" marB="27432" anchor="ctr">
                    <a:solidFill>
                      <a:srgbClr val="FFF1E0"/>
                    </a:solidFill>
                  </a:tcPr>
                </a:tc>
                <a:tc>
                  <a:txBody>
                    <a:bodyPr wrap="square"/>
                    <a:lstStyle/>
                    <a:p>
                      <a:r>
                        <a:rPr sz="1300" b="0">
                          <a:solidFill>
                            <a:srgbClr val="1B1B1B"/>
                          </a:solidFill>
                          <a:latin typeface="Arial"/>
                        </a:rPr>
                        <a:t>pose lateral speed − vehicle lateral speed</a:t>
                      </a:r>
                    </a:p>
                  </a:txBody>
                  <a:tcPr marL="54864" marR="54864" marT="27432" marB="27432" anchor="ctr">
                    <a:solidFill>
                      <a:srgbClr val="FFF1E0"/>
                    </a:solidFill>
                  </a:tcPr>
                </a:tc>
                <a:tc>
                  <a:txBody>
                    <a:bodyPr wrap="square"/>
                    <a:lstStyle/>
                    <a:p>
                      <a:r>
                        <a:rPr sz="1300" b="0">
                          <a:solidFill>
                            <a:srgbClr val="1B1B1B"/>
                          </a:solidFill>
                          <a:latin typeface="Arial"/>
                        </a:rPr>
                        <a:t>final pose, differenced</a:t>
                      </a:r>
                    </a:p>
                  </a:txBody>
                  <a:tcPr marL="54864" marR="54864" marT="27432" marB="27432" anchor="ctr">
                    <a:solidFill>
                      <a:srgbClr val="FFF1E0"/>
                    </a:solidFill>
                  </a:tcPr>
                </a:tc>
                <a:tc>
                  <a:txBody>
                    <a:bodyPr wrap="square"/>
                    <a:lstStyle/>
                    <a:p>
                      <a:r>
                        <a:rPr sz="1300" b="0">
                          <a:solidFill>
                            <a:srgbClr val="1B1B1B"/>
                          </a:solidFill>
                          <a:latin typeface="Arial"/>
                        </a:rPr>
                        <a:t>velocity_status (≈0)</a:t>
                      </a:r>
                    </a:p>
                  </a:txBody>
                  <a:tcPr marL="54864" marR="54864" marT="27432" marB="27432" anchor="ctr">
                    <a:solidFill>
                      <a:srgbClr val="FFF1E0"/>
                    </a:solidFill>
                  </a:tcPr>
                </a:tc>
                <a:tc>
                  <a:txBody>
                    <a:bodyPr wrap="square"/>
                    <a:lstStyle/>
                    <a:p>
                      <a:r>
                        <a:rPr sz="1300" b="0">
                          <a:solidFill>
                            <a:srgbClr val="1B1B1B"/>
                          </a:solidFill>
                          <a:latin typeface="Arial"/>
                        </a:rPr>
                        <a:t>growth rate of LATERAL error</a:t>
                      </a:r>
                    </a:p>
                  </a:txBody>
                  <a:tcPr marL="54864" marR="54864" marT="27432" marB="27432" anchor="ctr">
                    <a:solidFill>
                      <a:srgbClr val="FFF1E0"/>
                    </a:solidFill>
                  </a:tcPr>
                </a:tc>
              </a:tr>
            </a:tbl>
          </a:graphicData>
        </a:graphic>
      </p:graphicFrame>
      <p:sp>
        <p:nvSpPr>
          <p:cNvPr id="170" name="TextBox 169"/>
          <p:cNvSpPr txBox="1"/>
          <p:nvPr/>
        </p:nvSpPr>
        <p:spPr>
          <a:xfrm>
            <a:off x="713232" y="3429000"/>
            <a:ext cx="5276088" cy="2743200"/>
          </a:xfrm>
          <a:prstGeom prst="rect">
            <a:avLst/>
          </a:prstGeom>
          <a:noFill/>
        </p:spPr>
        <p:txBody>
          <a:bodyPr wrap="square">
            <a:spAutoFit/>
          </a:bodyPr>
          <a:lstStyle/>
          <a:p>
            <a:r>
              <a:rPr sz="1500" b="1">
                <a:solidFill>
                  <a:srgbClr val="1B1B1B"/>
                </a:solidFill>
                <a:latin typeface="Arial"/>
              </a:rPr>
              <a:t>What the head does</a:t>
            </a:r>
          </a:p>
          <a:p>
            <a:r>
              <a:rPr sz="1500" b="0">
                <a:solidFill>
                  <a:srgbClr val="1B1B1B"/>
                </a:solidFill>
                <a:latin typeface="Arial"/>
              </a:rPr>
              <a:t>The gaps are not zero in normal driving (turn lag, acceleration, jitter). The consistency head predicts the NOMINAL gap for this scene.</a:t>
            </a:r>
          </a:p>
          <a:p>
            <a:r>
              <a:rPr sz="1500" b="1">
                <a:solidFill>
                  <a:srgbClr val="1B1B1B"/>
                </a:solidFill>
                <a:latin typeface="Arial"/>
              </a:rPr>
              <a:t>residual = observed gap − predicted gap</a:t>
            </a:r>
          </a:p>
          <a:p>
            <a:r>
              <a:rPr sz="1500" b="0">
                <a:solidFill>
                  <a:srgbClr val="1B1B1B"/>
                </a:solidFill>
                <a:latin typeface="Arial"/>
              </a:rPr>
              <a:t>Calibrated (conformal) → is it abnormal? (WHEN) and its signed size in rad/s, m/s (HOW MUCH, WHICH WAY).</a:t>
            </a:r>
          </a:p>
        </p:txBody>
      </p:sp>
      <p:sp>
        <p:nvSpPr>
          <p:cNvPr id="171" name="TextBox 170"/>
          <p:cNvSpPr txBox="1"/>
          <p:nvPr/>
        </p:nvSpPr>
        <p:spPr>
          <a:xfrm>
            <a:off x="6217920" y="3429000"/>
            <a:ext cx="5486400" cy="2743200"/>
          </a:xfrm>
          <a:prstGeom prst="rect">
            <a:avLst/>
          </a:prstGeom>
          <a:noFill/>
        </p:spPr>
        <p:txBody>
          <a:bodyPr wrap="square">
            <a:spAutoFit/>
          </a:bodyPr>
          <a:lstStyle/>
          <a:p>
            <a:r>
              <a:rPr sz="1500" b="1">
                <a:solidFill>
                  <a:srgbClr val="1B1B1B"/>
                </a:solidFill>
                <a:latin typeface="Arial"/>
              </a:rPr>
              <a:t>A gap is a RATE of error, not the error</a:t>
            </a:r>
          </a:p>
          <a:p>
            <a:r>
              <a:rPr sz="1500" b="0">
                <a:solidFill>
                  <a:srgbClr val="1B1B1B"/>
                </a:solidFill>
                <a:latin typeface="Arial"/>
              </a:rPr>
              <a:t>IMU bias 0.02 rad/s → residual 0.02 rad/s, small at every instant.</a:t>
            </a:r>
          </a:p>
          <a:p>
            <a:r>
              <a:rPr sz="1500" b="0">
                <a:solidFill>
                  <a:srgbClr val="1B1B1B"/>
                </a:solidFill>
                <a:latin typeface="Arial"/>
              </a:rPr>
              <a:t>Integrated over 10 s → 11° heading error.</a:t>
            </a:r>
          </a:p>
          <a:p>
            <a:r>
              <a:rPr sz="1500" b="0">
                <a:solidFill>
                  <a:srgbClr val="1B1B1B"/>
                </a:solidFill>
                <a:latin typeface="Arial"/>
              </a:rPr>
              <a:t>At 11 m/s, 11° of heading error adds ≈ 2 m/s of sideways drift.</a:t>
            </a:r>
          </a:p>
          <a:p>
            <a:r>
              <a:rPr sz="1500" b="1">
                <a:solidFill>
                  <a:srgbClr val="1B1B1B"/>
                </a:solidFill>
                <a:latin typeface="Arial"/>
              </a:rPr>
              <a:t>→ the pose error has to be integrated, with a reset when LiDAR is healthy (next slide).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From gap to pose error: one filter</a:t>
            </a:r>
          </a:p>
        </p:txBody>
      </p:sp>
      <p:sp>
        <p:nvSpPr>
          <p:cNvPr id="169" name="TextBox 168"/>
          <p:cNvSpPr txBox="1"/>
          <p:nvPr/>
        </p:nvSpPr>
        <p:spPr>
          <a:xfrm>
            <a:off x="713232" y="868680"/>
            <a:ext cx="4636008" cy="5394960"/>
          </a:xfrm>
          <a:prstGeom prst="rect">
            <a:avLst/>
          </a:prstGeom>
          <a:noFill/>
        </p:spPr>
        <p:txBody>
          <a:bodyPr wrap="square">
            <a:spAutoFit/>
          </a:bodyPr>
          <a:lstStyle/>
          <a:p>
            <a:r>
              <a:rPr sz="1600" b="1">
                <a:solidFill>
                  <a:srgbClr val="1B1B1B"/>
                </a:solidFill>
                <a:latin typeface="Arial"/>
              </a:rPr>
              <a:t>Pose error δ = (ψ, x, y)</a:t>
            </a:r>
          </a:p>
          <a:p>
            <a:r>
              <a:rPr sz="1600" b="0">
                <a:solidFill>
                  <a:srgbClr val="1B1B1B"/>
                </a:solidFill>
                <a:latin typeface="Arial"/>
              </a:rPr>
              <a:t>How far Autoware's believed pose is from the true pose: heading ψ, along-track x, lateral y (in the believed heading frame).</a:t>
            </a:r>
          </a:p>
          <a:p>
            <a:r>
              <a:rPr sz="1600" b="0">
                <a:solidFill>
                  <a:srgbClr val="1B1B1B"/>
                </a:solidFill>
                <a:latin typeface="Arial"/>
              </a:rPr>
              <a:t/>
            </a:r>
          </a:p>
          <a:p>
            <a:r>
              <a:rPr sz="1600" b="1">
                <a:solidFill>
                  <a:srgbClr val="1B1B1B"/>
                </a:solidFill>
                <a:latin typeface="Arial"/>
              </a:rPr>
              <a:t>Growth (from consistency residuals):</a:t>
            </a:r>
          </a:p>
          <a:p>
            <a:r>
              <a:rPr sz="1600" b="0">
                <a:solidFill>
                  <a:srgbClr val="1B1B1B"/>
                </a:solidFill>
                <a:latin typeface="Arial"/>
              </a:rPr>
              <a:t>  ψ̇ = g_ψ</a:t>
            </a:r>
          </a:p>
          <a:p>
            <a:r>
              <a:rPr sz="1600" b="0">
                <a:solidFill>
                  <a:srgbClr val="1B1B1B"/>
                </a:solidFill>
                <a:latin typeface="Arial"/>
              </a:rPr>
              <a:t>  ẋ = g_a + v(1 − cos ψ)</a:t>
            </a:r>
          </a:p>
          <a:p>
            <a:r>
              <a:rPr sz="1600" b="0">
                <a:solidFill>
                  <a:srgbClr val="1B1B1B"/>
                </a:solidFill>
                <a:latin typeface="Arial"/>
              </a:rPr>
              <a:t>  ẏ = g_l + v·sin ψ   ← heading error becomes sideways drift</a:t>
            </a:r>
          </a:p>
          <a:p>
            <a:r>
              <a:rPr sz="1600" b="0">
                <a:solidFill>
                  <a:srgbClr val="1B1B1B"/>
                </a:solidFill>
                <a:latin typeface="Arial"/>
              </a:rPr>
              <a:t/>
            </a:r>
          </a:p>
          <a:p>
            <a:r>
              <a:rPr sz="1600" b="1">
                <a:solidFill>
                  <a:srgbClr val="1B1B1B"/>
                </a:solidFill>
                <a:latin typeface="Arial"/>
              </a:rPr>
              <a:t>Reset (LiDAR matched to the HD map):</a:t>
            </a:r>
          </a:p>
          <a:p>
            <a:r>
              <a:rPr sz="1600" b="0">
                <a:solidFill>
                  <a:srgbClr val="1B1B1B"/>
                </a:solidFill>
                <a:latin typeface="Arial"/>
              </a:rPr>
              <a:t>  healthy → "δ ≈ 0", trusted in proportion to health w ∈ [0, 1]</a:t>
            </a:r>
          </a:p>
          <a:p>
            <a:r>
              <a:rPr sz="1600" b="0">
                <a:solidFill>
                  <a:srgbClr val="1B1B1B"/>
                </a:solidFill>
                <a:latin typeface="Arial"/>
              </a:rPr>
              <a:t>  under the IMU faults the EKF rejects LiDAR → w = 0, no reset</a:t>
            </a:r>
          </a:p>
          <a:p>
            <a:r>
              <a:rPr sz="1600" b="0">
                <a:solidFill>
                  <a:srgbClr val="1B1B1B"/>
                </a:solidFill>
                <a:latin typeface="Arial"/>
              </a:rPr>
              <a:t/>
            </a:r>
          </a:p>
          <a:p>
            <a:r>
              <a:rPr sz="1600" b="1">
                <a:solidFill>
                  <a:srgbClr val="1B1B1B"/>
                </a:solidFill>
                <a:latin typeface="Arial"/>
              </a:rPr>
              <a:t>Filter: </a:t>
            </a:r>
            <a:r>
              <a:rPr sz="1600" b="0">
                <a:solidFill>
                  <a:srgbClr val="1B1B1B"/>
                </a:solidFill>
                <a:latin typeface="Arial"/>
              </a:rPr>
              <a:t>predict with growth, update with reset → estimate δ̂ and covariance P.</a:t>
            </a:r>
          </a:p>
          <a:p>
            <a:r>
              <a:rPr sz="1600" b="1">
                <a:solidFill>
                  <a:srgbClr val="1B1B1B"/>
                </a:solidFill>
                <a:latin typeface="Arial"/>
              </a:rPr>
              <a:t>Correction: </a:t>
            </a:r>
            <a:r>
              <a:rPr sz="1600" b="0">
                <a:solidFill>
                  <a:srgbClr val="1B1B1B"/>
                </a:solidFill>
                <a:latin typeface="Arial"/>
              </a:rPr>
              <a:t>true pose ≈ believed pose − δ̂.</a:t>
            </a:r>
          </a:p>
        </p:txBody>
      </p:sp>
      <p:pic>
        <p:nvPicPr>
          <p:cNvPr id="170" name="Picture 169" descr="heading_tracking.png"/>
          <p:cNvPicPr>
            <a:picLocks noChangeAspect="1"/>
          </p:cNvPicPr>
          <p:nvPr/>
        </p:nvPicPr>
        <p:blipFill>
          <a:blip r:embed="rId3"/>
          <a:stretch>
            <a:fillRect/>
          </a:stretch>
        </p:blipFill>
        <p:spPr>
          <a:xfrm>
            <a:off x="5440680" y="1463040"/>
            <a:ext cx="6446520" cy="2618899"/>
          </a:xfrm>
          <a:prstGeom prst="rect">
            <a:avLst/>
          </a:prstGeom>
        </p:spPr>
      </p:pic>
      <p:sp>
        <p:nvSpPr>
          <p:cNvPr id="171" name="TextBox 170"/>
          <p:cNvSpPr txBox="1"/>
          <p:nvPr/>
        </p:nvSpPr>
        <p:spPr>
          <a:xfrm>
            <a:off x="5440680" y="4206240"/>
            <a:ext cx="6446520" cy="1463040"/>
          </a:xfrm>
          <a:prstGeom prst="rect">
            <a:avLst/>
          </a:prstGeom>
          <a:noFill/>
        </p:spPr>
        <p:txBody>
          <a:bodyPr wrap="square">
            <a:spAutoFit/>
          </a:bodyPr>
          <a:lstStyle/>
          <a:p>
            <a:r>
              <a:rPr sz="1400" b="0">
                <a:solidFill>
                  <a:srgbClr val="1B1B1B"/>
                </a:solidFill>
                <a:latin typeface="Arial"/>
              </a:rPr>
              <a:t>Checked: wherever the true error was &gt; 5° or &gt; 1 m, LiDAR health was never nominal.</a:t>
            </a:r>
          </a:p>
          <a:p>
            <a:r>
              <a:rPr sz="1400" b="0">
                <a:solidFill>
                  <a:srgbClr val="1B1B1B"/>
                </a:solidFill>
                <a:latin typeface="Arial"/>
              </a:rPr>
              <a:t>Nominal driving: the estimate stays inside the nominal band 100% of the time (envelope never moved).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Layer 2: what each stage uses</a:t>
            </a:r>
          </a:p>
        </p:txBody>
      </p:sp>
      <p:graphicFrame>
        <p:nvGraphicFramePr>
          <p:cNvPr id="169" name="Table 168"/>
          <p:cNvGraphicFramePr>
            <a:graphicFrameLocks noGrp="1"/>
          </p:cNvGraphicFramePr>
          <p:nvPr/>
        </p:nvGraphicFramePr>
        <p:xfrm>
          <a:off x="713232" y="914400"/>
          <a:ext cx="10991086" cy="2194560"/>
        </p:xfrm>
        <a:graphic>
          <a:graphicData uri="http://schemas.openxmlformats.org/drawingml/2006/table">
            <a:tbl>
              <a:tblPr firstRow="1" bandRow="1">
                <a:tableStyleId>{5C22544A-7EE6-4342-B048-85BDC9FD1C3A}</a:tableStyleId>
              </a:tblPr>
              <a:tblGrid>
                <a:gridCol w="1794463"/>
                <a:gridCol w="3050587"/>
                <a:gridCol w="4127265"/>
                <a:gridCol w="2018771"/>
              </a:tblGrid>
              <a:tr h="548640">
                <a:tc>
                  <a:txBody>
                    <a:bodyPr wrap="square"/>
                    <a:lstStyle/>
                    <a:p>
                      <a:r>
                        <a:rPr sz="1500" b="1">
                          <a:solidFill>
                            <a:srgbClr val="1B1B1B"/>
                          </a:solidFill>
                          <a:latin typeface="Arial"/>
                        </a:rPr>
                        <a:t>Stage</a:t>
                      </a:r>
                    </a:p>
                  </a:txBody>
                  <a:tcPr marL="54864" marR="54864" marT="27432" marB="27432" anchor="ctr">
                    <a:solidFill>
                      <a:srgbClr val="E8DFF2"/>
                    </a:solidFill>
                  </a:tcPr>
                </a:tc>
                <a:tc>
                  <a:txBody>
                    <a:bodyPr wrap="square"/>
                    <a:lstStyle/>
                    <a:p>
                      <a:r>
                        <a:rPr sz="1500" b="1">
                          <a:solidFill>
                            <a:srgbClr val="1B1B1B"/>
                          </a:solidFill>
                          <a:latin typeface="Arial"/>
                        </a:rPr>
                        <a:t>Question it answers</a:t>
                      </a:r>
                    </a:p>
                  </a:txBody>
                  <a:tcPr marL="54864" marR="54864" marT="27432" marB="27432" anchor="ctr">
                    <a:solidFill>
                      <a:srgbClr val="E8DFF2"/>
                    </a:solidFill>
                  </a:tcPr>
                </a:tc>
                <a:tc>
                  <a:txBody>
                    <a:bodyPr wrap="square"/>
                    <a:lstStyle/>
                    <a:p>
                      <a:r>
                        <a:rPr sz="1500" b="1">
                          <a:solidFill>
                            <a:srgbClr val="1B1B1B"/>
                          </a:solidFill>
                          <a:latin typeface="Arial"/>
                        </a:rPr>
                        <a:t>Built from</a:t>
                      </a:r>
                    </a:p>
                  </a:txBody>
                  <a:tcPr marL="54864" marR="54864" marT="27432" marB="27432" anchor="ctr">
                    <a:solidFill>
                      <a:srgbClr val="E8DFF2"/>
                    </a:solidFill>
                  </a:tcPr>
                </a:tc>
                <a:tc>
                  <a:txBody>
                    <a:bodyPr wrap="square"/>
                    <a:lstStyle/>
                    <a:p>
                      <a:r>
                        <a:rPr sz="1500" b="1">
                          <a:solidFill>
                            <a:srgbClr val="1B1B1B"/>
                          </a:solidFill>
                          <a:latin typeface="Arial"/>
                        </a:rPr>
                        <a:t>Depends on</a:t>
                      </a:r>
                    </a:p>
                  </a:txBody>
                  <a:tcPr marL="54864" marR="54864" marT="27432" marB="27432" anchor="ctr">
                    <a:solidFill>
                      <a:srgbClr val="E8DFF2"/>
                    </a:solidFill>
                  </a:tcPr>
                </a:tc>
              </a:tr>
              <a:tr h="548640">
                <a:tc>
                  <a:txBody>
                    <a:bodyPr wrap="square"/>
                    <a:lstStyle/>
                    <a:p>
                      <a:r>
                        <a:rPr sz="1500" b="0">
                          <a:solidFill>
                            <a:srgbClr val="1B1B1B"/>
                          </a:solidFill>
                          <a:latin typeface="Arial"/>
                        </a:rPr>
                        <a:t>2a  nominal envelope</a:t>
                      </a:r>
                    </a:p>
                  </a:txBody>
                  <a:tcPr marL="54864" marR="54864" marT="27432" marB="27432" anchor="ctr">
                    <a:solidFill>
                      <a:srgbClr val="FFFFFF"/>
                    </a:solidFill>
                  </a:tcPr>
                </a:tc>
                <a:tc>
                  <a:txBody>
                    <a:bodyPr wrap="square"/>
                    <a:lstStyle/>
                    <a:p>
                      <a:r>
                        <a:rPr sz="1500" b="0">
                          <a:solidFill>
                            <a:srgbClr val="1B1B1B"/>
                          </a:solidFill>
                          <a:latin typeface="Arial"/>
                        </a:rPr>
                        <a:t>Where will I go, relative to where I THINK I am?</a:t>
                      </a:r>
                    </a:p>
                  </a:txBody>
                  <a:tcPr marL="54864" marR="54864" marT="27432" marB="27432" anchor="ctr">
                    <a:solidFill>
                      <a:srgbClr val="FFFFFF"/>
                    </a:solidFill>
                  </a:tcPr>
                </a:tc>
                <a:tc>
                  <a:txBody>
                    <a:bodyPr wrap="square"/>
                    <a:lstStyle/>
                    <a:p>
                      <a:r>
                        <a:rPr sz="1500" b="0">
                          <a:solidFill>
                            <a:srgbClr val="1B1B1B"/>
                          </a:solidFill>
                          <a:latin typeface="Arial"/>
                        </a:rPr>
                        <a:t>Forecast + 200 real error trajectories from the 150 most similar calibration scenes (model embedding)</a:t>
                      </a:r>
                    </a:p>
                  </a:txBody>
                  <a:tcPr marL="54864" marR="54864" marT="27432" marB="27432" anchor="ctr">
                    <a:solidFill>
                      <a:srgbClr val="FFFFFF"/>
                    </a:solidFill>
                  </a:tcPr>
                </a:tc>
                <a:tc>
                  <a:txBody>
                    <a:bodyPr wrap="square"/>
                    <a:lstStyle/>
                    <a:p>
                      <a:r>
                        <a:rPr sz="1500" b="0">
                          <a:solidFill>
                            <a:srgbClr val="1B1B1B"/>
                          </a:solidFill>
                          <a:latin typeface="Arial"/>
                        </a:rPr>
                        <a:t>Prediction only</a:t>
                      </a:r>
                    </a:p>
                  </a:txBody>
                  <a:tcPr marL="54864" marR="54864" marT="27432" marB="27432" anchor="ctr">
                    <a:solidFill>
                      <a:srgbClr val="FFFFFF"/>
                    </a:solidFill>
                  </a:tcPr>
                </a:tc>
              </a:tr>
              <a:tr h="548640">
                <a:tc>
                  <a:txBody>
                    <a:bodyPr wrap="square"/>
                    <a:lstStyle/>
                    <a:p>
                      <a:r>
                        <a:rPr sz="1500" b="0">
                          <a:solidFill>
                            <a:srgbClr val="1B1B1B"/>
                          </a:solidFill>
                          <a:latin typeface="Arial"/>
                        </a:rPr>
                        <a:t>2b  move</a:t>
                      </a:r>
                    </a:p>
                  </a:txBody>
                  <a:tcPr marL="54864" marR="54864" marT="27432" marB="27432" anchor="ctr">
                    <a:solidFill>
                      <a:srgbClr val="FFFFFF"/>
                    </a:solidFill>
                  </a:tcPr>
                </a:tc>
                <a:tc>
                  <a:txBody>
                    <a:bodyPr wrap="square"/>
                    <a:lstStyle/>
                    <a:p>
                      <a:r>
                        <a:rPr sz="1500" b="0">
                          <a:solidFill>
                            <a:srgbClr val="1B1B1B"/>
                          </a:solidFill>
                          <a:latin typeface="Arial"/>
                        </a:rPr>
                        <a:t>Where am I REALLY, relative to where I think I am?</a:t>
                      </a:r>
                    </a:p>
                  </a:txBody>
                  <a:tcPr marL="54864" marR="54864" marT="27432" marB="27432" anchor="ctr">
                    <a:solidFill>
                      <a:srgbClr val="FFFFFF"/>
                    </a:solidFill>
                  </a:tcPr>
                </a:tc>
                <a:tc>
                  <a:txBody>
                    <a:bodyPr wrap="square"/>
                    <a:lstStyle/>
                    <a:p>
                      <a:r>
                        <a:rPr sz="1500" b="0">
                          <a:solidFill>
                            <a:srgbClr val="1B1B1B"/>
                          </a:solidFill>
                          <a:latin typeface="Arial"/>
                        </a:rPr>
                        <a:t>Pose-error estimate δ̂ and covariance P (previous slide)</a:t>
                      </a:r>
                    </a:p>
                  </a:txBody>
                  <a:tcPr marL="54864" marR="54864" marT="27432" marB="27432" anchor="ctr">
                    <a:solidFill>
                      <a:srgbClr val="FFFFFF"/>
                    </a:solidFill>
                  </a:tcPr>
                </a:tc>
                <a:tc>
                  <a:txBody>
                    <a:bodyPr wrap="square"/>
                    <a:lstStyle/>
                    <a:p>
                      <a:r>
                        <a:rPr sz="1500" b="0">
                          <a:solidFill>
                            <a:srgbClr val="1B1B1B"/>
                          </a:solidFill>
                          <a:latin typeface="Arial"/>
                        </a:rPr>
                        <a:t>Consistency only</a:t>
                      </a:r>
                    </a:p>
                  </a:txBody>
                  <a:tcPr marL="54864" marR="54864" marT="27432" marB="27432" anchor="ctr">
                    <a:solidFill>
                      <a:srgbClr val="FFFFFF"/>
                    </a:solidFill>
                  </a:tcPr>
                </a:tc>
              </a:tr>
              <a:tr h="548640">
                <a:tc>
                  <a:txBody>
                    <a:bodyPr wrap="square"/>
                    <a:lstStyle/>
                    <a:p>
                      <a:r>
                        <a:rPr sz="1500" b="0">
                          <a:solidFill>
                            <a:srgbClr val="1B1B1B"/>
                          </a:solidFill>
                          <a:latin typeface="Arial"/>
                        </a:rPr>
                        <a:t>2c  safe sets</a:t>
                      </a:r>
                    </a:p>
                  </a:txBody>
                  <a:tcPr marL="54864" marR="54864" marT="27432" marB="27432" anchor="ctr">
                    <a:solidFill>
                      <a:srgbClr val="FFFFFF"/>
                    </a:solidFill>
                  </a:tcPr>
                </a:tc>
                <a:tc>
                  <a:txBody>
                    <a:bodyPr wrap="square"/>
                    <a:lstStyle/>
                    <a:p>
                      <a:r>
                        <a:rPr sz="1500" b="0">
                          <a:solidFill>
                            <a:srgbClr val="1B1B1B"/>
                          </a:solidFill>
                          <a:latin typeface="Arial"/>
                        </a:rPr>
                        <a:t>Is the real future safe?</a:t>
                      </a:r>
                    </a:p>
                  </a:txBody>
                  <a:tcPr marL="54864" marR="54864" marT="27432" marB="27432" anchor="ctr">
                    <a:solidFill>
                      <a:srgbClr val="FFFFFF"/>
                    </a:solidFill>
                  </a:tcPr>
                </a:tc>
                <a:tc>
                  <a:txBody>
                    <a:bodyPr wrap="square"/>
                    <a:lstStyle/>
                    <a:p>
                      <a:r>
                        <a:rPr sz="1500" b="0">
                          <a:solidFill>
                            <a:srgbClr val="1B1B1B"/>
                          </a:solidFill>
                          <a:latin typeface="Arial"/>
                        </a:rPr>
                        <a:t>Drivable area (HD map) and tracked objects</a:t>
                      </a:r>
                    </a:p>
                  </a:txBody>
                  <a:tcPr marL="54864" marR="54864" marT="27432" marB="27432" anchor="ctr">
                    <a:solidFill>
                      <a:srgbClr val="FFFFFF"/>
                    </a:solidFill>
                  </a:tcPr>
                </a:tc>
                <a:tc>
                  <a:txBody>
                    <a:bodyPr wrap="square"/>
                    <a:lstStyle/>
                    <a:p>
                      <a:r>
                        <a:rPr sz="1500" b="0">
                          <a:solidFill>
                            <a:srgbClr val="1B1B1B"/>
                          </a:solidFill>
                          <a:latin typeface="Arial"/>
                        </a:rPr>
                        <a:t>Neither: map and objects</a:t>
                      </a:r>
                    </a:p>
                  </a:txBody>
                  <a:tcPr marL="54864" marR="54864" marT="27432" marB="27432" anchor="ctr">
                    <a:solidFill>
                      <a:srgbClr val="FFFFFF"/>
                    </a:solidFill>
                  </a:tcPr>
                </a:tc>
              </a:tr>
            </a:tbl>
          </a:graphicData>
        </a:graphic>
      </p:graphicFrame>
      <p:sp>
        <p:nvSpPr>
          <p:cNvPr id="170" name="TextBox 169"/>
          <p:cNvSpPr txBox="1"/>
          <p:nvPr/>
        </p:nvSpPr>
        <p:spPr>
          <a:xfrm>
            <a:off x="713232" y="3429000"/>
            <a:ext cx="10945367" cy="2743200"/>
          </a:xfrm>
          <a:prstGeom prst="rect">
            <a:avLst/>
          </a:prstGeom>
          <a:noFill/>
        </p:spPr>
        <p:txBody>
          <a:bodyPr wrap="square">
            <a:spAutoFit/>
          </a:bodyPr>
          <a:lstStyle/>
          <a:p>
            <a:r>
              <a:rPr sz="1700" b="1">
                <a:solidFill>
                  <a:srgbClr val="1B1B1B"/>
                </a:solidFill>
                <a:latin typeface="Arial"/>
              </a:rPr>
              <a:t>Why a rigid move is the right model</a:t>
            </a:r>
          </a:p>
          <a:p>
            <a:r>
              <a:rPr sz="1700" b="0">
                <a:solidFill>
                  <a:srgbClr val="1B1B1B"/>
                </a:solidFill>
                <a:latin typeface="Arial"/>
              </a:rPr>
              <a:t>Under a localization fault, Autoware's plan is right IN ITS OWN FRAME: it believes it is centred in the lane and steers to stay there. The frame is wrong.</a:t>
            </a:r>
          </a:p>
          <a:p>
            <a:r>
              <a:rPr sz="1700" b="1">
                <a:solidFill>
                  <a:srgbClr val="1B1B1B"/>
                </a:solidFill>
                <a:latin typeface="Arial"/>
              </a:rPr>
              <a:t>True future = believed future, rotated and shifted by the pose error.</a:t>
            </a:r>
          </a:p>
          <a:p>
            <a:r>
              <a:rPr sz="1700" b="0">
                <a:solidFill>
                  <a:srgbClr val="1B1B1B"/>
                </a:solidFill>
                <a:latin typeface="Arial"/>
              </a:rPr>
              <a:t/>
            </a:r>
          </a:p>
          <a:p>
            <a:r>
              <a:rPr sz="1700" b="0">
                <a:solidFill>
                  <a:srgbClr val="1B1B1B"/>
                </a:solidFill>
                <a:latin typeface="Arial"/>
              </a:rPr>
              <a:t>  → Prediction alone: P stays at its nominal value; the fault is invisible.</a:t>
            </a:r>
          </a:p>
          <a:p>
            <a:r>
              <a:rPr sz="1700" b="0">
                <a:solidFill>
                  <a:srgbClr val="1B1B1B"/>
                </a:solidFill>
                <a:latin typeface="Arial"/>
              </a:rPr>
              <a:t>  → Pose error alone: you know you are 2 m off, but not whether that matters here, or how soon.</a:t>
            </a:r>
          </a:p>
          <a:p>
            <a:r>
              <a:rPr sz="1700" b="0">
                <a:solidFill>
                  <a:srgbClr val="1B1B1B"/>
                </a:solidFill>
                <a:latin typeface="Arial"/>
              </a:rPr>
              <a:t>  → Together: the same 25° error is harmless on one road and a departure on another.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How the envelope moves, step by step</a:t>
            </a:r>
          </a:p>
        </p:txBody>
      </p:sp>
      <p:pic>
        <p:nvPicPr>
          <p:cNvPr id="169" name="Picture 168" descr="envelope_shift_explainer.png"/>
          <p:cNvPicPr>
            <a:picLocks noChangeAspect="1"/>
          </p:cNvPicPr>
          <p:nvPr/>
        </p:nvPicPr>
        <p:blipFill>
          <a:blip r:embed="rId3"/>
          <a:stretch>
            <a:fillRect/>
          </a:stretch>
        </p:blipFill>
        <p:spPr>
          <a:xfrm>
            <a:off x="1783080" y="777240"/>
            <a:ext cx="9090837" cy="5212080"/>
          </a:xfrm>
          <a:prstGeom prst="rect">
            <a:avLst/>
          </a:prstGeom>
        </p:spPr>
      </p:pic>
      <p:sp>
        <p:nvSpPr>
          <p:cNvPr id="170" name="TextBox 169"/>
          <p:cNvSpPr txBox="1"/>
          <p:nvPr/>
        </p:nvSpPr>
        <p:spPr>
          <a:xfrm>
            <a:off x="713232" y="6035040"/>
            <a:ext cx="10945367" cy="365760"/>
          </a:xfrm>
          <a:prstGeom prst="rect">
            <a:avLst/>
          </a:prstGeom>
          <a:noFill/>
        </p:spPr>
        <p:txBody>
          <a:bodyPr wrap="square">
            <a:spAutoFit/>
          </a:bodyPr>
          <a:lstStyle/>
          <a:p>
            <a:r>
              <a:rPr sz="1400" b="1">
                <a:solidFill>
                  <a:srgbClr val="1B1B1B"/>
                </a:solidFill>
                <a:latin typeface="Arial"/>
              </a:rPr>
              <a:t>Rule of thumb: </a:t>
            </a:r>
            <a:r>
              <a:rPr sz="1400" b="0">
                <a:solidFill>
                  <a:srgbClr val="1B1B1B"/>
                </a:solidFill>
                <a:latin typeface="Arial"/>
              </a:rPr>
              <a:t>a point d metres ahead moves sideways by ≈ ŷ + d·sin ψ̂.  Formally: τ_k = R(ψ_k)(μ + ε_k) + (x_k, y_k),  δ_k ~ N(δ̂, 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The same steps on a real departure</a:t>
            </a:r>
          </a:p>
        </p:txBody>
      </p:sp>
      <p:pic>
        <p:nvPicPr>
          <p:cNvPr id="169" name="Picture 168" descr="envelope_explainer_imu_fault_scale__goal_007.png"/>
          <p:cNvPicPr>
            <a:picLocks noChangeAspect="1"/>
          </p:cNvPicPr>
          <p:nvPr/>
        </p:nvPicPr>
        <p:blipFill>
          <a:blip r:embed="rId3"/>
          <a:stretch>
            <a:fillRect/>
          </a:stretch>
        </p:blipFill>
        <p:spPr>
          <a:xfrm>
            <a:off x="713232" y="914400"/>
            <a:ext cx="11082528" cy="3588628"/>
          </a:xfrm>
          <a:prstGeom prst="rect">
            <a:avLst/>
          </a:prstGeom>
        </p:spPr>
      </p:pic>
      <p:sp>
        <p:nvSpPr>
          <p:cNvPr id="170" name="TextBox 169"/>
          <p:cNvSpPr txBox="1"/>
          <p:nvPr/>
        </p:nvSpPr>
        <p:spPr>
          <a:xfrm>
            <a:off x="713232" y="4800600"/>
            <a:ext cx="10945367" cy="1371600"/>
          </a:xfrm>
          <a:prstGeom prst="rect">
            <a:avLst/>
          </a:prstGeom>
          <a:noFill/>
        </p:spPr>
        <p:txBody>
          <a:bodyPr wrap="square">
            <a:spAutoFit/>
          </a:bodyPr>
          <a:lstStyle/>
          <a:p>
            <a:r>
              <a:rPr sz="1500" b="0">
                <a:solidFill>
                  <a:srgbClr val="1B1B1B"/>
                </a:solidFill>
                <a:latin typeface="Arial"/>
              </a:rPr>
              <a:t>imu_fault_scale / goal_007, t = 52.5 s, 2 s before the real departure. Heading error: true −13.9°, estimated −12.8°.</a:t>
            </a:r>
          </a:p>
          <a:p>
            <a:r>
              <a:rPr sz="1500" b="0">
                <a:solidFill>
                  <a:srgbClr val="1B1B1B"/>
                </a:solidFill>
                <a:latin typeface="Arial"/>
              </a:rPr>
              <a:t>The futures are samples of a distribution (b): each line = forecast + one real error trajectory from a similar scene. 2b moves the whole distribution onto the true path (c).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What each module adds</a:t>
            </a:r>
          </a:p>
        </p:txBody>
      </p:sp>
      <p:pic>
        <p:nvPicPr>
          <p:cNvPr id="169" name="Picture 168" descr="envelope_stages_imu_fault_scale__goal_007.png"/>
          <p:cNvPicPr>
            <a:picLocks noChangeAspect="1"/>
          </p:cNvPicPr>
          <p:nvPr/>
        </p:nvPicPr>
        <p:blipFill>
          <a:blip r:embed="rId3"/>
          <a:stretch>
            <a:fillRect/>
          </a:stretch>
        </p:blipFill>
        <p:spPr>
          <a:xfrm>
            <a:off x="713232" y="777240"/>
            <a:ext cx="5967984" cy="5532120"/>
          </a:xfrm>
          <a:prstGeom prst="rect">
            <a:avLst/>
          </a:prstGeom>
        </p:spPr>
      </p:pic>
      <p:sp>
        <p:nvSpPr>
          <p:cNvPr id="170" name="TextBox 169"/>
          <p:cNvSpPr txBox="1"/>
          <p:nvPr/>
        </p:nvSpPr>
        <p:spPr>
          <a:xfrm>
            <a:off x="6583680" y="1097280"/>
            <a:ext cx="5120640" cy="4937760"/>
          </a:xfrm>
          <a:prstGeom prst="rect">
            <a:avLst/>
          </a:prstGeom>
          <a:noFill/>
        </p:spPr>
        <p:txBody>
          <a:bodyPr wrap="square">
            <a:spAutoFit/>
          </a:bodyPr>
          <a:lstStyle/>
          <a:p>
            <a:r>
              <a:rPr sz="1600" b="1">
                <a:solidFill>
                  <a:srgbClr val="1B1B1B"/>
                </a:solidFill>
                <a:latin typeface="Arial"/>
              </a:rPr>
              <a:t>Rows (top to bottom)</a:t>
            </a:r>
          </a:p>
          <a:p>
            <a:r>
              <a:rPr sz="1600" b="0">
                <a:solidFill>
                  <a:srgbClr val="1B1B1B"/>
                </a:solidFill>
                <a:latin typeface="Arial"/>
              </a:rPr>
              <a:t>1  Layer 1: forecast + 90% band (believed frame)</a:t>
            </a:r>
          </a:p>
          <a:p>
            <a:r>
              <a:rPr sz="1600" b="0">
                <a:solidFill>
                  <a:srgbClr val="1B1B1B"/>
                </a:solidFill>
                <a:latin typeface="Arial"/>
              </a:rPr>
              <a:t>2  + 2a: scene-conditioned futures (still believed frame)</a:t>
            </a:r>
          </a:p>
          <a:p>
            <a:r>
              <a:rPr sz="1600" b="0">
                <a:solidFill>
                  <a:srgbClr val="1B1B1B"/>
                </a:solidFill>
                <a:latin typeface="Arial"/>
              </a:rPr>
              <a:t>3  + 2b: futures moved by the estimated pose error</a:t>
            </a:r>
          </a:p>
          <a:p>
            <a:r>
              <a:rPr sz="1600" b="0">
                <a:solidFill>
                  <a:srgbClr val="1B1B1B"/>
                </a:solidFill>
                <a:latin typeface="Arial"/>
              </a:rPr>
              <a:t>4  + correction: believed path − δ̂ (purple) lies on the TRUE path (orange)</a:t>
            </a:r>
          </a:p>
          <a:p>
            <a:r>
              <a:rPr sz="1600" b="0">
                <a:solidFill>
                  <a:srgbClr val="1B1B1B"/>
                </a:solidFill>
                <a:latin typeface="Arial"/>
              </a:rPr>
              <a:t/>
            </a:r>
          </a:p>
          <a:p>
            <a:r>
              <a:rPr sz="1600" b="1">
                <a:solidFill>
                  <a:srgbClr val="1B1B1B"/>
                </a:solidFill>
                <a:latin typeface="Arial"/>
              </a:rPr>
              <a:t>Columns: </a:t>
            </a:r>
            <a:r>
              <a:rPr sz="1600" b="0">
                <a:solidFill>
                  <a:srgbClr val="1B1B1B"/>
                </a:solidFill>
                <a:latin typeface="Arial"/>
              </a:rPr>
              <a:t>11.5, 4.8, 2.0, 0.3 s before the departure.</a:t>
            </a:r>
          </a:p>
          <a:p>
            <a:r>
              <a:rPr sz="1600" b="0">
                <a:solidFill>
                  <a:srgbClr val="1B1B1B"/>
                </a:solidFill>
                <a:latin typeface="Arial"/>
              </a:rPr>
              <a:t/>
            </a:r>
          </a:p>
          <a:p>
            <a:r>
              <a:rPr sz="1600" b="1">
                <a:solidFill>
                  <a:srgbClr val="1B1B1B"/>
                </a:solidFill>
                <a:latin typeface="Arial"/>
              </a:rPr>
              <a:t>P at 2 s before departure:</a:t>
            </a:r>
          </a:p>
          <a:p>
            <a:r>
              <a:rPr sz="1600" b="0">
                <a:solidFill>
                  <a:srgbClr val="1B1B1B"/>
                </a:solidFill>
                <a:latin typeface="Arial"/>
              </a:rPr>
              <a:t>  2a only: 0.14   →   with 2b: 1.00</a:t>
            </a:r>
          </a:p>
          <a:p>
            <a:r>
              <a:rPr sz="1600" b="0">
                <a:solidFill>
                  <a:srgbClr val="1B1B1B"/>
                </a:solidFill>
                <a:latin typeface="Arial"/>
              </a:rPr>
              <a:t/>
            </a:r>
          </a:p>
          <a:p>
            <a:r>
              <a:rPr sz="1600" b="0">
                <a:solidFill>
                  <a:srgbClr val="1B1B1B"/>
                </a:solidFill>
                <a:latin typeface="Arial"/>
              </a:rPr>
              <a:t>Earliest column: nothing moves, P = 0 in every row.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From warning to correction (offline)</a:t>
            </a:r>
          </a:p>
        </p:txBody>
      </p:sp>
      <p:pic>
        <p:nvPicPr>
          <p:cNvPr id="169" name="Picture 168" descr="correction_offline.png"/>
          <p:cNvPicPr>
            <a:picLocks noChangeAspect="1"/>
          </p:cNvPicPr>
          <p:nvPr/>
        </p:nvPicPr>
        <p:blipFill>
          <a:blip r:embed="rId3"/>
          <a:stretch>
            <a:fillRect/>
          </a:stretch>
        </p:blipFill>
        <p:spPr>
          <a:xfrm>
            <a:off x="713232" y="868680"/>
            <a:ext cx="11082528" cy="3283712"/>
          </a:xfrm>
          <a:prstGeom prst="rect">
            <a:avLst/>
          </a:prstGeom>
        </p:spPr>
      </p:pic>
      <p:graphicFrame>
        <p:nvGraphicFramePr>
          <p:cNvPr id="170" name="Table 169"/>
          <p:cNvGraphicFramePr>
            <a:graphicFrameLocks noGrp="1"/>
          </p:cNvGraphicFramePr>
          <p:nvPr/>
        </p:nvGraphicFramePr>
        <p:xfrm>
          <a:off x="713232" y="4434840"/>
          <a:ext cx="10899646" cy="1152144"/>
        </p:xfrm>
        <a:graphic>
          <a:graphicData uri="http://schemas.openxmlformats.org/drawingml/2006/table">
            <a:tbl>
              <a:tblPr firstRow="1" bandRow="1">
                <a:tableStyleId>{5C22544A-7EE6-4342-B048-85BDC9FD1C3A}</a:tableStyleId>
              </a:tblPr>
              <a:tblGrid>
                <a:gridCol w="3332950"/>
                <a:gridCol w="1891674"/>
                <a:gridCol w="1891674"/>
                <a:gridCol w="1891674"/>
                <a:gridCol w="1891674"/>
              </a:tblGrid>
              <a:tr h="384048">
                <a:tc>
                  <a:txBody>
                    <a:bodyPr wrap="square"/>
                    <a:lstStyle/>
                    <a:p>
                      <a:r>
                        <a:rPr sz="1500" b="1">
                          <a:solidFill>
                            <a:srgbClr val="1B1B1B"/>
                          </a:solidFill>
                          <a:latin typeface="Arial"/>
                        </a:rPr>
                        <a:t>At departure</a:t>
                      </a:r>
                    </a:p>
                  </a:txBody>
                  <a:tcPr marL="54864" marR="54864" marT="27432" marB="27432" anchor="ctr">
                    <a:solidFill>
                      <a:srgbClr val="E8DFF2"/>
                    </a:solidFill>
                  </a:tcPr>
                </a:tc>
                <a:tc>
                  <a:txBody>
                    <a:bodyPr wrap="square"/>
                    <a:lstStyle/>
                    <a:p>
                      <a:r>
                        <a:rPr sz="1500" b="1">
                          <a:solidFill>
                            <a:srgbClr val="1B1B1B"/>
                          </a:solidFill>
                          <a:latin typeface="Arial"/>
                        </a:rPr>
                        <a:t>scale / 007</a:t>
                      </a:r>
                    </a:p>
                  </a:txBody>
                  <a:tcPr marL="54864" marR="54864" marT="27432" marB="27432" anchor="ctr">
                    <a:solidFill>
                      <a:srgbClr val="E8DFF2"/>
                    </a:solidFill>
                  </a:tcPr>
                </a:tc>
                <a:tc>
                  <a:txBody>
                    <a:bodyPr wrap="square"/>
                    <a:lstStyle/>
                    <a:p>
                      <a:r>
                        <a:rPr sz="1500" b="1">
                          <a:solidFill>
                            <a:srgbClr val="1B1B1B"/>
                          </a:solidFill>
                          <a:latin typeface="Arial"/>
                        </a:rPr>
                        <a:t>s3 / 007</a:t>
                      </a:r>
                    </a:p>
                  </a:txBody>
                  <a:tcPr marL="54864" marR="54864" marT="27432" marB="27432" anchor="ctr">
                    <a:solidFill>
                      <a:srgbClr val="E8DFF2"/>
                    </a:solidFill>
                  </a:tcPr>
                </a:tc>
                <a:tc>
                  <a:txBody>
                    <a:bodyPr wrap="square"/>
                    <a:lstStyle/>
                    <a:p>
                      <a:r>
                        <a:rPr sz="1500" b="1">
                          <a:solidFill>
                            <a:srgbClr val="1B1B1B"/>
                          </a:solidFill>
                          <a:latin typeface="Arial"/>
                        </a:rPr>
                        <a:t>stuck / 007</a:t>
                      </a:r>
                    </a:p>
                  </a:txBody>
                  <a:tcPr marL="54864" marR="54864" marT="27432" marB="27432" anchor="ctr">
                    <a:solidFill>
                      <a:srgbClr val="E8DFF2"/>
                    </a:solidFill>
                  </a:tcPr>
                </a:tc>
                <a:tc>
                  <a:txBody>
                    <a:bodyPr wrap="square"/>
                    <a:lstStyle/>
                    <a:p>
                      <a:r>
                        <a:rPr sz="1500" b="1">
                          <a:solidFill>
                            <a:srgbClr val="1B1B1B"/>
                          </a:solidFill>
                          <a:latin typeface="Arial"/>
                        </a:rPr>
                        <a:t>stuck / 012</a:t>
                      </a:r>
                    </a:p>
                  </a:txBody>
                  <a:tcPr marL="54864" marR="54864" marT="27432" marB="27432" anchor="ctr">
                    <a:solidFill>
                      <a:srgbClr val="E8DFF2"/>
                    </a:solidFill>
                  </a:tcPr>
                </a:tc>
              </a:tr>
              <a:tr h="384048">
                <a:tc>
                  <a:txBody>
                    <a:bodyPr wrap="square"/>
                    <a:lstStyle/>
                    <a:p>
                      <a:r>
                        <a:rPr sz="1500" b="0">
                          <a:solidFill>
                            <a:srgbClr val="1B1B1B"/>
                          </a:solidFill>
                          <a:latin typeface="Arial"/>
                        </a:rPr>
                        <a:t>Heading error: Autoware → corrected</a:t>
                      </a:r>
                    </a:p>
                  </a:txBody>
                  <a:tcPr marL="54864" marR="54864" marT="27432" marB="27432" anchor="ctr">
                    <a:solidFill>
                      <a:srgbClr val="FFFFFF"/>
                    </a:solidFill>
                  </a:tcPr>
                </a:tc>
                <a:tc>
                  <a:txBody>
                    <a:bodyPr wrap="square"/>
                    <a:lstStyle/>
                    <a:p>
                      <a:r>
                        <a:rPr sz="1500" b="0">
                          <a:solidFill>
                            <a:srgbClr val="1B1B1B"/>
                          </a:solidFill>
                          <a:latin typeface="Arial"/>
                        </a:rPr>
                        <a:t>22.7° → 1.3°</a:t>
                      </a:r>
                    </a:p>
                  </a:txBody>
                  <a:tcPr marL="54864" marR="54864" marT="27432" marB="27432" anchor="ctr">
                    <a:solidFill>
                      <a:srgbClr val="FFFFFF"/>
                    </a:solidFill>
                  </a:tcPr>
                </a:tc>
                <a:tc>
                  <a:txBody>
                    <a:bodyPr wrap="square"/>
                    <a:lstStyle/>
                    <a:p>
                      <a:r>
                        <a:rPr sz="1500" b="0">
                          <a:solidFill>
                            <a:srgbClr val="1B1B1B"/>
                          </a:solidFill>
                          <a:latin typeface="Arial"/>
                        </a:rPr>
                        <a:t>23.2° → 1.0°</a:t>
                      </a:r>
                    </a:p>
                  </a:txBody>
                  <a:tcPr marL="54864" marR="54864" marT="27432" marB="27432" anchor="ctr">
                    <a:solidFill>
                      <a:srgbClr val="FFFFFF"/>
                    </a:solidFill>
                  </a:tcPr>
                </a:tc>
                <a:tc>
                  <a:txBody>
                    <a:bodyPr wrap="square"/>
                    <a:lstStyle/>
                    <a:p>
                      <a:r>
                        <a:rPr sz="1500" b="0">
                          <a:solidFill>
                            <a:srgbClr val="1B1B1B"/>
                          </a:solidFill>
                          <a:latin typeface="Arial"/>
                        </a:rPr>
                        <a:t>95.4° → 1.7°</a:t>
                      </a:r>
                    </a:p>
                  </a:txBody>
                  <a:tcPr marL="54864" marR="54864" marT="27432" marB="27432" anchor="ctr">
                    <a:solidFill>
                      <a:srgbClr val="FFFFFF"/>
                    </a:solidFill>
                  </a:tcPr>
                </a:tc>
                <a:tc>
                  <a:txBody>
                    <a:bodyPr wrap="square"/>
                    <a:lstStyle/>
                    <a:p>
                      <a:r>
                        <a:rPr sz="1500" b="0">
                          <a:solidFill>
                            <a:srgbClr val="1B1B1B"/>
                          </a:solidFill>
                          <a:latin typeface="Arial"/>
                        </a:rPr>
                        <a:t>26.3° → 2.6°</a:t>
                      </a:r>
                    </a:p>
                  </a:txBody>
                  <a:tcPr marL="54864" marR="54864" marT="27432" marB="27432" anchor="ctr">
                    <a:solidFill>
                      <a:srgbClr val="FFFFFF"/>
                    </a:solidFill>
                  </a:tcPr>
                </a:tc>
              </a:tr>
              <a:tr h="384048">
                <a:tc>
                  <a:txBody>
                    <a:bodyPr wrap="square"/>
                    <a:lstStyle/>
                    <a:p>
                      <a:r>
                        <a:rPr sz="1500" b="0">
                          <a:solidFill>
                            <a:srgbClr val="1B1B1B"/>
                          </a:solidFill>
                          <a:latin typeface="Arial"/>
                        </a:rPr>
                        <a:t>Lateral error: Autoware → corrected</a:t>
                      </a:r>
                    </a:p>
                  </a:txBody>
                  <a:tcPr marL="54864" marR="54864" marT="27432" marB="27432" anchor="ctr">
                    <a:solidFill>
                      <a:srgbClr val="FFFFFF"/>
                    </a:solidFill>
                  </a:tcPr>
                </a:tc>
                <a:tc>
                  <a:txBody>
                    <a:bodyPr wrap="square"/>
                    <a:lstStyle/>
                    <a:p>
                      <a:r>
                        <a:rPr sz="1500" b="0">
                          <a:solidFill>
                            <a:srgbClr val="1B1B1B"/>
                          </a:solidFill>
                          <a:latin typeface="Arial"/>
                        </a:rPr>
                        <a:t>3.5 → 1.2 m</a:t>
                      </a:r>
                    </a:p>
                  </a:txBody>
                  <a:tcPr marL="54864" marR="54864" marT="27432" marB="27432" anchor="ctr">
                    <a:solidFill>
                      <a:srgbClr val="FFFFFF"/>
                    </a:solidFill>
                  </a:tcPr>
                </a:tc>
                <a:tc>
                  <a:txBody>
                    <a:bodyPr wrap="square"/>
                    <a:lstStyle/>
                    <a:p>
                      <a:r>
                        <a:rPr sz="1500" b="0">
                          <a:solidFill>
                            <a:srgbClr val="1B1B1B"/>
                          </a:solidFill>
                          <a:latin typeface="Arial"/>
                        </a:rPr>
                        <a:t>2.7 → 1.0 m</a:t>
                      </a:r>
                    </a:p>
                  </a:txBody>
                  <a:tcPr marL="54864" marR="54864" marT="27432" marB="27432" anchor="ctr">
                    <a:solidFill>
                      <a:srgbClr val="FFFFFF"/>
                    </a:solidFill>
                  </a:tcPr>
                </a:tc>
                <a:tc>
                  <a:txBody>
                    <a:bodyPr wrap="square"/>
                    <a:lstStyle/>
                    <a:p>
                      <a:r>
                        <a:rPr sz="1500" b="0">
                          <a:solidFill>
                            <a:srgbClr val="1B1B1B"/>
                          </a:solidFill>
                          <a:latin typeface="Arial"/>
                        </a:rPr>
                        <a:t>5.8 → 0.8 m</a:t>
                      </a:r>
                    </a:p>
                  </a:txBody>
                  <a:tcPr marL="54864" marR="54864" marT="27432" marB="27432" anchor="ctr">
                    <a:solidFill>
                      <a:srgbClr val="FFFFFF"/>
                    </a:solidFill>
                  </a:tcPr>
                </a:tc>
                <a:tc>
                  <a:txBody>
                    <a:bodyPr wrap="square"/>
                    <a:lstStyle/>
                    <a:p>
                      <a:r>
                        <a:rPr sz="1500" b="0">
                          <a:solidFill>
                            <a:srgbClr val="1B1B1B"/>
                          </a:solidFill>
                          <a:latin typeface="Arial"/>
                        </a:rPr>
                        <a:t>0.8 → 0.4 m</a:t>
                      </a:r>
                    </a:p>
                  </a:txBody>
                  <a:tcPr marL="54864" marR="54864" marT="27432" marB="27432" anchor="ctr">
                    <a:solidFill>
                      <a:srgbClr val="FFFFFF"/>
                    </a:solidFill>
                  </a:tcPr>
                </a:tc>
              </a:tr>
            </a:tbl>
          </a:graphicData>
        </a:graphic>
      </p:graphicFrame>
      <p:sp>
        <p:nvSpPr>
          <p:cNvPr id="171" name="TextBox 170"/>
          <p:cNvSpPr txBox="1"/>
          <p:nvPr/>
        </p:nvSpPr>
        <p:spPr>
          <a:xfrm>
            <a:off x="713232" y="5669280"/>
            <a:ext cx="10899648" cy="548640"/>
          </a:xfrm>
          <a:prstGeom prst="rect">
            <a:avLst/>
          </a:prstGeom>
          <a:noFill/>
        </p:spPr>
        <p:txBody>
          <a:bodyPr wrap="square">
            <a:spAutoFit/>
          </a:bodyPr>
          <a:lstStyle/>
          <a:p>
            <a:r>
              <a:rPr sz="1400" b="1">
                <a:solidFill>
                  <a:srgbClr val="1B1B1B"/>
                </a:solidFill>
                <a:latin typeface="Arial"/>
              </a:rPr>
              <a:t>Open loop: </a:t>
            </a:r>
            <a:r>
              <a:rPr sz="1400" b="0">
                <a:solidFill>
                  <a:srgbClr val="1B1B1B"/>
                </a:solidFill>
                <a:latin typeface="Arial"/>
              </a:rPr>
              <a:t>the vehicle did not use the correction. Correct only while Layer 1 distrusts the state (harmless s1: 0.1 → 0.4 m if corrected).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Next: the closed-loop comparison</a:t>
            </a:r>
          </a:p>
        </p:txBody>
      </p:sp>
      <p:graphicFrame>
        <p:nvGraphicFramePr>
          <p:cNvPr id="169" name="Table 168"/>
          <p:cNvGraphicFramePr>
            <a:graphicFrameLocks noGrp="1"/>
          </p:cNvGraphicFramePr>
          <p:nvPr/>
        </p:nvGraphicFramePr>
        <p:xfrm>
          <a:off x="713232" y="1005840"/>
          <a:ext cx="10899647" cy="2514600"/>
        </p:xfrm>
        <a:graphic>
          <a:graphicData uri="http://schemas.openxmlformats.org/drawingml/2006/table">
            <a:tbl>
              <a:tblPr firstRow="1" bandRow="1">
                <a:tableStyleId>{5C22544A-7EE6-4342-B048-85BDC9FD1C3A}</a:tableStyleId>
              </a:tblPr>
              <a:tblGrid>
                <a:gridCol w="2342073"/>
                <a:gridCol w="4143667"/>
                <a:gridCol w="4413907"/>
              </a:tblGrid>
              <a:tr h="502920">
                <a:tc>
                  <a:txBody>
                    <a:bodyPr wrap="square"/>
                    <a:lstStyle/>
                    <a:p>
                      <a:r>
                        <a:rPr sz="1800" b="1">
                          <a:solidFill>
                            <a:srgbClr val="1B1B1B"/>
                          </a:solidFill>
                          <a:latin typeface="Arial"/>
                        </a:rPr>
                        <a:t>Configuration</a:t>
                      </a:r>
                    </a:p>
                  </a:txBody>
                  <a:tcPr marL="54864" marR="54864" marT="27432" marB="27432" anchor="ctr">
                    <a:solidFill>
                      <a:srgbClr val="E8DFF2"/>
                    </a:solidFill>
                  </a:tcPr>
                </a:tc>
                <a:tc>
                  <a:txBody>
                    <a:bodyPr wrap="square"/>
                    <a:lstStyle/>
                    <a:p>
                      <a:r>
                        <a:rPr sz="1800" b="1">
                          <a:solidFill>
                            <a:srgbClr val="1B1B1B"/>
                          </a:solidFill>
                          <a:latin typeface="Arial"/>
                        </a:rPr>
                        <a:t>Under a fault it…</a:t>
                      </a:r>
                    </a:p>
                  </a:txBody>
                  <a:tcPr marL="54864" marR="54864" marT="27432" marB="27432" anchor="ctr">
                    <a:solidFill>
                      <a:srgbClr val="E8DFF2"/>
                    </a:solidFill>
                  </a:tcPr>
                </a:tc>
                <a:tc>
                  <a:txBody>
                    <a:bodyPr wrap="square"/>
                    <a:lstStyle/>
                    <a:p>
                      <a:r>
                        <a:rPr sz="1800" b="1">
                          <a:solidFill>
                            <a:srgbClr val="1B1B1B"/>
                          </a:solidFill>
                          <a:latin typeface="Arial"/>
                        </a:rPr>
                        <a:t>Expected result</a:t>
                      </a:r>
                    </a:p>
                  </a:txBody>
                  <a:tcPr marL="54864" marR="54864" marT="27432" marB="27432" anchor="ctr">
                    <a:solidFill>
                      <a:srgbClr val="E8DFF2"/>
                    </a:solidFill>
                  </a:tcPr>
                </a:tc>
              </a:tr>
              <a:tr h="502920">
                <a:tc>
                  <a:txBody>
                    <a:bodyPr wrap="square"/>
                    <a:lstStyle/>
                    <a:p>
                      <a:r>
                        <a:rPr sz="1800" b="0">
                          <a:solidFill>
                            <a:srgbClr val="1B1B1B"/>
                          </a:solidFill>
                          <a:latin typeface="Arial"/>
                        </a:rPr>
                        <a:t>Autoware alone</a:t>
                      </a:r>
                    </a:p>
                  </a:txBody>
                  <a:tcPr marL="54864" marR="54864" marT="27432" marB="27432" anchor="ctr">
                    <a:solidFill>
                      <a:srgbClr val="FFFFFF"/>
                    </a:solidFill>
                  </a:tcPr>
                </a:tc>
                <a:tc>
                  <a:txBody>
                    <a:bodyPr wrap="square"/>
                    <a:lstStyle/>
                    <a:p>
                      <a:r>
                        <a:rPr sz="1800" b="0">
                          <a:solidFill>
                            <a:srgbClr val="1B1B1B"/>
                          </a:solidFill>
                          <a:latin typeface="Arial"/>
                        </a:rPr>
                        <a:t>does nothing</a:t>
                      </a:r>
                    </a:p>
                  </a:txBody>
                  <a:tcPr marL="54864" marR="54864" marT="27432" marB="27432" anchor="ctr">
                    <a:solidFill>
                      <a:srgbClr val="FFFFFF"/>
                    </a:solidFill>
                  </a:tcPr>
                </a:tc>
                <a:tc>
                  <a:txBody>
                    <a:bodyPr wrap="square"/>
                    <a:lstStyle/>
                    <a:p>
                      <a:r>
                        <a:rPr sz="1800" b="0">
                          <a:solidFill>
                            <a:srgbClr val="1B1B1B"/>
                          </a:solidFill>
                          <a:latin typeface="Arial"/>
                        </a:rPr>
                        <a:t>departs on s3, scale, stuck (measured)</a:t>
                      </a:r>
                    </a:p>
                  </a:txBody>
                  <a:tcPr marL="54864" marR="54864" marT="27432" marB="27432" anchor="ctr">
                    <a:solidFill>
                      <a:srgbClr val="FFFFFF"/>
                    </a:solidFill>
                  </a:tcPr>
                </a:tc>
              </a:tr>
              <a:tr h="502920">
                <a:tc>
                  <a:txBody>
                    <a:bodyPr wrap="square"/>
                    <a:lstStyle/>
                    <a:p>
                      <a:r>
                        <a:rPr sz="1800" b="0">
                          <a:solidFill>
                            <a:srgbClr val="1B1B1B"/>
                          </a:solidFill>
                          <a:latin typeface="Arial"/>
                        </a:rPr>
                        <a:t>+ Layer 1</a:t>
                      </a:r>
                    </a:p>
                  </a:txBody>
                  <a:tcPr marL="54864" marR="54864" marT="27432" marB="27432" anchor="ctr">
                    <a:solidFill>
                      <a:srgbClr val="FFFFFF"/>
                    </a:solidFill>
                  </a:tcPr>
                </a:tc>
                <a:tc>
                  <a:txBody>
                    <a:bodyPr wrap="square"/>
                    <a:lstStyle/>
                    <a:p>
                      <a:r>
                        <a:rPr sz="1800" b="0">
                          <a:solidFill>
                            <a:srgbClr val="1B1B1B"/>
                          </a:solidFill>
                          <a:latin typeface="Arial"/>
                        </a:rPr>
                        <a:t>stops on any anomaly</a:t>
                      </a:r>
                    </a:p>
                  </a:txBody>
                  <a:tcPr marL="54864" marR="54864" marT="27432" marB="27432" anchor="ctr">
                    <a:solidFill>
                      <a:srgbClr val="FFFFFF"/>
                    </a:solidFill>
                  </a:tcPr>
                </a:tc>
                <a:tc>
                  <a:txBody>
                    <a:bodyPr wrap="square"/>
                    <a:lstStyle/>
                    <a:p>
                      <a:r>
                        <a:rPr sz="1800" b="0">
                          <a:solidFill>
                            <a:srgbClr val="1B1B1B"/>
                          </a:solidFill>
                          <a:latin typeface="Arial"/>
                        </a:rPr>
                        <a:t>safe, but stops on every harmless fault</a:t>
                      </a:r>
                    </a:p>
                  </a:txBody>
                  <a:tcPr marL="54864" marR="54864" marT="27432" marB="27432" anchor="ctr">
                    <a:solidFill>
                      <a:srgbClr val="FFFFFF"/>
                    </a:solidFill>
                  </a:tcPr>
                </a:tc>
              </a:tr>
              <a:tr h="502920">
                <a:tc>
                  <a:txBody>
                    <a:bodyPr wrap="square"/>
                    <a:lstStyle/>
                    <a:p>
                      <a:r>
                        <a:rPr sz="1800" b="0">
                          <a:solidFill>
                            <a:srgbClr val="1B1B1B"/>
                          </a:solidFill>
                          <a:latin typeface="Arial"/>
                        </a:rPr>
                        <a:t>+ Layer 2</a:t>
                      </a:r>
                    </a:p>
                  </a:txBody>
                  <a:tcPr marL="54864" marR="54864" marT="27432" marB="27432" anchor="ctr">
                    <a:solidFill>
                      <a:srgbClr val="FFFFFF"/>
                    </a:solidFill>
                  </a:tcPr>
                </a:tc>
                <a:tc>
                  <a:txBody>
                    <a:bodyPr wrap="square"/>
                    <a:lstStyle/>
                    <a:p>
                      <a:r>
                        <a:rPr sz="1800" b="0">
                          <a:solidFill>
                            <a:srgbClr val="1B1B1B"/>
                          </a:solidFill>
                          <a:latin typeface="Arial"/>
                        </a:rPr>
                        <a:t>stops when P(violation) rises</a:t>
                      </a:r>
                    </a:p>
                  </a:txBody>
                  <a:tcPr marL="54864" marR="54864" marT="27432" marB="27432" anchor="ctr">
                    <a:solidFill>
                      <a:srgbClr val="FFFFFF"/>
                    </a:solidFill>
                  </a:tcPr>
                </a:tc>
                <a:tc>
                  <a:txBody>
                    <a:bodyPr wrap="square"/>
                    <a:lstStyle/>
                    <a:p>
                      <a:r>
                        <a:rPr sz="1800" b="0">
                          <a:solidFill>
                            <a:srgbClr val="1B1B1B"/>
                          </a:solidFill>
                          <a:latin typeface="Arial"/>
                        </a:rPr>
                        <a:t>safe, stops only when it matters</a:t>
                      </a:r>
                    </a:p>
                  </a:txBody>
                  <a:tcPr marL="54864" marR="54864" marT="27432" marB="27432" anchor="ctr">
                    <a:solidFill>
                      <a:srgbClr val="FFFFFF"/>
                    </a:solidFill>
                  </a:tcPr>
                </a:tc>
              </a:tr>
              <a:tr h="502920">
                <a:tc>
                  <a:txBody>
                    <a:bodyPr wrap="square"/>
                    <a:lstStyle/>
                    <a:p>
                      <a:r>
                        <a:rPr sz="1800" b="1">
                          <a:solidFill>
                            <a:srgbClr val="1B1B1B"/>
                          </a:solidFill>
                          <a:latin typeface="Arial"/>
                        </a:rPr>
                        <a:t>+ Layer 3</a:t>
                      </a:r>
                    </a:p>
                  </a:txBody>
                  <a:tcPr marL="54864" marR="54864" marT="27432" marB="27432" anchor="ctr">
                    <a:solidFill>
                      <a:srgbClr val="FFF1E0"/>
                    </a:solidFill>
                  </a:tcPr>
                </a:tc>
                <a:tc>
                  <a:txBody>
                    <a:bodyPr wrap="square"/>
                    <a:lstStyle/>
                    <a:p>
                      <a:r>
                        <a:rPr sz="1800" b="0">
                          <a:solidFill>
                            <a:srgbClr val="1B1B1B"/>
                          </a:solidFill>
                          <a:latin typeface="Arial"/>
                        </a:rPr>
                        <a:t>corrects the pose; stops only if it cannot</a:t>
                      </a:r>
                    </a:p>
                  </a:txBody>
                  <a:tcPr marL="54864" marR="54864" marT="27432" marB="27432" anchor="ctr">
                    <a:solidFill>
                      <a:srgbClr val="FFF1E0"/>
                    </a:solidFill>
                  </a:tcPr>
                </a:tc>
                <a:tc>
                  <a:txBody>
                    <a:bodyPr wrap="square"/>
                    <a:lstStyle/>
                    <a:p>
                      <a:r>
                        <a:rPr sz="1800" b="0">
                          <a:solidFill>
                            <a:srgbClr val="1B1B1B"/>
                          </a:solidFill>
                          <a:latin typeface="Arial"/>
                        </a:rPr>
                        <a:t>safe, and finishes the mission</a:t>
                      </a:r>
                    </a:p>
                  </a:txBody>
                  <a:tcPr marL="54864" marR="54864" marT="27432" marB="27432" anchor="ctr">
                    <a:solidFill>
                      <a:srgbClr val="FFF1E0"/>
                    </a:solidFill>
                  </a:tcPr>
                </a:tc>
              </a:tr>
            </a:tbl>
          </a:graphicData>
        </a:graphic>
      </p:graphicFrame>
      <p:sp>
        <p:nvSpPr>
          <p:cNvPr id="170" name="TextBox 169"/>
          <p:cNvSpPr txBox="1"/>
          <p:nvPr/>
        </p:nvSpPr>
        <p:spPr>
          <a:xfrm>
            <a:off x="713232" y="3840480"/>
            <a:ext cx="10899648" cy="2377440"/>
          </a:xfrm>
          <a:prstGeom prst="rect">
            <a:avLst/>
          </a:prstGeom>
          <a:noFill/>
        </p:spPr>
        <p:txBody>
          <a:bodyPr wrap="square">
            <a:spAutoFit/>
          </a:bodyPr>
          <a:lstStyle/>
          <a:p>
            <a:r>
              <a:rPr sz="1700" b="1">
                <a:solidFill>
                  <a:srgbClr val="1B1B1B"/>
                </a:solidFill>
                <a:latin typeface="Arial"/>
              </a:rPr>
              <a:t>Measured: </a:t>
            </a:r>
            <a:r>
              <a:rPr sz="1700" b="0">
                <a:solidFill>
                  <a:srgbClr val="1B1B1B"/>
                </a:solidFill>
                <a:latin typeface="Arial"/>
              </a:rPr>
              <a:t>departures prevented (safety) · unnecessary stops and distance driven under fault (availability).</a:t>
            </a:r>
          </a:p>
          <a:p>
            <a:r>
              <a:rPr sz="1700" b="0">
                <a:solidFill>
                  <a:srgbClr val="1B1B1B"/>
                </a:solidFill>
                <a:latin typeface="Arial"/>
              </a:rPr>
              <a:t/>
            </a:r>
          </a:p>
          <a:p>
            <a:r>
              <a:rPr sz="1700" b="1">
                <a:solidFill>
                  <a:srgbClr val="1B1B1B"/>
                </a:solidFill>
                <a:latin typeface="Arial"/>
              </a:rPr>
              <a:t>Steps: </a:t>
            </a:r>
            <a:r>
              <a:rPr sz="1700" b="0">
                <a:solidFill>
                  <a:srgbClr val="1B1B1B"/>
                </a:solidFill>
                <a:latin typeface="Arial"/>
              </a:rPr>
              <a:t>pose-error filter ✓ · offline correction ✓ · online node (Layers 1–2 at 10 Hz) · one Autoware interface · rerun fault scenarios per configuration.</a:t>
            </a:r>
          </a:p>
          <a:p>
            <a:r>
              <a:rPr sz="1700" b="0">
                <a:solidFill>
                  <a:srgbClr val="1B1B1B"/>
                </a:solidFill>
                <a:latin typeface="Arial"/>
              </a:rPr>
              <a:t/>
            </a:r>
          </a:p>
          <a:p>
            <a:r>
              <a:rPr sz="1700" b="1">
                <a:solidFill>
                  <a:srgbClr val="1B1B1B"/>
                </a:solidFill>
                <a:latin typeface="Arial"/>
              </a:rPr>
              <a:t>Limits to state: </a:t>
            </a:r>
            <a:r>
              <a:rPr sz="1700" b="0">
                <a:solidFill>
                  <a:srgbClr val="1B1B1B"/>
                </a:solidFill>
                <a:latin typeface="Arial"/>
              </a:rPr>
              <a:t>only localization (IMU-type) faults can be corrected, because they have a second source; traffic-light faults can be flagged but not sized → stop. 4 departures so far; 3 s horizon.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Novelty, paper plan and venues</a:t>
            </a:r>
          </a:p>
        </p:txBody>
      </p:sp>
      <p:sp>
        <p:nvSpPr>
          <p:cNvPr id="169" name="TextBox 168"/>
          <p:cNvSpPr txBox="1"/>
          <p:nvPr/>
        </p:nvSpPr>
        <p:spPr>
          <a:xfrm>
            <a:off x="713232" y="868680"/>
            <a:ext cx="10945367" cy="5394960"/>
          </a:xfrm>
          <a:prstGeom prst="rect">
            <a:avLst/>
          </a:prstGeom>
          <a:noFill/>
        </p:spPr>
        <p:txBody>
          <a:bodyPr wrap="square">
            <a:spAutoFit/>
          </a:bodyPr>
          <a:lstStyle/>
          <a:p>
            <a:r>
              <a:rPr sz="1700" b="1">
                <a:solidFill>
                  <a:srgbClr val="1B1B1B"/>
                </a:solidFill>
                <a:latin typeface="Arial"/>
              </a:rPr>
              <a:t>Novelty: from self-consistency to consequence</a:t>
            </a:r>
          </a:p>
          <a:p>
            <a:r>
              <a:rPr sz="1700" b="0">
                <a:solidFill>
                  <a:srgbClr val="1B1B1B"/>
                </a:solidFill>
                <a:latin typeface="Arial"/>
              </a:rPr>
              <a:t>  → The nominal agreement between the stack's estimates and the vehicle's reports is LEARNED (scene-dependent) and conformally CALIBRATED: no fault models.</a:t>
            </a:r>
          </a:p>
          <a:p>
            <a:r>
              <a:rPr sz="1700" b="0">
                <a:solidFill>
                  <a:srgbClr val="1B1B1B"/>
                </a:solidFill>
                <a:latin typeface="Arial"/>
              </a:rPr>
              <a:t>  → It yields the state error itself: when, how much, which way.</a:t>
            </a:r>
          </a:p>
          <a:p>
            <a:r>
              <a:rPr sz="1700" b="0">
                <a:solidFill>
                  <a:srgbClr val="1B1B1B"/>
                </a:solidFill>
                <a:latin typeface="Arial"/>
              </a:rPr>
              <a:t>  → That error is carried to a consequence on the real map, P(violation), separating harmful from harmless faults.</a:t>
            </a:r>
          </a:p>
          <a:p>
            <a:r>
              <a:rPr sz="1700" b="0">
                <a:solidFill>
                  <a:srgbClr val="1B1B1B"/>
                </a:solidFill>
                <a:latin typeface="Arial"/>
              </a:rPr>
              <a:t>  → The same estimate drives the response: correct and continue, or stop.</a:t>
            </a:r>
          </a:p>
          <a:p>
            <a:r>
              <a:rPr sz="1700" b="0">
                <a:solidFill>
                  <a:srgbClr val="1B1B1B"/>
                </a:solidFill>
                <a:latin typeface="Arial"/>
              </a:rPr>
              <a:t>  Related, to cite and differentiate: analytical redundancy / FDIR (hand-built residual generators, stop at detection and recovery).</a:t>
            </a:r>
          </a:p>
          <a:p>
            <a:r>
              <a:rPr sz="1700" b="0">
                <a:solidFill>
                  <a:srgbClr val="1B1B1B"/>
                </a:solidFill>
                <a:latin typeface="Arial"/>
              </a:rPr>
              <a:t/>
            </a:r>
          </a:p>
          <a:p>
            <a:r>
              <a:rPr sz="1700" b="1">
                <a:solidFill>
                  <a:srgbClr val="1B1B1B"/>
                </a:solidFill>
                <a:latin typeface="Arial"/>
              </a:rPr>
              <a:t>Papers and educated-guess venues</a:t>
            </a:r>
          </a:p>
          <a:p>
            <a:r>
              <a:rPr sz="1700" b="0">
                <a:solidFill>
                  <a:srgbClr val="1B1B1B"/>
                </a:solidFill>
                <a:latin typeface="Arial"/>
              </a:rPr>
              <a:t>  P1  Layer 1 (calibration, audit and fix, faults): IEEE IV, ITSC, or DSN (dependability framing)</a:t>
            </a:r>
          </a:p>
          <a:p>
            <a:r>
              <a:rPr sz="1700" b="0">
                <a:solidFill>
                  <a:srgbClr val="1B1B1B"/>
                </a:solidFill>
                <a:latin typeface="Arial"/>
              </a:rPr>
              <a:t>  P2  Layers 1 + 2 + offline correction: IEEE T-ITS or T-IV</a:t>
            </a:r>
          </a:p>
          <a:p>
            <a:r>
              <a:rPr sz="1700" b="0">
                <a:solidFill>
                  <a:srgbClr val="1B1B1B"/>
                </a:solidFill>
                <a:latin typeface="Arial"/>
              </a:rPr>
              <a:t>  P3  Closed loop (capstone): IEEE RA-L (+ ICRA / IROS) or T-IV; expect "simulation only" pushback</a:t>
            </a:r>
          </a:p>
          <a:p>
            <a:r>
              <a:rPr sz="1700" b="0">
                <a:solidFill>
                  <a:srgbClr val="1B1B1B"/>
                </a:solidFill>
                <a:latin typeface="Arial"/>
              </a:rPr>
              <a:t/>
            </a:r>
          </a:p>
          <a:p>
            <a:r>
              <a:rPr sz="1700" b="1">
                <a:solidFill>
                  <a:srgbClr val="1B1B1B"/>
                </a:solidFill>
                <a:latin typeface="Arial"/>
              </a:rPr>
              <a:t>Weakness to address first: </a:t>
            </a:r>
            <a:r>
              <a:rPr sz="1700" b="0">
                <a:solidFill>
                  <a:srgbClr val="1B1B1B"/>
                </a:solidFill>
                <a:latin typeface="Arial"/>
              </a:rPr>
              <a:t>AWSIM's vehicle-side velocity is near ground truth. Real wheel odometry is noisier and slips → re-test the filter with realistic odometry noise and bias added offline.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400">
                <a:solidFill>
                  <a:srgbClr val="7030A0"/>
                </a:solidFill>
                <a:latin typeface="Play"/>
              </a:rPr>
              <a:t>Where I need your call</a:t>
            </a:r>
          </a:p>
        </p:txBody>
      </p:sp>
      <p:sp>
        <p:nvSpPr>
          <p:cNvPr id="169" name="TextBox 168"/>
          <p:cNvSpPr txBox="1"/>
          <p:nvPr/>
        </p:nvSpPr>
        <p:spPr>
          <a:xfrm>
            <a:off x="713232" y="914400"/>
            <a:ext cx="10945367" cy="5120640"/>
          </a:xfrm>
          <a:prstGeom prst="rect">
            <a:avLst/>
          </a:prstGeom>
          <a:noFill/>
        </p:spPr>
        <p:txBody>
          <a:bodyPr wrap="square">
            <a:spAutoFit/>
          </a:bodyPr>
          <a:lstStyle/>
          <a:p>
            <a:r>
              <a:rPr sz="2000" b="1">
                <a:solidFill>
                  <a:srgbClr val="1B1B1B"/>
                </a:solidFill>
                <a:latin typeface="Arial"/>
              </a:rPr>
              <a:t>1  Capstone. </a:t>
            </a:r>
            <a:r>
              <a:rPr sz="2000" b="0">
                <a:solidFill>
                  <a:srgbClr val="1B1B1B"/>
                </a:solidFill>
                <a:latin typeface="Arial"/>
              </a:rPr>
              <a:t>Is the four-configuration closed loop the right final result, with pose correction as Layer 3?</a:t>
            </a:r>
          </a:p>
          <a:p>
            <a:r>
              <a:rPr sz="2000" b="0">
                <a:solidFill>
                  <a:srgbClr val="1B1B1B"/>
                </a:solidFill>
                <a:latin typeface="Arial"/>
              </a:rPr>
              <a:t/>
            </a:r>
          </a:p>
          <a:p>
            <a:r>
              <a:rPr sz="2000" b="1">
                <a:solidFill>
                  <a:srgbClr val="1B1B1B"/>
                </a:solidFill>
                <a:latin typeface="Arial"/>
              </a:rPr>
              <a:t>2  Paper split. </a:t>
            </a:r>
            <a:r>
              <a:rPr sz="2000" b="0">
                <a:solidFill>
                  <a:srgbClr val="1B1B1B"/>
                </a:solidFill>
                <a:latin typeface="Arial"/>
              </a:rPr>
              <a:t>Closed loop as Paper 3, or folded into Paper 2?</a:t>
            </a:r>
          </a:p>
          <a:p>
            <a:r>
              <a:rPr sz="2000" b="0">
                <a:solidFill>
                  <a:srgbClr val="1B1B1B"/>
                </a:solidFill>
                <a:latin typeface="Arial"/>
              </a:rPr>
              <a:t/>
            </a:r>
          </a:p>
          <a:p>
            <a:r>
              <a:rPr sz="2000" b="1">
                <a:solidFill>
                  <a:srgbClr val="1B1B1B"/>
                </a:solidFill>
                <a:latin typeface="Arial"/>
              </a:rPr>
              <a:t>3  Autoware interface. </a:t>
            </a:r>
            <a:r>
              <a:rPr sz="2000" b="0">
                <a:solidFill>
                  <a:srgbClr val="1B1B1B"/>
                </a:solidFill>
                <a:latin typeface="Arial"/>
              </a:rPr>
              <a:t>Inject a corrected pose (direct, invasive), or limit speed / request a stop (easy, tests only slowing)?</a:t>
            </a:r>
          </a:p>
          <a:p>
            <a:r>
              <a:rPr sz="2000" b="0">
                <a:solidFill>
                  <a:srgbClr val="1B1B1B"/>
                </a:solidFill>
                <a:latin typeface="Arial"/>
              </a:rPr>
              <a:t/>
            </a:r>
          </a:p>
          <a:p>
            <a:r>
              <a:rPr sz="2000" b="1">
                <a:solidFill>
                  <a:srgbClr val="1B1B1B"/>
                </a:solidFill>
                <a:latin typeface="Arial"/>
              </a:rPr>
              <a:t>4  Scenarios. </a:t>
            </a:r>
            <a:r>
              <a:rPr sz="2000" b="0">
                <a:solidFill>
                  <a:srgbClr val="1B1B1B"/>
                </a:solidFill>
                <a:latin typeface="Arial"/>
              </a:rPr>
              <a:t>False-green traffic light, tight vs wide geometry for the same IMU fault, or more nominal driving first?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7" name="Google Shape;167;g3f79321b2c1_0_1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lang="en-US"/>
              <a:t>‹#›</a:t>
            </a:fld>
            <a:endParaRPr/>
          </a:p>
        </p:txBody>
      </p:sp>
      <p:sp>
        <p:nvSpPr>
          <p:cNvPr id="168" name="TextBox 167"/>
          <p:cNvSpPr txBox="1"/>
          <p:nvPr/>
        </p:nvSpPr>
        <p:spPr>
          <a:xfrm>
            <a:off x="131134" y="136525"/>
            <a:ext cx="11222700" cy="544500"/>
          </a:xfrm>
          <a:prstGeom prst="rect">
            <a:avLst/>
          </a:prstGeom>
          <a:noFill/>
        </p:spPr>
        <p:txBody>
          <a:bodyPr wrap="square">
            <a:spAutoFit/>
          </a:bodyPr>
          <a:lstStyle/>
          <a:p>
            <a:r>
              <a:rPr sz="3200">
                <a:solidFill>
                  <a:srgbClr val="7030A0"/>
                </a:solidFill>
                <a:latin typeface="Play"/>
              </a:rPr>
              <a:t>BACKUP: earlier framing</a:t>
            </a:r>
          </a:p>
        </p:txBody>
      </p:sp>
      <p:sp>
        <p:nvSpPr>
          <p:cNvPr id="169" name="TextBox 168"/>
          <p:cNvSpPr txBox="1"/>
          <p:nvPr/>
        </p:nvSpPr>
        <p:spPr>
          <a:xfrm>
            <a:off x="713232" y="1097280"/>
            <a:ext cx="10762488" cy="1371600"/>
          </a:xfrm>
          <a:prstGeom prst="rect">
            <a:avLst/>
          </a:prstGeom>
          <a:noFill/>
        </p:spPr>
        <p:txBody>
          <a:bodyPr wrap="square">
            <a:spAutoFit/>
          </a:bodyPr>
          <a:lstStyle/>
          <a:p>
            <a:r>
              <a:rPr sz="1800" b="0">
                <a:solidFill>
                  <a:srgbClr val="1B1B1B"/>
                </a:solidFill>
                <a:latin typeface="Arial"/>
              </a:rPr>
              <a:t>Slides after this point are hidden: the obstacle-avoidance problem statement, the result-shape plan, and the NLL/CVaR results it superseded.</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2024-12-20T17:14:23Z</dcterms:created>
  <dc:creator>Kalpit Madhusudan Vadnerkar</dc:creator>
</cp:coreProperties>
</file>